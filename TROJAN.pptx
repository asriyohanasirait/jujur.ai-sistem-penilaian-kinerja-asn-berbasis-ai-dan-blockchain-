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League Spartan" charset="1" panose="00000800000000000000"/>
      <p:regular r:id="rId17"/>
    </p:embeddedFont>
    <p:embeddedFont>
      <p:font typeface="Montserrat Bold" charset="1" panose="00000800000000000000"/>
      <p:regular r:id="rId18"/>
    </p:embeddedFont>
    <p:embeddedFont>
      <p:font typeface="Archivo Black" charset="1" panose="020B0A03020202020B04"/>
      <p:regular r:id="rId19"/>
    </p:embeddedFont>
    <p:embeddedFont>
      <p:font typeface="Ballpoint" charset="1" panose="00000000000000000000"/>
      <p:regular r:id="rId20"/>
    </p:embeddedFont>
    <p:embeddedFont>
      <p:font typeface="Montaser Arabic Bold" charset="1" panose="00000800000000000000"/>
      <p:regular r:id="rId21"/>
    </p:embeddedFont>
    <p:embeddedFont>
      <p:font typeface="Montserrat"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18" Target="../media/image34.png" Type="http://schemas.openxmlformats.org/officeDocument/2006/relationships/image"/><Relationship Id="rId19" Target="../media/image35.svg" Type="http://schemas.openxmlformats.org/officeDocument/2006/relationships/image"/><Relationship Id="rId2" Target="../media/image18.png" Type="http://schemas.openxmlformats.org/officeDocument/2006/relationships/image"/><Relationship Id="rId20" Target="../media/image36.png" Type="http://schemas.openxmlformats.org/officeDocument/2006/relationships/image"/><Relationship Id="rId21" Target="../media/image37.svg" Type="http://schemas.openxmlformats.org/officeDocument/2006/relationships/image"/><Relationship Id="rId22" Target="../media/image38.png" Type="http://schemas.openxmlformats.org/officeDocument/2006/relationships/image"/><Relationship Id="rId23" Target="../media/image39.svg" Type="http://schemas.openxmlformats.org/officeDocument/2006/relationships/image"/><Relationship Id="rId24" Target="../media/image40.png" Type="http://schemas.openxmlformats.org/officeDocument/2006/relationships/image"/><Relationship Id="rId25" Target="../media/image17.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14" Target="../media/image45.png" Type="http://schemas.openxmlformats.org/officeDocument/2006/relationships/image"/><Relationship Id="rId15" Target="../media/image46.svg" Type="http://schemas.openxmlformats.org/officeDocument/2006/relationships/image"/><Relationship Id="rId16" Target="../media/image47.png" Type="http://schemas.openxmlformats.org/officeDocument/2006/relationships/image"/><Relationship Id="rId17" Target="../media/image48.png" Type="http://schemas.openxmlformats.org/officeDocument/2006/relationships/image"/><Relationship Id="rId18" Target="../media/image49.png" Type="http://schemas.openxmlformats.org/officeDocument/2006/relationships/image"/><Relationship Id="rId19" Target="../media/image50.svg" Type="http://schemas.openxmlformats.org/officeDocument/2006/relationships/image"/><Relationship Id="rId2" Target="../media/image9.png" Type="http://schemas.openxmlformats.org/officeDocument/2006/relationships/image"/><Relationship Id="rId20" Target="../media/image51.png" Type="http://schemas.openxmlformats.org/officeDocument/2006/relationships/image"/><Relationship Id="rId21" Target="../media/image52.svg" Type="http://schemas.openxmlformats.org/officeDocument/2006/relationships/image"/><Relationship Id="rId22" Target="../media/image53.png" Type="http://schemas.openxmlformats.org/officeDocument/2006/relationships/image"/><Relationship Id="rId23" Target="../media/image54.png" Type="http://schemas.openxmlformats.org/officeDocument/2006/relationships/image"/><Relationship Id="rId24" Target="../media/image55.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6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png" Type="http://schemas.openxmlformats.org/officeDocument/2006/relationships/image"/><Relationship Id="rId11" Target="../media/image64.svg" Type="http://schemas.openxmlformats.org/officeDocument/2006/relationships/image"/><Relationship Id="rId12" Target="../media/image65.png" Type="http://schemas.openxmlformats.org/officeDocument/2006/relationships/image"/><Relationship Id="rId13" Target="https://drive.google.com/drive/folders/1quat257pIsJ2lbEgywBAZh5QzsUQFIPp" TargetMode="External" Type="http://schemas.openxmlformats.org/officeDocument/2006/relationships/hyperlink"/><Relationship Id="rId2" Target="../media/image58.png" Type="http://schemas.openxmlformats.org/officeDocument/2006/relationships/image"/><Relationship Id="rId3" Target="../media/image59.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67.png" Type="http://schemas.openxmlformats.org/officeDocument/2006/relationships/image"/><Relationship Id="rId17" Target="../media/image68.svg" Type="http://schemas.openxmlformats.org/officeDocument/2006/relationships/image"/><Relationship Id="rId2" Target="../media/image1.png" Type="http://schemas.openxmlformats.org/officeDocument/2006/relationships/image"/><Relationship Id="rId3" Target="../media/image66.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69.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69.png" Type="http://schemas.openxmlformats.org/officeDocument/2006/relationships/image"/><Relationship Id="rId12" Target="../media/image70.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00720" y="6332458"/>
            <a:ext cx="1193666" cy="834330"/>
          </a:xfrm>
          <a:custGeom>
            <a:avLst/>
            <a:gdLst/>
            <a:ahLst/>
            <a:cxnLst/>
            <a:rect r="r" b="b" t="t" l="l"/>
            <a:pathLst>
              <a:path h="834330" w="1193666">
                <a:moveTo>
                  <a:pt x="0" y="0"/>
                </a:moveTo>
                <a:lnTo>
                  <a:pt x="1193666" y="0"/>
                </a:lnTo>
                <a:lnTo>
                  <a:pt x="1193666" y="834330"/>
                </a:lnTo>
                <a:lnTo>
                  <a:pt x="0" y="834330"/>
                </a:lnTo>
                <a:lnTo>
                  <a:pt x="0" y="0"/>
                </a:lnTo>
                <a:close/>
              </a:path>
            </a:pathLst>
          </a:custGeom>
          <a:blipFill>
            <a:blip r:embed="rId2">
              <a:alphaModFix amt="75000"/>
            </a:blip>
            <a:stretch>
              <a:fillRect l="0" t="-34531" r="0" b="-34531"/>
            </a:stretch>
          </a:blipFill>
        </p:spPr>
      </p:sp>
      <p:grpSp>
        <p:nvGrpSpPr>
          <p:cNvPr name="Group 3" id="3"/>
          <p:cNvGrpSpPr/>
          <p:nvPr/>
        </p:nvGrpSpPr>
        <p:grpSpPr>
          <a:xfrm rot="0">
            <a:off x="10236368" y="2727739"/>
            <a:ext cx="6099890" cy="6441581"/>
            <a:chOff x="0" y="0"/>
            <a:chExt cx="5960491" cy="6294374"/>
          </a:xfrm>
        </p:grpSpPr>
        <p:sp>
          <p:nvSpPr>
            <p:cNvPr name="Freeform 4" id="4"/>
            <p:cNvSpPr/>
            <p:nvPr/>
          </p:nvSpPr>
          <p:spPr>
            <a:xfrm flipH="false" flipV="false" rot="0">
              <a:off x="0" y="-44"/>
              <a:ext cx="5960480" cy="6294418"/>
            </a:xfrm>
            <a:custGeom>
              <a:avLst/>
              <a:gdLst/>
              <a:ahLst/>
              <a:cxnLst/>
              <a:rect r="r" b="b" t="t" l="l"/>
              <a:pathLst>
                <a:path h="6294418" w="5960480">
                  <a:moveTo>
                    <a:pt x="4226814" y="1119549"/>
                  </a:moveTo>
                  <a:cubicBezTo>
                    <a:pt x="4173601" y="967911"/>
                    <a:pt x="4001770" y="815892"/>
                    <a:pt x="3844798" y="781729"/>
                  </a:cubicBezTo>
                  <a:lnTo>
                    <a:pt x="285369" y="6521"/>
                  </a:lnTo>
                  <a:cubicBezTo>
                    <a:pt x="128397" y="-27642"/>
                    <a:pt x="0" y="75863"/>
                    <a:pt x="0" y="236518"/>
                  </a:cubicBezTo>
                  <a:lnTo>
                    <a:pt x="0" y="6002318"/>
                  </a:lnTo>
                  <a:cubicBezTo>
                    <a:pt x="0" y="6162973"/>
                    <a:pt x="131445" y="6294418"/>
                    <a:pt x="292100" y="6294418"/>
                  </a:cubicBezTo>
                  <a:lnTo>
                    <a:pt x="5749544" y="6294418"/>
                  </a:lnTo>
                  <a:cubicBezTo>
                    <a:pt x="5910199" y="6294418"/>
                    <a:pt x="5998083" y="6170339"/>
                    <a:pt x="5944997" y="6018828"/>
                  </a:cubicBezTo>
                  <a:lnTo>
                    <a:pt x="4226814" y="1119549"/>
                  </a:lnTo>
                  <a:close/>
                </a:path>
              </a:pathLst>
            </a:custGeom>
            <a:blipFill>
              <a:blip r:embed="rId3"/>
              <a:stretch>
                <a:fillRect l="-29251" t="0" r="-29251" b="0"/>
              </a:stretch>
            </a:blipFill>
            <a:ln w="38100" cap="sq">
              <a:solidFill>
                <a:srgbClr val="000000"/>
              </a:solidFill>
              <a:prstDash val="solid"/>
              <a:miter/>
            </a:ln>
          </p:spPr>
        </p:sp>
      </p:grpSp>
      <p:grpSp>
        <p:nvGrpSpPr>
          <p:cNvPr name="Group 5" id="5"/>
          <p:cNvGrpSpPr/>
          <p:nvPr/>
        </p:nvGrpSpPr>
        <p:grpSpPr>
          <a:xfrm rot="0">
            <a:off x="-142503" y="9837954"/>
            <a:ext cx="18595517" cy="542466"/>
            <a:chOff x="0" y="0"/>
            <a:chExt cx="4897585" cy="142872"/>
          </a:xfrm>
        </p:grpSpPr>
        <p:sp>
          <p:nvSpPr>
            <p:cNvPr name="Freeform 6" id="6"/>
            <p:cNvSpPr/>
            <p:nvPr/>
          </p:nvSpPr>
          <p:spPr>
            <a:xfrm flipH="false" flipV="false" rot="0">
              <a:off x="0" y="0"/>
              <a:ext cx="4897585" cy="142872"/>
            </a:xfrm>
            <a:custGeom>
              <a:avLst/>
              <a:gdLst/>
              <a:ahLst/>
              <a:cxnLst/>
              <a:rect r="r" b="b" t="t" l="l"/>
              <a:pathLst>
                <a:path h="142872" w="4897585">
                  <a:moveTo>
                    <a:pt x="0" y="0"/>
                  </a:moveTo>
                  <a:lnTo>
                    <a:pt x="4897585" y="0"/>
                  </a:lnTo>
                  <a:lnTo>
                    <a:pt x="4897585" y="142872"/>
                  </a:lnTo>
                  <a:lnTo>
                    <a:pt x="0" y="142872"/>
                  </a:lnTo>
                  <a:close/>
                </a:path>
              </a:pathLst>
            </a:custGeom>
            <a:solidFill>
              <a:srgbClr val="017BC7"/>
            </a:solidFill>
          </p:spPr>
        </p:sp>
        <p:sp>
          <p:nvSpPr>
            <p:cNvPr name="TextBox 7" id="7"/>
            <p:cNvSpPr txBox="true"/>
            <p:nvPr/>
          </p:nvSpPr>
          <p:spPr>
            <a:xfrm>
              <a:off x="0" y="-47625"/>
              <a:ext cx="4897585" cy="190497"/>
            </a:xfrm>
            <a:prstGeom prst="rect">
              <a:avLst/>
            </a:prstGeom>
          </p:spPr>
          <p:txBody>
            <a:bodyPr anchor="ctr" rtlCol="false" tIns="50800" lIns="50800" bIns="50800" rIns="50800"/>
            <a:lstStyle/>
            <a:p>
              <a:pPr algn="ctr">
                <a:lnSpc>
                  <a:spcPts val="3511"/>
                </a:lnSpc>
              </a:pPr>
            </a:p>
          </p:txBody>
        </p:sp>
      </p:grpSp>
      <p:sp>
        <p:nvSpPr>
          <p:cNvPr name="Freeform 8" id="8"/>
          <p:cNvSpPr/>
          <p:nvPr/>
        </p:nvSpPr>
        <p:spPr>
          <a:xfrm flipH="false" flipV="false" rot="0">
            <a:off x="0" y="-35981"/>
            <a:ext cx="2251123" cy="1876873"/>
          </a:xfrm>
          <a:custGeom>
            <a:avLst/>
            <a:gdLst/>
            <a:ahLst/>
            <a:cxnLst/>
            <a:rect r="r" b="b" t="t" l="l"/>
            <a:pathLst>
              <a:path h="1876873" w="2251123">
                <a:moveTo>
                  <a:pt x="0" y="0"/>
                </a:moveTo>
                <a:lnTo>
                  <a:pt x="2251123" y="0"/>
                </a:lnTo>
                <a:lnTo>
                  <a:pt x="2251123" y="1876873"/>
                </a:lnTo>
                <a:lnTo>
                  <a:pt x="0" y="18768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995103" y="1487915"/>
            <a:ext cx="3102415" cy="2211763"/>
          </a:xfrm>
          <a:custGeom>
            <a:avLst/>
            <a:gdLst/>
            <a:ahLst/>
            <a:cxnLst/>
            <a:rect r="r" b="b" t="t" l="l"/>
            <a:pathLst>
              <a:path h="2211763" w="3102415">
                <a:moveTo>
                  <a:pt x="0" y="0"/>
                </a:moveTo>
                <a:lnTo>
                  <a:pt x="3102415" y="0"/>
                </a:lnTo>
                <a:lnTo>
                  <a:pt x="3102415" y="2211763"/>
                </a:lnTo>
                <a:lnTo>
                  <a:pt x="0" y="22117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840021" y="7071824"/>
            <a:ext cx="3410853" cy="2737210"/>
          </a:xfrm>
          <a:custGeom>
            <a:avLst/>
            <a:gdLst/>
            <a:ahLst/>
            <a:cxnLst/>
            <a:rect r="r" b="b" t="t" l="l"/>
            <a:pathLst>
              <a:path h="2737210" w="3410853">
                <a:moveTo>
                  <a:pt x="0" y="0"/>
                </a:moveTo>
                <a:lnTo>
                  <a:pt x="3410853" y="0"/>
                </a:lnTo>
                <a:lnTo>
                  <a:pt x="3410853" y="2737209"/>
                </a:lnTo>
                <a:lnTo>
                  <a:pt x="0" y="27372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8442" y="8609822"/>
            <a:ext cx="2251123" cy="1118996"/>
          </a:xfrm>
          <a:custGeom>
            <a:avLst/>
            <a:gdLst/>
            <a:ahLst/>
            <a:cxnLst/>
            <a:rect r="r" b="b" t="t" l="l"/>
            <a:pathLst>
              <a:path h="1118996" w="2251123">
                <a:moveTo>
                  <a:pt x="0" y="0"/>
                </a:moveTo>
                <a:lnTo>
                  <a:pt x="2251123" y="0"/>
                </a:lnTo>
                <a:lnTo>
                  <a:pt x="2251123" y="1118995"/>
                </a:lnTo>
                <a:lnTo>
                  <a:pt x="0" y="1118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8272098" y="-449645"/>
            <a:ext cx="1743804" cy="1937560"/>
          </a:xfrm>
          <a:custGeom>
            <a:avLst/>
            <a:gdLst/>
            <a:ahLst/>
            <a:cxnLst/>
            <a:rect r="r" b="b" t="t" l="l"/>
            <a:pathLst>
              <a:path h="1937560" w="1743804">
                <a:moveTo>
                  <a:pt x="0" y="0"/>
                </a:moveTo>
                <a:lnTo>
                  <a:pt x="1743804" y="0"/>
                </a:lnTo>
                <a:lnTo>
                  <a:pt x="1743804" y="1937560"/>
                </a:lnTo>
                <a:lnTo>
                  <a:pt x="0" y="19375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716059" y="3928220"/>
            <a:ext cx="312641" cy="2670240"/>
          </a:xfrm>
          <a:custGeom>
            <a:avLst/>
            <a:gdLst/>
            <a:ahLst/>
            <a:cxnLst/>
            <a:rect r="r" b="b" t="t" l="l"/>
            <a:pathLst>
              <a:path h="2670240" w="312641">
                <a:moveTo>
                  <a:pt x="0" y="0"/>
                </a:moveTo>
                <a:lnTo>
                  <a:pt x="312641" y="0"/>
                </a:lnTo>
                <a:lnTo>
                  <a:pt x="312641" y="2670240"/>
                </a:lnTo>
                <a:lnTo>
                  <a:pt x="0" y="267024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4" id="14"/>
          <p:cNvSpPr txBox="true"/>
          <p:nvPr/>
        </p:nvSpPr>
        <p:spPr>
          <a:xfrm rot="0">
            <a:off x="1729782" y="2817332"/>
            <a:ext cx="7983773" cy="1326693"/>
          </a:xfrm>
          <a:prstGeom prst="rect">
            <a:avLst/>
          </a:prstGeom>
        </p:spPr>
        <p:txBody>
          <a:bodyPr anchor="t" rtlCol="false" tIns="0" lIns="0" bIns="0" rIns="0">
            <a:spAutoFit/>
          </a:bodyPr>
          <a:lstStyle/>
          <a:p>
            <a:pPr algn="l">
              <a:lnSpc>
                <a:spcPts val="10875"/>
              </a:lnSpc>
            </a:pPr>
            <a:r>
              <a:rPr lang="en-US" sz="7767">
                <a:solidFill>
                  <a:srgbClr val="133662"/>
                </a:solidFill>
                <a:latin typeface="League Spartan"/>
                <a:ea typeface="League Spartan"/>
                <a:cs typeface="League Spartan"/>
                <a:sym typeface="League Spartan"/>
              </a:rPr>
              <a:t>JUJUR.ai  </a:t>
            </a:r>
          </a:p>
        </p:txBody>
      </p:sp>
      <p:sp>
        <p:nvSpPr>
          <p:cNvPr name="AutoShape 15" id="15"/>
          <p:cNvSpPr/>
          <p:nvPr/>
        </p:nvSpPr>
        <p:spPr>
          <a:xfrm flipH="true">
            <a:off x="9713555" y="1840892"/>
            <a:ext cx="0" cy="7328427"/>
          </a:xfrm>
          <a:prstGeom prst="line">
            <a:avLst/>
          </a:prstGeom>
          <a:ln cap="flat" w="38100">
            <a:solidFill>
              <a:srgbClr val="083698"/>
            </a:solidFill>
            <a:prstDash val="solid"/>
            <a:headEnd type="none" len="sm" w="sm"/>
            <a:tailEnd type="none" len="sm" w="sm"/>
          </a:ln>
        </p:spPr>
      </p:sp>
      <p:sp>
        <p:nvSpPr>
          <p:cNvPr name="AutoShape 16" id="16"/>
          <p:cNvSpPr/>
          <p:nvPr/>
        </p:nvSpPr>
        <p:spPr>
          <a:xfrm>
            <a:off x="1729782" y="6990990"/>
            <a:ext cx="6599536" cy="0"/>
          </a:xfrm>
          <a:prstGeom prst="line">
            <a:avLst/>
          </a:prstGeom>
          <a:ln cap="flat" w="38100">
            <a:solidFill>
              <a:srgbClr val="083698"/>
            </a:solidFill>
            <a:prstDash val="solid"/>
            <a:headEnd type="none" len="sm" w="sm"/>
            <a:tailEnd type="none" len="sm" w="sm"/>
          </a:ln>
        </p:spPr>
      </p:sp>
      <p:sp>
        <p:nvSpPr>
          <p:cNvPr name="Freeform 17" id="17"/>
          <p:cNvSpPr/>
          <p:nvPr/>
        </p:nvSpPr>
        <p:spPr>
          <a:xfrm flipH="false" flipV="false" rot="0">
            <a:off x="14043269" y="92156"/>
            <a:ext cx="1424881" cy="1505534"/>
          </a:xfrm>
          <a:custGeom>
            <a:avLst/>
            <a:gdLst/>
            <a:ahLst/>
            <a:cxnLst/>
            <a:rect r="r" b="b" t="t" l="l"/>
            <a:pathLst>
              <a:path h="1505534" w="1424881">
                <a:moveTo>
                  <a:pt x="0" y="0"/>
                </a:moveTo>
                <a:lnTo>
                  <a:pt x="1424880" y="0"/>
                </a:lnTo>
                <a:lnTo>
                  <a:pt x="1424880" y="1505534"/>
                </a:lnTo>
                <a:lnTo>
                  <a:pt x="0" y="1505534"/>
                </a:lnTo>
                <a:lnTo>
                  <a:pt x="0" y="0"/>
                </a:lnTo>
                <a:close/>
              </a:path>
            </a:pathLst>
          </a:custGeom>
          <a:blipFill>
            <a:blip r:embed="rId16"/>
            <a:stretch>
              <a:fillRect l="0" t="0" r="0" b="0"/>
            </a:stretch>
          </a:blipFill>
        </p:spPr>
      </p:sp>
      <p:sp>
        <p:nvSpPr>
          <p:cNvPr name="Freeform 18" id="18"/>
          <p:cNvSpPr/>
          <p:nvPr/>
        </p:nvSpPr>
        <p:spPr>
          <a:xfrm flipH="false" flipV="false" rot="0">
            <a:off x="15650533" y="0"/>
            <a:ext cx="1608767" cy="1608767"/>
          </a:xfrm>
          <a:custGeom>
            <a:avLst/>
            <a:gdLst/>
            <a:ahLst/>
            <a:cxnLst/>
            <a:rect r="r" b="b" t="t" l="l"/>
            <a:pathLst>
              <a:path h="1608767" w="1608767">
                <a:moveTo>
                  <a:pt x="0" y="0"/>
                </a:moveTo>
                <a:lnTo>
                  <a:pt x="1608767" y="0"/>
                </a:lnTo>
                <a:lnTo>
                  <a:pt x="1608767" y="1608767"/>
                </a:lnTo>
                <a:lnTo>
                  <a:pt x="0" y="1608767"/>
                </a:lnTo>
                <a:lnTo>
                  <a:pt x="0" y="0"/>
                </a:lnTo>
                <a:close/>
              </a:path>
            </a:pathLst>
          </a:custGeom>
          <a:blipFill>
            <a:blip r:embed="rId17"/>
            <a:stretch>
              <a:fillRect l="0" t="0" r="0" b="0"/>
            </a:stretch>
          </a:blipFill>
        </p:spPr>
      </p:sp>
      <p:sp>
        <p:nvSpPr>
          <p:cNvPr name="Freeform 19" id="19"/>
          <p:cNvSpPr/>
          <p:nvPr/>
        </p:nvSpPr>
        <p:spPr>
          <a:xfrm flipH="false" flipV="false" rot="0">
            <a:off x="10015902" y="364805"/>
            <a:ext cx="3492823" cy="1075301"/>
          </a:xfrm>
          <a:custGeom>
            <a:avLst/>
            <a:gdLst/>
            <a:ahLst/>
            <a:cxnLst/>
            <a:rect r="r" b="b" t="t" l="l"/>
            <a:pathLst>
              <a:path h="1075301" w="3492823">
                <a:moveTo>
                  <a:pt x="0" y="0"/>
                </a:moveTo>
                <a:lnTo>
                  <a:pt x="3492822" y="0"/>
                </a:lnTo>
                <a:lnTo>
                  <a:pt x="3492822" y="1075301"/>
                </a:lnTo>
                <a:lnTo>
                  <a:pt x="0" y="1075301"/>
                </a:lnTo>
                <a:lnTo>
                  <a:pt x="0" y="0"/>
                </a:lnTo>
                <a:close/>
              </a:path>
            </a:pathLst>
          </a:custGeom>
          <a:blipFill>
            <a:blip r:embed="rId18"/>
            <a:stretch>
              <a:fillRect l="0" t="0" r="0" b="0"/>
            </a:stretch>
          </a:blipFill>
        </p:spPr>
      </p:sp>
      <p:sp>
        <p:nvSpPr>
          <p:cNvPr name="TextBox 20" id="20"/>
          <p:cNvSpPr txBox="true"/>
          <p:nvPr/>
        </p:nvSpPr>
        <p:spPr>
          <a:xfrm rot="0">
            <a:off x="1900521" y="7227645"/>
            <a:ext cx="5986608" cy="571801"/>
          </a:xfrm>
          <a:prstGeom prst="rect">
            <a:avLst/>
          </a:prstGeom>
        </p:spPr>
        <p:txBody>
          <a:bodyPr anchor="t" rtlCol="false" tIns="0" lIns="0" bIns="0" rIns="0">
            <a:spAutoFit/>
          </a:bodyPr>
          <a:lstStyle/>
          <a:p>
            <a:pPr algn="l" marL="0" indent="0" lvl="0">
              <a:lnSpc>
                <a:spcPts val="4708"/>
              </a:lnSpc>
              <a:spcBef>
                <a:spcPct val="0"/>
              </a:spcBef>
            </a:pPr>
            <a:r>
              <a:rPr lang="en-US" b="true" sz="3363">
                <a:solidFill>
                  <a:srgbClr val="FFFFFF"/>
                </a:solidFill>
                <a:latin typeface="Montserrat Bold"/>
                <a:ea typeface="Montserrat Bold"/>
                <a:cs typeface="Montserrat Bold"/>
                <a:sym typeface="Montserrat Bold"/>
              </a:rPr>
              <a:t>Trojan Team</a:t>
            </a:r>
          </a:p>
        </p:txBody>
      </p:sp>
      <p:sp>
        <p:nvSpPr>
          <p:cNvPr name="TextBox 21" id="21"/>
          <p:cNvSpPr txBox="true"/>
          <p:nvPr/>
        </p:nvSpPr>
        <p:spPr>
          <a:xfrm rot="0">
            <a:off x="1729782" y="4803828"/>
            <a:ext cx="7197694" cy="1747071"/>
          </a:xfrm>
          <a:prstGeom prst="rect">
            <a:avLst/>
          </a:prstGeom>
        </p:spPr>
        <p:txBody>
          <a:bodyPr anchor="t" rtlCol="false" tIns="0" lIns="0" bIns="0" rIns="0">
            <a:spAutoFit/>
          </a:bodyPr>
          <a:lstStyle/>
          <a:p>
            <a:pPr algn="just" marL="0" indent="0" lvl="0">
              <a:lnSpc>
                <a:spcPts val="3454"/>
              </a:lnSpc>
            </a:pPr>
            <a:r>
              <a:rPr lang="en-US" sz="2467">
                <a:solidFill>
                  <a:srgbClr val="000000"/>
                </a:solidFill>
                <a:latin typeface="Archivo Black"/>
                <a:ea typeface="Archivo Black"/>
                <a:cs typeface="Archivo Black"/>
                <a:sym typeface="Archivo Black"/>
              </a:rPr>
              <a:t>JUJUR.a</a:t>
            </a:r>
            <a:r>
              <a:rPr lang="en-US" sz="2467">
                <a:solidFill>
                  <a:srgbClr val="000000"/>
                </a:solidFill>
                <a:latin typeface="Archivo Black"/>
                <a:ea typeface="Archivo Black"/>
                <a:cs typeface="Archivo Black"/>
                <a:sym typeface="Archivo Black"/>
              </a:rPr>
              <a:t>i (Justified, Unbiased, and Judgable Unified Record for ASN) Sistem Penilaian Kinerja ASN Berbasis AI dan Blockchain untuk Merit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9837954"/>
            <a:ext cx="18595517" cy="542466"/>
            <a:chOff x="0" y="0"/>
            <a:chExt cx="4897585" cy="142872"/>
          </a:xfrm>
        </p:grpSpPr>
        <p:sp>
          <p:nvSpPr>
            <p:cNvPr name="Freeform 3" id="3"/>
            <p:cNvSpPr/>
            <p:nvPr/>
          </p:nvSpPr>
          <p:spPr>
            <a:xfrm flipH="false" flipV="false" rot="0">
              <a:off x="0" y="0"/>
              <a:ext cx="4897585" cy="142872"/>
            </a:xfrm>
            <a:custGeom>
              <a:avLst/>
              <a:gdLst/>
              <a:ahLst/>
              <a:cxnLst/>
              <a:rect r="r" b="b" t="t" l="l"/>
              <a:pathLst>
                <a:path h="142872" w="4897585">
                  <a:moveTo>
                    <a:pt x="0" y="0"/>
                  </a:moveTo>
                  <a:lnTo>
                    <a:pt x="4897585" y="0"/>
                  </a:lnTo>
                  <a:lnTo>
                    <a:pt x="4897585" y="142872"/>
                  </a:lnTo>
                  <a:lnTo>
                    <a:pt x="0" y="142872"/>
                  </a:lnTo>
                  <a:close/>
                </a:path>
              </a:pathLst>
            </a:custGeom>
            <a:solidFill>
              <a:srgbClr val="017BC7"/>
            </a:solidFill>
          </p:spPr>
        </p:sp>
        <p:sp>
          <p:nvSpPr>
            <p:cNvPr name="TextBox 4" id="4"/>
            <p:cNvSpPr txBox="true"/>
            <p:nvPr/>
          </p:nvSpPr>
          <p:spPr>
            <a:xfrm>
              <a:off x="0" y="-47625"/>
              <a:ext cx="4897585" cy="190497"/>
            </a:xfrm>
            <a:prstGeom prst="rect">
              <a:avLst/>
            </a:prstGeom>
          </p:spPr>
          <p:txBody>
            <a:bodyPr anchor="ctr" rtlCol="false" tIns="50800" lIns="50800" bIns="50800" rIns="50800"/>
            <a:lstStyle/>
            <a:p>
              <a:pPr algn="ctr">
                <a:lnSpc>
                  <a:spcPts val="3511"/>
                </a:lnSpc>
              </a:pPr>
            </a:p>
          </p:txBody>
        </p:sp>
      </p:grpSp>
      <p:sp>
        <p:nvSpPr>
          <p:cNvPr name="Freeform 5" id="5"/>
          <p:cNvSpPr/>
          <p:nvPr/>
        </p:nvSpPr>
        <p:spPr>
          <a:xfrm flipH="false" flipV="false" rot="0">
            <a:off x="15885595" y="242670"/>
            <a:ext cx="2239161" cy="2007102"/>
          </a:xfrm>
          <a:custGeom>
            <a:avLst/>
            <a:gdLst/>
            <a:ahLst/>
            <a:cxnLst/>
            <a:rect r="r" b="b" t="t" l="l"/>
            <a:pathLst>
              <a:path h="2007102" w="2239161">
                <a:moveTo>
                  <a:pt x="0" y="0"/>
                </a:moveTo>
                <a:lnTo>
                  <a:pt x="2239160" y="0"/>
                </a:lnTo>
                <a:lnTo>
                  <a:pt x="2239160" y="2007102"/>
                </a:lnTo>
                <a:lnTo>
                  <a:pt x="0" y="2007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69643" y="7524656"/>
            <a:ext cx="2258620" cy="2313298"/>
          </a:xfrm>
          <a:custGeom>
            <a:avLst/>
            <a:gdLst/>
            <a:ahLst/>
            <a:cxnLst/>
            <a:rect r="r" b="b" t="t" l="l"/>
            <a:pathLst>
              <a:path h="2313298" w="2258620">
                <a:moveTo>
                  <a:pt x="0" y="0"/>
                </a:moveTo>
                <a:lnTo>
                  <a:pt x="2258620" y="0"/>
                </a:lnTo>
                <a:lnTo>
                  <a:pt x="2258620" y="2313298"/>
                </a:lnTo>
                <a:lnTo>
                  <a:pt x="0" y="23132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59667" y="0"/>
            <a:ext cx="1061970" cy="1624428"/>
          </a:xfrm>
          <a:custGeom>
            <a:avLst/>
            <a:gdLst/>
            <a:ahLst/>
            <a:cxnLst/>
            <a:rect r="r" b="b" t="t" l="l"/>
            <a:pathLst>
              <a:path h="1624428" w="1061970">
                <a:moveTo>
                  <a:pt x="0" y="0"/>
                </a:moveTo>
                <a:lnTo>
                  <a:pt x="1061970" y="0"/>
                </a:lnTo>
                <a:lnTo>
                  <a:pt x="1061970" y="1624428"/>
                </a:lnTo>
                <a:lnTo>
                  <a:pt x="0" y="16244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443716" y="-1000913"/>
            <a:ext cx="2245704" cy="2487166"/>
          </a:xfrm>
          <a:custGeom>
            <a:avLst/>
            <a:gdLst/>
            <a:ahLst/>
            <a:cxnLst/>
            <a:rect r="r" b="b" t="t" l="l"/>
            <a:pathLst>
              <a:path h="2487166" w="2245704">
                <a:moveTo>
                  <a:pt x="0" y="0"/>
                </a:moveTo>
                <a:lnTo>
                  <a:pt x="2245703" y="0"/>
                </a:lnTo>
                <a:lnTo>
                  <a:pt x="2245703" y="2487166"/>
                </a:lnTo>
                <a:lnTo>
                  <a:pt x="0" y="24871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7464222" y="242670"/>
            <a:ext cx="3359556" cy="849688"/>
          </a:xfrm>
          <a:custGeom>
            <a:avLst/>
            <a:gdLst/>
            <a:ahLst/>
            <a:cxnLst/>
            <a:rect r="r" b="b" t="t" l="l"/>
            <a:pathLst>
              <a:path h="849688" w="3359556">
                <a:moveTo>
                  <a:pt x="0" y="0"/>
                </a:moveTo>
                <a:lnTo>
                  <a:pt x="3359556" y="0"/>
                </a:lnTo>
                <a:lnTo>
                  <a:pt x="3359556" y="849688"/>
                </a:lnTo>
                <a:lnTo>
                  <a:pt x="0" y="849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6360231" y="4825375"/>
            <a:ext cx="675360" cy="341442"/>
          </a:xfrm>
          <a:custGeom>
            <a:avLst/>
            <a:gdLst/>
            <a:ahLst/>
            <a:cxnLst/>
            <a:rect r="r" b="b" t="t" l="l"/>
            <a:pathLst>
              <a:path h="341442" w="675360">
                <a:moveTo>
                  <a:pt x="0" y="0"/>
                </a:moveTo>
                <a:lnTo>
                  <a:pt x="675360" y="0"/>
                </a:lnTo>
                <a:lnTo>
                  <a:pt x="675360" y="341442"/>
                </a:lnTo>
                <a:lnTo>
                  <a:pt x="0" y="341442"/>
                </a:lnTo>
                <a:lnTo>
                  <a:pt x="0" y="0"/>
                </a:lnTo>
                <a:close/>
              </a:path>
            </a:pathLst>
          </a:custGeom>
          <a:blipFill>
            <a:blip r:embed="rId12">
              <a:extLst>
                <a:ext uri="{96DAC541-7B7A-43D3-8B79-37D633B846F1}">
                  <asvg:svgBlip xmlns:asvg="http://schemas.microsoft.com/office/drawing/2016/SVG/main" r:embed="rId13"/>
                </a:ext>
              </a:extLst>
            </a:blip>
            <a:stretch>
              <a:fillRect l="0" t="-559805" r="-206263" b="-1152"/>
            </a:stretch>
          </a:blipFill>
        </p:spPr>
      </p:sp>
      <p:sp>
        <p:nvSpPr>
          <p:cNvPr name="Freeform 11" id="11"/>
          <p:cNvSpPr/>
          <p:nvPr/>
        </p:nvSpPr>
        <p:spPr>
          <a:xfrm flipH="true" flipV="false" rot="0">
            <a:off x="11451807" y="4825375"/>
            <a:ext cx="675360" cy="341442"/>
          </a:xfrm>
          <a:custGeom>
            <a:avLst/>
            <a:gdLst/>
            <a:ahLst/>
            <a:cxnLst/>
            <a:rect r="r" b="b" t="t" l="l"/>
            <a:pathLst>
              <a:path h="341442" w="675360">
                <a:moveTo>
                  <a:pt x="675360" y="0"/>
                </a:moveTo>
                <a:lnTo>
                  <a:pt x="0" y="0"/>
                </a:lnTo>
                <a:lnTo>
                  <a:pt x="0" y="341442"/>
                </a:lnTo>
                <a:lnTo>
                  <a:pt x="675360" y="341442"/>
                </a:lnTo>
                <a:lnTo>
                  <a:pt x="675360" y="0"/>
                </a:lnTo>
                <a:close/>
              </a:path>
            </a:pathLst>
          </a:custGeom>
          <a:blipFill>
            <a:blip r:embed="rId12">
              <a:extLst>
                <a:ext uri="{96DAC541-7B7A-43D3-8B79-37D633B846F1}">
                  <asvg:svgBlip xmlns:asvg="http://schemas.microsoft.com/office/drawing/2016/SVG/main" r:embed="rId13"/>
                </a:ext>
              </a:extLst>
            </a:blip>
            <a:stretch>
              <a:fillRect l="0" t="-559805" r="-206263" b="-1152"/>
            </a:stretch>
          </a:blipFill>
        </p:spPr>
      </p:sp>
      <p:sp>
        <p:nvSpPr>
          <p:cNvPr name="Freeform 12" id="12"/>
          <p:cNvSpPr/>
          <p:nvPr/>
        </p:nvSpPr>
        <p:spPr>
          <a:xfrm flipH="false" flipV="false" rot="0">
            <a:off x="6850433" y="3677832"/>
            <a:ext cx="4783466" cy="2736276"/>
          </a:xfrm>
          <a:custGeom>
            <a:avLst/>
            <a:gdLst/>
            <a:ahLst/>
            <a:cxnLst/>
            <a:rect r="r" b="b" t="t" l="l"/>
            <a:pathLst>
              <a:path h="2736276" w="4783466">
                <a:moveTo>
                  <a:pt x="0" y="0"/>
                </a:moveTo>
                <a:lnTo>
                  <a:pt x="4783466" y="0"/>
                </a:lnTo>
                <a:lnTo>
                  <a:pt x="4783466" y="2736276"/>
                </a:lnTo>
                <a:lnTo>
                  <a:pt x="0" y="2736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6678861" y="1999901"/>
            <a:ext cx="1766326" cy="1677930"/>
            <a:chOff x="0" y="0"/>
            <a:chExt cx="2355102" cy="2237241"/>
          </a:xfrm>
        </p:grpSpPr>
        <p:sp>
          <p:nvSpPr>
            <p:cNvPr name="Freeform 14" id="14"/>
            <p:cNvSpPr/>
            <p:nvPr/>
          </p:nvSpPr>
          <p:spPr>
            <a:xfrm flipH="false" flipV="false" rot="-265290">
              <a:off x="72021" y="72867"/>
              <a:ext cx="1965421" cy="1944288"/>
            </a:xfrm>
            <a:custGeom>
              <a:avLst/>
              <a:gdLst/>
              <a:ahLst/>
              <a:cxnLst/>
              <a:rect r="r" b="b" t="t" l="l"/>
              <a:pathLst>
                <a:path h="1944288" w="1965421">
                  <a:moveTo>
                    <a:pt x="0" y="0"/>
                  </a:moveTo>
                  <a:lnTo>
                    <a:pt x="1965421" y="0"/>
                  </a:lnTo>
                  <a:lnTo>
                    <a:pt x="1965421" y="1944288"/>
                  </a:lnTo>
                  <a:lnTo>
                    <a:pt x="0" y="1944288"/>
                  </a:lnTo>
                  <a:lnTo>
                    <a:pt x="0" y="0"/>
                  </a:lnTo>
                  <a:close/>
                </a:path>
              </a:pathLst>
            </a:custGeom>
            <a:blipFill>
              <a:blip r:embed="rId16">
                <a:extLst>
                  <a:ext uri="{96DAC541-7B7A-43D3-8B79-37D633B846F1}">
                    <asvg:svgBlip xmlns:asvg="http://schemas.microsoft.com/office/drawing/2016/SVG/main" r:embed="rId17"/>
                  </a:ext>
                </a:extLst>
              </a:blip>
              <a:stretch>
                <a:fillRect l="-3225" t="-40669" r="-208743" b="-40971"/>
              </a:stretch>
            </a:blipFill>
          </p:spPr>
        </p:sp>
        <p:sp>
          <p:nvSpPr>
            <p:cNvPr name="Freeform 15" id="15"/>
            <p:cNvSpPr/>
            <p:nvPr/>
          </p:nvSpPr>
          <p:spPr>
            <a:xfrm flipH="false" flipV="false" rot="1277563">
              <a:off x="2055050" y="1750447"/>
              <a:ext cx="259297" cy="273206"/>
            </a:xfrm>
            <a:custGeom>
              <a:avLst/>
              <a:gdLst/>
              <a:ahLst/>
              <a:cxnLst/>
              <a:rect r="r" b="b" t="t" l="l"/>
              <a:pathLst>
                <a:path h="273206" w="259297">
                  <a:moveTo>
                    <a:pt x="0" y="0"/>
                  </a:moveTo>
                  <a:lnTo>
                    <a:pt x="259297" y="0"/>
                  </a:lnTo>
                  <a:lnTo>
                    <a:pt x="259297" y="273206"/>
                  </a:lnTo>
                  <a:lnTo>
                    <a:pt x="0" y="27320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6" id="16"/>
            <p:cNvSpPr/>
            <p:nvPr/>
          </p:nvSpPr>
          <p:spPr>
            <a:xfrm flipH="false" flipV="false" rot="-6893191">
              <a:off x="1506181" y="1925543"/>
              <a:ext cx="259297" cy="273206"/>
            </a:xfrm>
            <a:custGeom>
              <a:avLst/>
              <a:gdLst/>
              <a:ahLst/>
              <a:cxnLst/>
              <a:rect r="r" b="b" t="t" l="l"/>
              <a:pathLst>
                <a:path h="273206" w="259297">
                  <a:moveTo>
                    <a:pt x="0" y="0"/>
                  </a:moveTo>
                  <a:lnTo>
                    <a:pt x="259297" y="0"/>
                  </a:lnTo>
                  <a:lnTo>
                    <a:pt x="259297" y="273205"/>
                  </a:lnTo>
                  <a:lnTo>
                    <a:pt x="0" y="27320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grpSp>
        <p:nvGrpSpPr>
          <p:cNvPr name="Group 17" id="17"/>
          <p:cNvGrpSpPr/>
          <p:nvPr/>
        </p:nvGrpSpPr>
        <p:grpSpPr>
          <a:xfrm rot="-10800000">
            <a:off x="10503610" y="6658259"/>
            <a:ext cx="1766326" cy="1677930"/>
            <a:chOff x="0" y="0"/>
            <a:chExt cx="2355102" cy="2237241"/>
          </a:xfrm>
        </p:grpSpPr>
        <p:sp>
          <p:nvSpPr>
            <p:cNvPr name="Freeform 18" id="18"/>
            <p:cNvSpPr/>
            <p:nvPr/>
          </p:nvSpPr>
          <p:spPr>
            <a:xfrm flipH="false" flipV="false" rot="-265290">
              <a:off x="72021" y="72867"/>
              <a:ext cx="1965421" cy="1944288"/>
            </a:xfrm>
            <a:custGeom>
              <a:avLst/>
              <a:gdLst/>
              <a:ahLst/>
              <a:cxnLst/>
              <a:rect r="r" b="b" t="t" l="l"/>
              <a:pathLst>
                <a:path h="1944288" w="1965421">
                  <a:moveTo>
                    <a:pt x="0" y="0"/>
                  </a:moveTo>
                  <a:lnTo>
                    <a:pt x="1965421" y="0"/>
                  </a:lnTo>
                  <a:lnTo>
                    <a:pt x="1965421" y="1944288"/>
                  </a:lnTo>
                  <a:lnTo>
                    <a:pt x="0" y="1944288"/>
                  </a:lnTo>
                  <a:lnTo>
                    <a:pt x="0" y="0"/>
                  </a:lnTo>
                  <a:close/>
                </a:path>
              </a:pathLst>
            </a:custGeom>
            <a:blipFill>
              <a:blip r:embed="rId16">
                <a:extLst>
                  <a:ext uri="{96DAC541-7B7A-43D3-8B79-37D633B846F1}">
                    <asvg:svgBlip xmlns:asvg="http://schemas.microsoft.com/office/drawing/2016/SVG/main" r:embed="rId17"/>
                  </a:ext>
                </a:extLst>
              </a:blip>
              <a:stretch>
                <a:fillRect l="-3225" t="-40669" r="-208743" b="-40971"/>
              </a:stretch>
            </a:blipFill>
          </p:spPr>
        </p:sp>
        <p:sp>
          <p:nvSpPr>
            <p:cNvPr name="Freeform 19" id="19"/>
            <p:cNvSpPr/>
            <p:nvPr/>
          </p:nvSpPr>
          <p:spPr>
            <a:xfrm flipH="false" flipV="false" rot="1277563">
              <a:off x="2055050" y="1750447"/>
              <a:ext cx="259297" cy="273206"/>
            </a:xfrm>
            <a:custGeom>
              <a:avLst/>
              <a:gdLst/>
              <a:ahLst/>
              <a:cxnLst/>
              <a:rect r="r" b="b" t="t" l="l"/>
              <a:pathLst>
                <a:path h="273206" w="259297">
                  <a:moveTo>
                    <a:pt x="0" y="0"/>
                  </a:moveTo>
                  <a:lnTo>
                    <a:pt x="259297" y="0"/>
                  </a:lnTo>
                  <a:lnTo>
                    <a:pt x="259297" y="273206"/>
                  </a:lnTo>
                  <a:lnTo>
                    <a:pt x="0" y="27320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false" flipV="false" rot="-6893191">
              <a:off x="1506181" y="1925543"/>
              <a:ext cx="259297" cy="273206"/>
            </a:xfrm>
            <a:custGeom>
              <a:avLst/>
              <a:gdLst/>
              <a:ahLst/>
              <a:cxnLst/>
              <a:rect r="r" b="b" t="t" l="l"/>
              <a:pathLst>
                <a:path h="273206" w="259297">
                  <a:moveTo>
                    <a:pt x="0" y="0"/>
                  </a:moveTo>
                  <a:lnTo>
                    <a:pt x="259297" y="0"/>
                  </a:lnTo>
                  <a:lnTo>
                    <a:pt x="259297" y="273205"/>
                  </a:lnTo>
                  <a:lnTo>
                    <a:pt x="0" y="27320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grpSp>
        <p:nvGrpSpPr>
          <p:cNvPr name="Group 21" id="21"/>
          <p:cNvGrpSpPr/>
          <p:nvPr/>
        </p:nvGrpSpPr>
        <p:grpSpPr>
          <a:xfrm rot="0">
            <a:off x="10627546" y="1978441"/>
            <a:ext cx="1642390" cy="1682840"/>
            <a:chOff x="0" y="0"/>
            <a:chExt cx="2189854" cy="2243787"/>
          </a:xfrm>
        </p:grpSpPr>
        <p:sp>
          <p:nvSpPr>
            <p:cNvPr name="Freeform 22" id="22"/>
            <p:cNvSpPr/>
            <p:nvPr/>
          </p:nvSpPr>
          <p:spPr>
            <a:xfrm flipH="true" flipV="false" rot="-265290">
              <a:off x="152411" y="72867"/>
              <a:ext cx="1965421" cy="1944288"/>
            </a:xfrm>
            <a:custGeom>
              <a:avLst/>
              <a:gdLst/>
              <a:ahLst/>
              <a:cxnLst/>
              <a:rect r="r" b="b" t="t" l="l"/>
              <a:pathLst>
                <a:path h="1944288" w="1965421">
                  <a:moveTo>
                    <a:pt x="1965421" y="0"/>
                  </a:moveTo>
                  <a:lnTo>
                    <a:pt x="0" y="0"/>
                  </a:lnTo>
                  <a:lnTo>
                    <a:pt x="0" y="1944288"/>
                  </a:lnTo>
                  <a:lnTo>
                    <a:pt x="1965421" y="1944288"/>
                  </a:lnTo>
                  <a:lnTo>
                    <a:pt x="1965421" y="0"/>
                  </a:lnTo>
                  <a:close/>
                </a:path>
              </a:pathLst>
            </a:custGeom>
            <a:blipFill>
              <a:blip r:embed="rId16">
                <a:extLst>
                  <a:ext uri="{96DAC541-7B7A-43D3-8B79-37D633B846F1}">
                    <asvg:svgBlip xmlns:asvg="http://schemas.microsoft.com/office/drawing/2016/SVG/main" r:embed="rId17"/>
                  </a:ext>
                </a:extLst>
              </a:blip>
              <a:stretch>
                <a:fillRect l="-3225" t="-40669" r="-208743" b="-40971"/>
              </a:stretch>
            </a:blipFill>
          </p:spPr>
        </p:sp>
        <p:sp>
          <p:nvSpPr>
            <p:cNvPr name="Freeform 23" id="23"/>
            <p:cNvSpPr/>
            <p:nvPr/>
          </p:nvSpPr>
          <p:spPr>
            <a:xfrm flipH="false" flipV="false" rot="3010760">
              <a:off x="580828" y="1920129"/>
              <a:ext cx="259297" cy="273206"/>
            </a:xfrm>
            <a:custGeom>
              <a:avLst/>
              <a:gdLst/>
              <a:ahLst/>
              <a:cxnLst/>
              <a:rect r="r" b="b" t="t" l="l"/>
              <a:pathLst>
                <a:path h="273206" w="259297">
                  <a:moveTo>
                    <a:pt x="0" y="0"/>
                  </a:moveTo>
                  <a:lnTo>
                    <a:pt x="259297" y="0"/>
                  </a:lnTo>
                  <a:lnTo>
                    <a:pt x="259297" y="273205"/>
                  </a:lnTo>
                  <a:lnTo>
                    <a:pt x="0" y="27320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4" id="24"/>
            <p:cNvSpPr/>
            <p:nvPr/>
          </p:nvSpPr>
          <p:spPr>
            <a:xfrm flipH="false" flipV="false" rot="-5159993">
              <a:off x="15666" y="1808291"/>
              <a:ext cx="259297" cy="273206"/>
            </a:xfrm>
            <a:custGeom>
              <a:avLst/>
              <a:gdLst/>
              <a:ahLst/>
              <a:cxnLst/>
              <a:rect r="r" b="b" t="t" l="l"/>
              <a:pathLst>
                <a:path h="273206" w="259297">
                  <a:moveTo>
                    <a:pt x="0" y="0"/>
                  </a:moveTo>
                  <a:lnTo>
                    <a:pt x="259296" y="0"/>
                  </a:lnTo>
                  <a:lnTo>
                    <a:pt x="259296" y="273206"/>
                  </a:lnTo>
                  <a:lnTo>
                    <a:pt x="0" y="27320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grpSp>
        <p:nvGrpSpPr>
          <p:cNvPr name="Group 25" id="25"/>
          <p:cNvGrpSpPr/>
          <p:nvPr/>
        </p:nvGrpSpPr>
        <p:grpSpPr>
          <a:xfrm rot="-10800000">
            <a:off x="6360231" y="6412690"/>
            <a:ext cx="1642390" cy="1682840"/>
            <a:chOff x="0" y="0"/>
            <a:chExt cx="2189854" cy="2243787"/>
          </a:xfrm>
        </p:grpSpPr>
        <p:sp>
          <p:nvSpPr>
            <p:cNvPr name="Freeform 26" id="26"/>
            <p:cNvSpPr/>
            <p:nvPr/>
          </p:nvSpPr>
          <p:spPr>
            <a:xfrm flipH="true" flipV="false" rot="-265290">
              <a:off x="152411" y="72867"/>
              <a:ext cx="1965421" cy="1944288"/>
            </a:xfrm>
            <a:custGeom>
              <a:avLst/>
              <a:gdLst/>
              <a:ahLst/>
              <a:cxnLst/>
              <a:rect r="r" b="b" t="t" l="l"/>
              <a:pathLst>
                <a:path h="1944288" w="1965421">
                  <a:moveTo>
                    <a:pt x="1965421" y="0"/>
                  </a:moveTo>
                  <a:lnTo>
                    <a:pt x="0" y="0"/>
                  </a:lnTo>
                  <a:lnTo>
                    <a:pt x="0" y="1944288"/>
                  </a:lnTo>
                  <a:lnTo>
                    <a:pt x="1965421" y="1944288"/>
                  </a:lnTo>
                  <a:lnTo>
                    <a:pt x="1965421" y="0"/>
                  </a:lnTo>
                  <a:close/>
                </a:path>
              </a:pathLst>
            </a:custGeom>
            <a:blipFill>
              <a:blip r:embed="rId16">
                <a:extLst>
                  <a:ext uri="{96DAC541-7B7A-43D3-8B79-37D633B846F1}">
                    <asvg:svgBlip xmlns:asvg="http://schemas.microsoft.com/office/drawing/2016/SVG/main" r:embed="rId17"/>
                  </a:ext>
                </a:extLst>
              </a:blip>
              <a:stretch>
                <a:fillRect l="-3225" t="-40669" r="-208743" b="-40971"/>
              </a:stretch>
            </a:blipFill>
          </p:spPr>
        </p:sp>
        <p:sp>
          <p:nvSpPr>
            <p:cNvPr name="Freeform 27" id="27"/>
            <p:cNvSpPr/>
            <p:nvPr/>
          </p:nvSpPr>
          <p:spPr>
            <a:xfrm flipH="false" flipV="false" rot="3010760">
              <a:off x="580828" y="1920129"/>
              <a:ext cx="259297" cy="273206"/>
            </a:xfrm>
            <a:custGeom>
              <a:avLst/>
              <a:gdLst/>
              <a:ahLst/>
              <a:cxnLst/>
              <a:rect r="r" b="b" t="t" l="l"/>
              <a:pathLst>
                <a:path h="273206" w="259297">
                  <a:moveTo>
                    <a:pt x="0" y="0"/>
                  </a:moveTo>
                  <a:lnTo>
                    <a:pt x="259297" y="0"/>
                  </a:lnTo>
                  <a:lnTo>
                    <a:pt x="259297" y="273205"/>
                  </a:lnTo>
                  <a:lnTo>
                    <a:pt x="0" y="27320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8" id="28"/>
            <p:cNvSpPr/>
            <p:nvPr/>
          </p:nvSpPr>
          <p:spPr>
            <a:xfrm flipH="false" flipV="false" rot="-5159993">
              <a:off x="15666" y="1808291"/>
              <a:ext cx="259297" cy="273206"/>
            </a:xfrm>
            <a:custGeom>
              <a:avLst/>
              <a:gdLst/>
              <a:ahLst/>
              <a:cxnLst/>
              <a:rect r="r" b="b" t="t" l="l"/>
              <a:pathLst>
                <a:path h="273206" w="259297">
                  <a:moveTo>
                    <a:pt x="0" y="0"/>
                  </a:moveTo>
                  <a:lnTo>
                    <a:pt x="259296" y="0"/>
                  </a:lnTo>
                  <a:lnTo>
                    <a:pt x="259296" y="273206"/>
                  </a:lnTo>
                  <a:lnTo>
                    <a:pt x="0" y="27320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grpSp>
        <p:nvGrpSpPr>
          <p:cNvPr name="Group 29" id="29"/>
          <p:cNvGrpSpPr/>
          <p:nvPr/>
        </p:nvGrpSpPr>
        <p:grpSpPr>
          <a:xfrm rot="0">
            <a:off x="737230" y="1033772"/>
            <a:ext cx="5623001" cy="1098909"/>
            <a:chOff x="0" y="0"/>
            <a:chExt cx="2125672" cy="415422"/>
          </a:xfrm>
        </p:grpSpPr>
        <p:sp>
          <p:nvSpPr>
            <p:cNvPr name="Freeform 30" id="30"/>
            <p:cNvSpPr/>
            <p:nvPr/>
          </p:nvSpPr>
          <p:spPr>
            <a:xfrm flipH="false" flipV="false" rot="0">
              <a:off x="39997" y="45156"/>
              <a:ext cx="2085676" cy="369561"/>
            </a:xfrm>
            <a:custGeom>
              <a:avLst/>
              <a:gdLst/>
              <a:ahLst/>
              <a:cxnLst/>
              <a:rect r="r" b="b" t="t" l="l"/>
              <a:pathLst>
                <a:path h="369561" w="2085676">
                  <a:moveTo>
                    <a:pt x="643" y="339786"/>
                  </a:moveTo>
                  <a:cubicBezTo>
                    <a:pt x="-1897" y="348676"/>
                    <a:pt x="3183" y="355026"/>
                    <a:pt x="14139" y="356296"/>
                  </a:cubicBezTo>
                  <a:cubicBezTo>
                    <a:pt x="26709" y="357566"/>
                    <a:pt x="37708" y="357566"/>
                    <a:pt x="50277" y="357566"/>
                  </a:cubicBezTo>
                  <a:cubicBezTo>
                    <a:pt x="100556" y="358836"/>
                    <a:pt x="150835" y="358836"/>
                    <a:pt x="202685" y="360106"/>
                  </a:cubicBezTo>
                  <a:cubicBezTo>
                    <a:pt x="230967" y="361376"/>
                    <a:pt x="259249" y="362646"/>
                    <a:pt x="285960" y="363916"/>
                  </a:cubicBezTo>
                  <a:cubicBezTo>
                    <a:pt x="333096" y="365186"/>
                    <a:pt x="378662" y="365186"/>
                    <a:pt x="425798" y="366456"/>
                  </a:cubicBezTo>
                  <a:cubicBezTo>
                    <a:pt x="444653" y="366456"/>
                    <a:pt x="461936" y="366456"/>
                    <a:pt x="480791" y="365186"/>
                  </a:cubicBezTo>
                  <a:cubicBezTo>
                    <a:pt x="488647" y="365186"/>
                    <a:pt x="498074" y="363916"/>
                    <a:pt x="505930" y="363916"/>
                  </a:cubicBezTo>
                  <a:cubicBezTo>
                    <a:pt x="537355" y="365186"/>
                    <a:pt x="1165841" y="356296"/>
                    <a:pt x="1197266" y="357566"/>
                  </a:cubicBezTo>
                  <a:cubicBezTo>
                    <a:pt x="1241260" y="358836"/>
                    <a:pt x="1362244" y="358836"/>
                    <a:pt x="1406237" y="358836"/>
                  </a:cubicBezTo>
                  <a:cubicBezTo>
                    <a:pt x="1423521" y="358836"/>
                    <a:pt x="1439233" y="357566"/>
                    <a:pt x="1456516" y="357566"/>
                  </a:cubicBezTo>
                  <a:lnTo>
                    <a:pt x="1541362" y="361376"/>
                  </a:lnTo>
                  <a:cubicBezTo>
                    <a:pt x="1602640" y="363916"/>
                    <a:pt x="1662346" y="361376"/>
                    <a:pt x="1723623" y="365186"/>
                  </a:cubicBezTo>
                  <a:cubicBezTo>
                    <a:pt x="1825752" y="370266"/>
                    <a:pt x="1929453" y="363916"/>
                    <a:pt x="2022175" y="368996"/>
                  </a:cubicBezTo>
                  <a:cubicBezTo>
                    <a:pt x="2042495" y="370266"/>
                    <a:pt x="2062815" y="368996"/>
                    <a:pt x="2085675" y="368996"/>
                  </a:cubicBezTo>
                  <a:lnTo>
                    <a:pt x="2085675" y="309306"/>
                  </a:lnTo>
                  <a:cubicBezTo>
                    <a:pt x="2084405" y="274578"/>
                    <a:pt x="2083135" y="264138"/>
                    <a:pt x="2083135" y="253045"/>
                  </a:cubicBezTo>
                  <a:cubicBezTo>
                    <a:pt x="2083135" y="240211"/>
                    <a:pt x="2086945" y="227161"/>
                    <a:pt x="2080595" y="214327"/>
                  </a:cubicBezTo>
                  <a:cubicBezTo>
                    <a:pt x="2072975" y="205844"/>
                    <a:pt x="2061545" y="38578"/>
                    <a:pt x="2061545" y="30095"/>
                  </a:cubicBezTo>
                  <a:cubicBezTo>
                    <a:pt x="2059005" y="24222"/>
                    <a:pt x="2057735" y="18132"/>
                    <a:pt x="2055195" y="12259"/>
                  </a:cubicBezTo>
                  <a:cubicBezTo>
                    <a:pt x="2055195" y="10519"/>
                    <a:pt x="2053925" y="8779"/>
                    <a:pt x="2052655" y="5644"/>
                  </a:cubicBezTo>
                  <a:cubicBezTo>
                    <a:pt x="2042495" y="3104"/>
                    <a:pt x="2033605" y="1834"/>
                    <a:pt x="2023445" y="564"/>
                  </a:cubicBezTo>
                  <a:cubicBezTo>
                    <a:pt x="2015825" y="-706"/>
                    <a:pt x="2008205" y="564"/>
                    <a:pt x="2001855" y="564"/>
                  </a:cubicBezTo>
                  <a:lnTo>
                    <a:pt x="6283" y="5644"/>
                  </a:lnTo>
                  <a:lnTo>
                    <a:pt x="643" y="339786"/>
                  </a:lnTo>
                  <a:close/>
                </a:path>
              </a:pathLst>
            </a:custGeom>
            <a:solidFill>
              <a:srgbClr val="FFDA68"/>
            </a:solidFill>
          </p:spPr>
        </p:sp>
        <p:sp>
          <p:nvSpPr>
            <p:cNvPr name="Freeform 31" id="31"/>
            <p:cNvSpPr/>
            <p:nvPr/>
          </p:nvSpPr>
          <p:spPr>
            <a:xfrm flipH="false" flipV="false" rot="0">
              <a:off x="11430" y="16510"/>
              <a:ext cx="2064712" cy="360812"/>
            </a:xfrm>
            <a:custGeom>
              <a:avLst/>
              <a:gdLst/>
              <a:ahLst/>
              <a:cxnLst/>
              <a:rect r="r" b="b" t="t" l="l"/>
              <a:pathLst>
                <a:path h="360812" w="2064712">
                  <a:moveTo>
                    <a:pt x="2064712" y="360812"/>
                  </a:moveTo>
                  <a:lnTo>
                    <a:pt x="0" y="353192"/>
                  </a:lnTo>
                  <a:lnTo>
                    <a:pt x="0" y="131825"/>
                  </a:lnTo>
                  <a:lnTo>
                    <a:pt x="7620" y="20320"/>
                  </a:lnTo>
                  <a:lnTo>
                    <a:pt x="1029431" y="0"/>
                  </a:lnTo>
                  <a:lnTo>
                    <a:pt x="2043122" y="8890"/>
                  </a:lnTo>
                  <a:close/>
                </a:path>
              </a:pathLst>
            </a:custGeom>
            <a:solidFill>
              <a:srgbClr val="EFEFEF"/>
            </a:solidFill>
          </p:spPr>
        </p:sp>
        <p:sp>
          <p:nvSpPr>
            <p:cNvPr name="Freeform 32" id="32"/>
            <p:cNvSpPr/>
            <p:nvPr/>
          </p:nvSpPr>
          <p:spPr>
            <a:xfrm flipH="false" flipV="false" rot="0">
              <a:off x="-215" y="0"/>
              <a:ext cx="2089057" cy="386777"/>
            </a:xfrm>
            <a:custGeom>
              <a:avLst/>
              <a:gdLst/>
              <a:ahLst/>
              <a:cxnLst/>
              <a:rect r="r" b="b" t="t" l="l"/>
              <a:pathLst>
                <a:path h="386777" w="2089057">
                  <a:moveTo>
                    <a:pt x="2056037" y="21590"/>
                  </a:moveTo>
                  <a:cubicBezTo>
                    <a:pt x="2057307" y="34290"/>
                    <a:pt x="2057307" y="44450"/>
                    <a:pt x="2058577" y="52412"/>
                  </a:cubicBezTo>
                  <a:cubicBezTo>
                    <a:pt x="2061117" y="58285"/>
                    <a:pt x="2062387" y="64375"/>
                    <a:pt x="2064927" y="70248"/>
                  </a:cubicBezTo>
                  <a:cubicBezTo>
                    <a:pt x="2064927" y="78731"/>
                    <a:pt x="2077627" y="245998"/>
                    <a:pt x="2083977" y="254481"/>
                  </a:cubicBezTo>
                  <a:cubicBezTo>
                    <a:pt x="2090327" y="267314"/>
                    <a:pt x="2086517" y="280365"/>
                    <a:pt x="2086517" y="293198"/>
                  </a:cubicBezTo>
                  <a:cubicBezTo>
                    <a:pt x="2086517" y="304508"/>
                    <a:pt x="2087787" y="314949"/>
                    <a:pt x="2089057" y="326522"/>
                  </a:cubicBezTo>
                  <a:lnTo>
                    <a:pt x="2089057" y="386212"/>
                  </a:lnTo>
                  <a:cubicBezTo>
                    <a:pt x="2066197" y="386212"/>
                    <a:pt x="2045877" y="387482"/>
                    <a:pt x="2025557" y="386212"/>
                  </a:cubicBezTo>
                  <a:cubicBezTo>
                    <a:pt x="1924100" y="381132"/>
                    <a:pt x="1820399" y="387482"/>
                    <a:pt x="1718270" y="382402"/>
                  </a:cubicBezTo>
                  <a:cubicBezTo>
                    <a:pt x="1656993" y="378592"/>
                    <a:pt x="1597286" y="381132"/>
                    <a:pt x="1536009" y="378592"/>
                  </a:cubicBezTo>
                  <a:lnTo>
                    <a:pt x="1451163" y="374782"/>
                  </a:lnTo>
                  <a:cubicBezTo>
                    <a:pt x="1433880" y="374782"/>
                    <a:pt x="1418168" y="376052"/>
                    <a:pt x="1400884" y="376052"/>
                  </a:cubicBezTo>
                  <a:cubicBezTo>
                    <a:pt x="1356890" y="374782"/>
                    <a:pt x="1235906" y="376052"/>
                    <a:pt x="1191912" y="374782"/>
                  </a:cubicBezTo>
                  <a:cubicBezTo>
                    <a:pt x="1160488" y="373512"/>
                    <a:pt x="532001" y="382402"/>
                    <a:pt x="500577" y="381132"/>
                  </a:cubicBezTo>
                  <a:cubicBezTo>
                    <a:pt x="492721" y="381132"/>
                    <a:pt x="483294" y="382402"/>
                    <a:pt x="475438" y="382402"/>
                  </a:cubicBezTo>
                  <a:cubicBezTo>
                    <a:pt x="456583" y="382402"/>
                    <a:pt x="439300" y="383672"/>
                    <a:pt x="420445" y="383672"/>
                  </a:cubicBezTo>
                  <a:cubicBezTo>
                    <a:pt x="373308" y="383672"/>
                    <a:pt x="327743" y="382402"/>
                    <a:pt x="280607" y="381132"/>
                  </a:cubicBezTo>
                  <a:cubicBezTo>
                    <a:pt x="252325" y="379862"/>
                    <a:pt x="224043" y="378592"/>
                    <a:pt x="197332" y="377322"/>
                  </a:cubicBezTo>
                  <a:cubicBezTo>
                    <a:pt x="147053" y="376052"/>
                    <a:pt x="96774" y="374782"/>
                    <a:pt x="44924" y="374782"/>
                  </a:cubicBezTo>
                  <a:cubicBezTo>
                    <a:pt x="34505" y="374782"/>
                    <a:pt x="25615" y="374782"/>
                    <a:pt x="15455" y="373512"/>
                  </a:cubicBezTo>
                  <a:cubicBezTo>
                    <a:pt x="6565" y="372242"/>
                    <a:pt x="1485" y="365892"/>
                    <a:pt x="4025" y="357002"/>
                  </a:cubicBezTo>
                  <a:cubicBezTo>
                    <a:pt x="12915" y="325825"/>
                    <a:pt x="9105" y="320387"/>
                    <a:pt x="7835" y="314731"/>
                  </a:cubicBezTo>
                  <a:cubicBezTo>
                    <a:pt x="6565" y="303203"/>
                    <a:pt x="2755" y="291893"/>
                    <a:pt x="4025" y="280365"/>
                  </a:cubicBezTo>
                  <a:cubicBezTo>
                    <a:pt x="1485" y="266009"/>
                    <a:pt x="-3595" y="88302"/>
                    <a:pt x="4025" y="73728"/>
                  </a:cubicBezTo>
                  <a:cubicBezTo>
                    <a:pt x="5295" y="70901"/>
                    <a:pt x="4025" y="67856"/>
                    <a:pt x="5295" y="65028"/>
                  </a:cubicBezTo>
                  <a:cubicBezTo>
                    <a:pt x="6565" y="60460"/>
                    <a:pt x="9105" y="55457"/>
                    <a:pt x="10375" y="44450"/>
                  </a:cubicBezTo>
                  <a:cubicBezTo>
                    <a:pt x="10375" y="41910"/>
                    <a:pt x="11645" y="39370"/>
                    <a:pt x="12915" y="38100"/>
                  </a:cubicBezTo>
                  <a:cubicBezTo>
                    <a:pt x="34505" y="35560"/>
                    <a:pt x="57494" y="30480"/>
                    <a:pt x="82633" y="29210"/>
                  </a:cubicBezTo>
                  <a:cubicBezTo>
                    <a:pt x="125056" y="25400"/>
                    <a:pt x="167479" y="22860"/>
                    <a:pt x="211473" y="20320"/>
                  </a:cubicBezTo>
                  <a:cubicBezTo>
                    <a:pt x="241326" y="17780"/>
                    <a:pt x="271179" y="16510"/>
                    <a:pt x="299461" y="13970"/>
                  </a:cubicBezTo>
                  <a:cubicBezTo>
                    <a:pt x="327743" y="11430"/>
                    <a:pt x="357596" y="8890"/>
                    <a:pt x="385878" y="8890"/>
                  </a:cubicBezTo>
                  <a:cubicBezTo>
                    <a:pt x="417303" y="7620"/>
                    <a:pt x="448727" y="10160"/>
                    <a:pt x="480151" y="8890"/>
                  </a:cubicBezTo>
                  <a:cubicBezTo>
                    <a:pt x="519432" y="8890"/>
                    <a:pt x="1231193" y="6350"/>
                    <a:pt x="1270473" y="5080"/>
                  </a:cubicBezTo>
                  <a:cubicBezTo>
                    <a:pt x="1308183" y="3810"/>
                    <a:pt x="1345892" y="2540"/>
                    <a:pt x="1385172" y="2540"/>
                  </a:cubicBezTo>
                  <a:cubicBezTo>
                    <a:pt x="1449592" y="1270"/>
                    <a:pt x="1512441" y="0"/>
                    <a:pt x="1576861" y="0"/>
                  </a:cubicBezTo>
                  <a:cubicBezTo>
                    <a:pt x="1603571" y="0"/>
                    <a:pt x="1631853" y="2540"/>
                    <a:pt x="1658564" y="2540"/>
                  </a:cubicBezTo>
                  <a:cubicBezTo>
                    <a:pt x="1732411" y="3810"/>
                    <a:pt x="1807829" y="5080"/>
                    <a:pt x="1881677" y="7620"/>
                  </a:cubicBezTo>
                  <a:cubicBezTo>
                    <a:pt x="1920957" y="8890"/>
                    <a:pt x="1960237" y="12700"/>
                    <a:pt x="1999518" y="16510"/>
                  </a:cubicBezTo>
                  <a:lnTo>
                    <a:pt x="2025557" y="16510"/>
                  </a:lnTo>
                  <a:cubicBezTo>
                    <a:pt x="2036987" y="17780"/>
                    <a:pt x="2045877" y="20320"/>
                    <a:pt x="2056037" y="21590"/>
                  </a:cubicBezTo>
                  <a:close/>
                  <a:moveTo>
                    <a:pt x="2066197" y="369702"/>
                  </a:moveTo>
                  <a:cubicBezTo>
                    <a:pt x="2067467" y="353192"/>
                    <a:pt x="2068737" y="340492"/>
                    <a:pt x="2068737" y="327792"/>
                  </a:cubicBezTo>
                  <a:cubicBezTo>
                    <a:pt x="2067467" y="313861"/>
                    <a:pt x="2066197" y="302333"/>
                    <a:pt x="2066197" y="289935"/>
                  </a:cubicBezTo>
                  <a:cubicBezTo>
                    <a:pt x="2066197" y="284280"/>
                    <a:pt x="2068737" y="278625"/>
                    <a:pt x="2067467" y="272969"/>
                  </a:cubicBezTo>
                  <a:cubicBezTo>
                    <a:pt x="2067467" y="267749"/>
                    <a:pt x="2066197" y="262311"/>
                    <a:pt x="2064927" y="257091"/>
                  </a:cubicBezTo>
                  <a:cubicBezTo>
                    <a:pt x="2059847" y="249043"/>
                    <a:pt x="2048417" y="82429"/>
                    <a:pt x="2048417" y="74381"/>
                  </a:cubicBezTo>
                  <a:cubicBezTo>
                    <a:pt x="2045877" y="67638"/>
                    <a:pt x="2043337" y="60678"/>
                    <a:pt x="2040797" y="53935"/>
                  </a:cubicBezTo>
                  <a:cubicBezTo>
                    <a:pt x="2039527" y="44450"/>
                    <a:pt x="2038257" y="43180"/>
                    <a:pt x="2021515" y="41910"/>
                  </a:cubicBezTo>
                  <a:cubicBezTo>
                    <a:pt x="2016801" y="41910"/>
                    <a:pt x="2013659" y="41910"/>
                    <a:pt x="2008945" y="40640"/>
                  </a:cubicBezTo>
                  <a:cubicBezTo>
                    <a:pt x="1969665" y="36830"/>
                    <a:pt x="1928813" y="31750"/>
                    <a:pt x="1889533" y="30480"/>
                  </a:cubicBezTo>
                  <a:cubicBezTo>
                    <a:pt x="1793688" y="26670"/>
                    <a:pt x="1696273" y="25400"/>
                    <a:pt x="1600429" y="22860"/>
                  </a:cubicBezTo>
                  <a:lnTo>
                    <a:pt x="1487301" y="22860"/>
                  </a:lnTo>
                  <a:cubicBezTo>
                    <a:pt x="1437022" y="22860"/>
                    <a:pt x="1386743" y="22860"/>
                    <a:pt x="1338036" y="24130"/>
                  </a:cubicBezTo>
                  <a:cubicBezTo>
                    <a:pt x="1295613" y="25400"/>
                    <a:pt x="580709" y="29210"/>
                    <a:pt x="538286" y="29210"/>
                  </a:cubicBezTo>
                  <a:cubicBezTo>
                    <a:pt x="469153" y="29210"/>
                    <a:pt x="400019" y="26670"/>
                    <a:pt x="330886" y="33020"/>
                  </a:cubicBezTo>
                  <a:cubicBezTo>
                    <a:pt x="294748" y="36830"/>
                    <a:pt x="260181" y="36830"/>
                    <a:pt x="225614" y="38100"/>
                  </a:cubicBezTo>
                  <a:cubicBezTo>
                    <a:pt x="165908" y="41910"/>
                    <a:pt x="106202" y="45720"/>
                    <a:pt x="46495" y="50800"/>
                  </a:cubicBezTo>
                  <a:cubicBezTo>
                    <a:pt x="33235" y="50800"/>
                    <a:pt x="30695" y="52195"/>
                    <a:pt x="29425" y="54805"/>
                  </a:cubicBezTo>
                  <a:cubicBezTo>
                    <a:pt x="28155" y="58720"/>
                    <a:pt x="28155" y="62635"/>
                    <a:pt x="26885" y="66550"/>
                  </a:cubicBezTo>
                  <a:cubicBezTo>
                    <a:pt x="25615" y="73076"/>
                    <a:pt x="23075" y="79384"/>
                    <a:pt x="21805" y="85909"/>
                  </a:cubicBezTo>
                  <a:cubicBezTo>
                    <a:pt x="16725" y="92869"/>
                    <a:pt x="23075" y="262964"/>
                    <a:pt x="25615" y="269924"/>
                  </a:cubicBezTo>
                  <a:cubicBezTo>
                    <a:pt x="25615" y="277319"/>
                    <a:pt x="25615" y="284932"/>
                    <a:pt x="26885" y="292328"/>
                  </a:cubicBezTo>
                  <a:cubicBezTo>
                    <a:pt x="26885" y="297766"/>
                    <a:pt x="29425" y="303203"/>
                    <a:pt x="29425" y="308641"/>
                  </a:cubicBezTo>
                  <a:cubicBezTo>
                    <a:pt x="29425" y="314514"/>
                    <a:pt x="29425" y="320387"/>
                    <a:pt x="28155" y="327792"/>
                  </a:cubicBezTo>
                  <a:lnTo>
                    <a:pt x="28155" y="337952"/>
                  </a:lnTo>
                  <a:cubicBezTo>
                    <a:pt x="28155" y="348112"/>
                    <a:pt x="31965" y="351922"/>
                    <a:pt x="40855" y="351922"/>
                  </a:cubicBezTo>
                  <a:cubicBezTo>
                    <a:pt x="60636" y="351922"/>
                    <a:pt x="82633" y="353192"/>
                    <a:pt x="103059" y="353192"/>
                  </a:cubicBezTo>
                  <a:cubicBezTo>
                    <a:pt x="132912" y="353192"/>
                    <a:pt x="164337" y="350652"/>
                    <a:pt x="194190" y="353192"/>
                  </a:cubicBezTo>
                  <a:cubicBezTo>
                    <a:pt x="242897" y="357002"/>
                    <a:pt x="291605" y="359542"/>
                    <a:pt x="340313" y="358272"/>
                  </a:cubicBezTo>
                  <a:cubicBezTo>
                    <a:pt x="371737" y="357002"/>
                    <a:pt x="401590" y="359542"/>
                    <a:pt x="433015" y="359542"/>
                  </a:cubicBezTo>
                  <a:cubicBezTo>
                    <a:pt x="478580" y="359542"/>
                    <a:pt x="524145" y="358272"/>
                    <a:pt x="569711" y="359542"/>
                  </a:cubicBezTo>
                  <a:cubicBezTo>
                    <a:pt x="637273" y="360812"/>
                    <a:pt x="1378887" y="350652"/>
                    <a:pt x="1448021" y="353192"/>
                  </a:cubicBezTo>
                  <a:cubicBezTo>
                    <a:pt x="1477874" y="354462"/>
                    <a:pt x="1507727" y="355733"/>
                    <a:pt x="1536009" y="355733"/>
                  </a:cubicBezTo>
                  <a:cubicBezTo>
                    <a:pt x="1587859" y="358272"/>
                    <a:pt x="1638138" y="354462"/>
                    <a:pt x="1689988" y="358272"/>
                  </a:cubicBezTo>
                  <a:cubicBezTo>
                    <a:pt x="1732411" y="360812"/>
                    <a:pt x="1774834" y="360812"/>
                    <a:pt x="1817257" y="363352"/>
                  </a:cubicBezTo>
                  <a:cubicBezTo>
                    <a:pt x="1880105" y="367162"/>
                    <a:pt x="1942954" y="369702"/>
                    <a:pt x="2005803" y="370972"/>
                  </a:cubicBezTo>
                  <a:cubicBezTo>
                    <a:pt x="2028097" y="370972"/>
                    <a:pt x="2045877" y="369702"/>
                    <a:pt x="2066197" y="369702"/>
                  </a:cubicBezTo>
                  <a:close/>
                </a:path>
              </a:pathLst>
            </a:custGeom>
            <a:solidFill>
              <a:srgbClr val="242424"/>
            </a:solidFill>
          </p:spPr>
        </p:sp>
      </p:grpSp>
      <p:grpSp>
        <p:nvGrpSpPr>
          <p:cNvPr name="Group 33" id="33"/>
          <p:cNvGrpSpPr/>
          <p:nvPr/>
        </p:nvGrpSpPr>
        <p:grpSpPr>
          <a:xfrm rot="0">
            <a:off x="12269936" y="1200571"/>
            <a:ext cx="4989364" cy="851040"/>
            <a:chOff x="0" y="0"/>
            <a:chExt cx="2435484" cy="415422"/>
          </a:xfrm>
        </p:grpSpPr>
        <p:sp>
          <p:nvSpPr>
            <p:cNvPr name="Freeform 34" id="34"/>
            <p:cNvSpPr/>
            <p:nvPr/>
          </p:nvSpPr>
          <p:spPr>
            <a:xfrm flipH="false" flipV="false" rot="0">
              <a:off x="40005" y="45156"/>
              <a:ext cx="2395479" cy="369561"/>
            </a:xfrm>
            <a:custGeom>
              <a:avLst/>
              <a:gdLst/>
              <a:ahLst/>
              <a:cxnLst/>
              <a:rect r="r" b="b" t="t" l="l"/>
              <a:pathLst>
                <a:path h="369561" w="2395479">
                  <a:moveTo>
                    <a:pt x="635" y="339786"/>
                  </a:moveTo>
                  <a:cubicBezTo>
                    <a:pt x="-1905" y="348676"/>
                    <a:pt x="3175" y="355026"/>
                    <a:pt x="15819" y="356296"/>
                  </a:cubicBezTo>
                  <a:cubicBezTo>
                    <a:pt x="30356" y="357566"/>
                    <a:pt x="43076" y="357566"/>
                    <a:pt x="57614" y="357566"/>
                  </a:cubicBezTo>
                  <a:cubicBezTo>
                    <a:pt x="115763" y="358836"/>
                    <a:pt x="173913" y="358836"/>
                    <a:pt x="233879" y="360106"/>
                  </a:cubicBezTo>
                  <a:cubicBezTo>
                    <a:pt x="266588" y="361376"/>
                    <a:pt x="299297" y="362646"/>
                    <a:pt x="330189" y="363916"/>
                  </a:cubicBezTo>
                  <a:cubicBezTo>
                    <a:pt x="384704" y="365186"/>
                    <a:pt x="437402" y="365186"/>
                    <a:pt x="491918" y="366456"/>
                  </a:cubicBezTo>
                  <a:cubicBezTo>
                    <a:pt x="513724" y="366456"/>
                    <a:pt x="533712" y="366456"/>
                    <a:pt x="555518" y="365186"/>
                  </a:cubicBezTo>
                  <a:cubicBezTo>
                    <a:pt x="564604" y="365186"/>
                    <a:pt x="575507" y="363916"/>
                    <a:pt x="584593" y="363916"/>
                  </a:cubicBezTo>
                  <a:cubicBezTo>
                    <a:pt x="620937" y="365186"/>
                    <a:pt x="1347805" y="356296"/>
                    <a:pt x="1384148" y="357566"/>
                  </a:cubicBezTo>
                  <a:cubicBezTo>
                    <a:pt x="1435029" y="358836"/>
                    <a:pt x="1574951" y="358836"/>
                    <a:pt x="1625832" y="358836"/>
                  </a:cubicBezTo>
                  <a:cubicBezTo>
                    <a:pt x="1645821" y="358836"/>
                    <a:pt x="1663993" y="357566"/>
                    <a:pt x="1683981" y="357566"/>
                  </a:cubicBezTo>
                  <a:lnTo>
                    <a:pt x="1782109" y="361376"/>
                  </a:lnTo>
                  <a:cubicBezTo>
                    <a:pt x="1852978" y="363916"/>
                    <a:pt x="1922031" y="361376"/>
                    <a:pt x="1992901" y="365186"/>
                  </a:cubicBezTo>
                  <a:cubicBezTo>
                    <a:pt x="2111017" y="370266"/>
                    <a:pt x="2230950" y="363916"/>
                    <a:pt x="2331979" y="368996"/>
                  </a:cubicBezTo>
                  <a:cubicBezTo>
                    <a:pt x="2352299" y="370266"/>
                    <a:pt x="2372618" y="368996"/>
                    <a:pt x="2395479" y="368996"/>
                  </a:cubicBezTo>
                  <a:lnTo>
                    <a:pt x="2395479" y="309306"/>
                  </a:lnTo>
                  <a:cubicBezTo>
                    <a:pt x="2394208" y="274578"/>
                    <a:pt x="2392939" y="264138"/>
                    <a:pt x="2392939" y="253045"/>
                  </a:cubicBezTo>
                  <a:cubicBezTo>
                    <a:pt x="2392939" y="240211"/>
                    <a:pt x="2396749" y="227161"/>
                    <a:pt x="2390399" y="214327"/>
                  </a:cubicBezTo>
                  <a:cubicBezTo>
                    <a:pt x="2382779" y="205844"/>
                    <a:pt x="2371349" y="38578"/>
                    <a:pt x="2371349" y="30095"/>
                  </a:cubicBezTo>
                  <a:cubicBezTo>
                    <a:pt x="2368808" y="24222"/>
                    <a:pt x="2367539" y="18132"/>
                    <a:pt x="2364999" y="12259"/>
                  </a:cubicBezTo>
                  <a:cubicBezTo>
                    <a:pt x="2364999" y="10519"/>
                    <a:pt x="2363729" y="8779"/>
                    <a:pt x="2362458" y="5644"/>
                  </a:cubicBezTo>
                  <a:cubicBezTo>
                    <a:pt x="2352299" y="3104"/>
                    <a:pt x="2343408" y="1834"/>
                    <a:pt x="2333249" y="564"/>
                  </a:cubicBezTo>
                  <a:cubicBezTo>
                    <a:pt x="2325629" y="-706"/>
                    <a:pt x="2318008" y="564"/>
                    <a:pt x="2311658" y="564"/>
                  </a:cubicBezTo>
                  <a:lnTo>
                    <a:pt x="6733" y="5644"/>
                  </a:lnTo>
                  <a:lnTo>
                    <a:pt x="635" y="339786"/>
                  </a:lnTo>
                  <a:close/>
                </a:path>
              </a:pathLst>
            </a:custGeom>
            <a:solidFill>
              <a:srgbClr val="FFDA68"/>
            </a:solidFill>
          </p:spPr>
        </p:sp>
        <p:sp>
          <p:nvSpPr>
            <p:cNvPr name="Freeform 35" id="35"/>
            <p:cNvSpPr/>
            <p:nvPr/>
          </p:nvSpPr>
          <p:spPr>
            <a:xfrm flipH="false" flipV="false" rot="0">
              <a:off x="11430" y="16510"/>
              <a:ext cx="2374524" cy="360812"/>
            </a:xfrm>
            <a:custGeom>
              <a:avLst/>
              <a:gdLst/>
              <a:ahLst/>
              <a:cxnLst/>
              <a:rect r="r" b="b" t="t" l="l"/>
              <a:pathLst>
                <a:path h="360812" w="2374524">
                  <a:moveTo>
                    <a:pt x="2374524" y="360812"/>
                  </a:moveTo>
                  <a:lnTo>
                    <a:pt x="0" y="353192"/>
                  </a:lnTo>
                  <a:lnTo>
                    <a:pt x="0" y="131825"/>
                  </a:lnTo>
                  <a:lnTo>
                    <a:pt x="7620" y="20320"/>
                  </a:lnTo>
                  <a:lnTo>
                    <a:pt x="1185577" y="0"/>
                  </a:lnTo>
                  <a:lnTo>
                    <a:pt x="2352934" y="8890"/>
                  </a:lnTo>
                  <a:close/>
                </a:path>
              </a:pathLst>
            </a:custGeom>
            <a:solidFill>
              <a:srgbClr val="EFEFEF"/>
            </a:solidFill>
          </p:spPr>
        </p:sp>
        <p:sp>
          <p:nvSpPr>
            <p:cNvPr name="Freeform 36" id="36"/>
            <p:cNvSpPr/>
            <p:nvPr/>
          </p:nvSpPr>
          <p:spPr>
            <a:xfrm flipH="false" flipV="false" rot="0">
              <a:off x="-215" y="0"/>
              <a:ext cx="2398868" cy="386777"/>
            </a:xfrm>
            <a:custGeom>
              <a:avLst/>
              <a:gdLst/>
              <a:ahLst/>
              <a:cxnLst/>
              <a:rect r="r" b="b" t="t" l="l"/>
              <a:pathLst>
                <a:path h="386777" w="2398868">
                  <a:moveTo>
                    <a:pt x="2365849" y="21590"/>
                  </a:moveTo>
                  <a:cubicBezTo>
                    <a:pt x="2367119" y="34290"/>
                    <a:pt x="2367119" y="44450"/>
                    <a:pt x="2368388" y="52412"/>
                  </a:cubicBezTo>
                  <a:cubicBezTo>
                    <a:pt x="2370928" y="58285"/>
                    <a:pt x="2372199" y="64375"/>
                    <a:pt x="2374738" y="70248"/>
                  </a:cubicBezTo>
                  <a:cubicBezTo>
                    <a:pt x="2374738" y="78731"/>
                    <a:pt x="2387438" y="245998"/>
                    <a:pt x="2393788" y="254481"/>
                  </a:cubicBezTo>
                  <a:cubicBezTo>
                    <a:pt x="2400138" y="267314"/>
                    <a:pt x="2396328" y="280365"/>
                    <a:pt x="2396328" y="293198"/>
                  </a:cubicBezTo>
                  <a:cubicBezTo>
                    <a:pt x="2396328" y="304508"/>
                    <a:pt x="2397599" y="314949"/>
                    <a:pt x="2398869" y="326522"/>
                  </a:cubicBezTo>
                  <a:lnTo>
                    <a:pt x="2398869" y="386212"/>
                  </a:lnTo>
                  <a:cubicBezTo>
                    <a:pt x="2376009" y="386212"/>
                    <a:pt x="2355688" y="387482"/>
                    <a:pt x="2335369" y="386212"/>
                  </a:cubicBezTo>
                  <a:cubicBezTo>
                    <a:pt x="2218472" y="381132"/>
                    <a:pt x="2098539" y="387482"/>
                    <a:pt x="1980422" y="382402"/>
                  </a:cubicBezTo>
                  <a:cubicBezTo>
                    <a:pt x="1909553" y="378592"/>
                    <a:pt x="1840500" y="381132"/>
                    <a:pt x="1769631" y="378592"/>
                  </a:cubicBezTo>
                  <a:lnTo>
                    <a:pt x="1671503" y="374782"/>
                  </a:lnTo>
                  <a:cubicBezTo>
                    <a:pt x="1651515" y="374782"/>
                    <a:pt x="1633343" y="376052"/>
                    <a:pt x="1613354" y="376052"/>
                  </a:cubicBezTo>
                  <a:cubicBezTo>
                    <a:pt x="1562473" y="374782"/>
                    <a:pt x="1422551" y="376052"/>
                    <a:pt x="1371670" y="374782"/>
                  </a:cubicBezTo>
                  <a:cubicBezTo>
                    <a:pt x="1335327" y="373512"/>
                    <a:pt x="608459" y="382402"/>
                    <a:pt x="572115" y="381132"/>
                  </a:cubicBezTo>
                  <a:cubicBezTo>
                    <a:pt x="563029" y="381132"/>
                    <a:pt x="552126" y="382402"/>
                    <a:pt x="543041" y="382402"/>
                  </a:cubicBezTo>
                  <a:cubicBezTo>
                    <a:pt x="521235" y="382402"/>
                    <a:pt x="501246" y="383672"/>
                    <a:pt x="479440" y="383672"/>
                  </a:cubicBezTo>
                  <a:cubicBezTo>
                    <a:pt x="424924" y="383672"/>
                    <a:pt x="372226" y="382402"/>
                    <a:pt x="317711" y="381132"/>
                  </a:cubicBezTo>
                  <a:cubicBezTo>
                    <a:pt x="285002" y="379862"/>
                    <a:pt x="252293" y="378592"/>
                    <a:pt x="221401" y="377322"/>
                  </a:cubicBezTo>
                  <a:cubicBezTo>
                    <a:pt x="163252" y="376052"/>
                    <a:pt x="105102" y="374782"/>
                    <a:pt x="45136" y="374782"/>
                  </a:cubicBezTo>
                  <a:cubicBezTo>
                    <a:pt x="34505" y="374782"/>
                    <a:pt x="25615" y="374782"/>
                    <a:pt x="15455" y="373512"/>
                  </a:cubicBezTo>
                  <a:cubicBezTo>
                    <a:pt x="6565" y="372242"/>
                    <a:pt x="1485" y="365892"/>
                    <a:pt x="4025" y="357002"/>
                  </a:cubicBezTo>
                  <a:cubicBezTo>
                    <a:pt x="12915" y="325825"/>
                    <a:pt x="9105" y="320387"/>
                    <a:pt x="7835" y="314731"/>
                  </a:cubicBezTo>
                  <a:cubicBezTo>
                    <a:pt x="6565" y="303203"/>
                    <a:pt x="2755" y="291893"/>
                    <a:pt x="4025" y="280365"/>
                  </a:cubicBezTo>
                  <a:cubicBezTo>
                    <a:pt x="1485" y="266009"/>
                    <a:pt x="-3595" y="88302"/>
                    <a:pt x="4025" y="73728"/>
                  </a:cubicBezTo>
                  <a:cubicBezTo>
                    <a:pt x="5295" y="70901"/>
                    <a:pt x="4025" y="67856"/>
                    <a:pt x="5295" y="65028"/>
                  </a:cubicBezTo>
                  <a:cubicBezTo>
                    <a:pt x="6565" y="60460"/>
                    <a:pt x="9105" y="55457"/>
                    <a:pt x="10375" y="44450"/>
                  </a:cubicBezTo>
                  <a:cubicBezTo>
                    <a:pt x="10375" y="41910"/>
                    <a:pt x="11645" y="39370"/>
                    <a:pt x="12915" y="38100"/>
                  </a:cubicBezTo>
                  <a:cubicBezTo>
                    <a:pt x="34505" y="35560"/>
                    <a:pt x="59673" y="30480"/>
                    <a:pt x="88748" y="29210"/>
                  </a:cubicBezTo>
                  <a:cubicBezTo>
                    <a:pt x="137812" y="25400"/>
                    <a:pt x="186875" y="22860"/>
                    <a:pt x="237756" y="20320"/>
                  </a:cubicBezTo>
                  <a:cubicBezTo>
                    <a:pt x="272282" y="17780"/>
                    <a:pt x="306808" y="16510"/>
                    <a:pt x="339517" y="13970"/>
                  </a:cubicBezTo>
                  <a:cubicBezTo>
                    <a:pt x="372227" y="11430"/>
                    <a:pt x="406753" y="8890"/>
                    <a:pt x="439462" y="8890"/>
                  </a:cubicBezTo>
                  <a:cubicBezTo>
                    <a:pt x="475805" y="7620"/>
                    <a:pt x="512149" y="10160"/>
                    <a:pt x="548492" y="8890"/>
                  </a:cubicBezTo>
                  <a:cubicBezTo>
                    <a:pt x="593921" y="8890"/>
                    <a:pt x="1417100" y="6350"/>
                    <a:pt x="1462529" y="5080"/>
                  </a:cubicBezTo>
                  <a:cubicBezTo>
                    <a:pt x="1506141" y="3810"/>
                    <a:pt x="1549753" y="2540"/>
                    <a:pt x="1595182" y="2540"/>
                  </a:cubicBezTo>
                  <a:cubicBezTo>
                    <a:pt x="1669686" y="1270"/>
                    <a:pt x="1742373" y="0"/>
                    <a:pt x="1816877" y="0"/>
                  </a:cubicBezTo>
                  <a:cubicBezTo>
                    <a:pt x="1847769" y="0"/>
                    <a:pt x="1880478" y="2540"/>
                    <a:pt x="1911370" y="2540"/>
                  </a:cubicBezTo>
                  <a:cubicBezTo>
                    <a:pt x="1996777" y="3810"/>
                    <a:pt x="2084001" y="5080"/>
                    <a:pt x="2169408" y="7620"/>
                  </a:cubicBezTo>
                  <a:cubicBezTo>
                    <a:pt x="2214838" y="8890"/>
                    <a:pt x="2260267" y="12700"/>
                    <a:pt x="2305696" y="16510"/>
                  </a:cubicBezTo>
                  <a:lnTo>
                    <a:pt x="2335369" y="16510"/>
                  </a:lnTo>
                  <a:cubicBezTo>
                    <a:pt x="2346799" y="17780"/>
                    <a:pt x="2355688" y="20320"/>
                    <a:pt x="2365849" y="21590"/>
                  </a:cubicBezTo>
                  <a:close/>
                  <a:moveTo>
                    <a:pt x="2376009" y="369702"/>
                  </a:moveTo>
                  <a:cubicBezTo>
                    <a:pt x="2377278" y="353192"/>
                    <a:pt x="2378549" y="340492"/>
                    <a:pt x="2378549" y="327792"/>
                  </a:cubicBezTo>
                  <a:cubicBezTo>
                    <a:pt x="2377278" y="313861"/>
                    <a:pt x="2376009" y="302333"/>
                    <a:pt x="2376009" y="289935"/>
                  </a:cubicBezTo>
                  <a:cubicBezTo>
                    <a:pt x="2376009" y="284280"/>
                    <a:pt x="2378549" y="278625"/>
                    <a:pt x="2377278" y="272969"/>
                  </a:cubicBezTo>
                  <a:cubicBezTo>
                    <a:pt x="2377278" y="267749"/>
                    <a:pt x="2376009" y="262311"/>
                    <a:pt x="2374738" y="257091"/>
                  </a:cubicBezTo>
                  <a:cubicBezTo>
                    <a:pt x="2369659" y="249043"/>
                    <a:pt x="2358228" y="82429"/>
                    <a:pt x="2358228" y="74381"/>
                  </a:cubicBezTo>
                  <a:cubicBezTo>
                    <a:pt x="2355688" y="67638"/>
                    <a:pt x="2353149" y="60678"/>
                    <a:pt x="2350609" y="53935"/>
                  </a:cubicBezTo>
                  <a:cubicBezTo>
                    <a:pt x="2349338" y="44450"/>
                    <a:pt x="2348069" y="43180"/>
                    <a:pt x="2331136" y="41910"/>
                  </a:cubicBezTo>
                  <a:cubicBezTo>
                    <a:pt x="2325685" y="41910"/>
                    <a:pt x="2322051" y="41910"/>
                    <a:pt x="2316599" y="40640"/>
                  </a:cubicBezTo>
                  <a:cubicBezTo>
                    <a:pt x="2271170" y="36830"/>
                    <a:pt x="2223923" y="31750"/>
                    <a:pt x="2178494" y="30480"/>
                  </a:cubicBezTo>
                  <a:cubicBezTo>
                    <a:pt x="2067647" y="26670"/>
                    <a:pt x="1954982" y="25400"/>
                    <a:pt x="1844135" y="22860"/>
                  </a:cubicBezTo>
                  <a:lnTo>
                    <a:pt x="1713298" y="22860"/>
                  </a:lnTo>
                  <a:cubicBezTo>
                    <a:pt x="1655149" y="22860"/>
                    <a:pt x="1597000" y="22860"/>
                    <a:pt x="1540667" y="24130"/>
                  </a:cubicBezTo>
                  <a:cubicBezTo>
                    <a:pt x="1491604" y="25400"/>
                    <a:pt x="664791" y="29210"/>
                    <a:pt x="615727" y="29210"/>
                  </a:cubicBezTo>
                  <a:cubicBezTo>
                    <a:pt x="535772" y="29210"/>
                    <a:pt x="455816" y="26670"/>
                    <a:pt x="375861" y="33020"/>
                  </a:cubicBezTo>
                  <a:cubicBezTo>
                    <a:pt x="334066" y="36830"/>
                    <a:pt x="294088" y="36830"/>
                    <a:pt x="254110" y="38100"/>
                  </a:cubicBezTo>
                  <a:cubicBezTo>
                    <a:pt x="185058" y="41910"/>
                    <a:pt x="116005" y="45720"/>
                    <a:pt x="46953" y="50800"/>
                  </a:cubicBezTo>
                  <a:cubicBezTo>
                    <a:pt x="33235" y="50800"/>
                    <a:pt x="30695" y="52195"/>
                    <a:pt x="29425" y="54805"/>
                  </a:cubicBezTo>
                  <a:cubicBezTo>
                    <a:pt x="28155" y="58720"/>
                    <a:pt x="28155" y="62635"/>
                    <a:pt x="26885" y="66550"/>
                  </a:cubicBezTo>
                  <a:cubicBezTo>
                    <a:pt x="25615" y="73076"/>
                    <a:pt x="23075" y="79384"/>
                    <a:pt x="21805" y="85909"/>
                  </a:cubicBezTo>
                  <a:cubicBezTo>
                    <a:pt x="16725" y="92869"/>
                    <a:pt x="23075" y="262964"/>
                    <a:pt x="25615" y="269924"/>
                  </a:cubicBezTo>
                  <a:cubicBezTo>
                    <a:pt x="25615" y="277319"/>
                    <a:pt x="25615" y="284932"/>
                    <a:pt x="26885" y="292328"/>
                  </a:cubicBezTo>
                  <a:cubicBezTo>
                    <a:pt x="26885" y="297766"/>
                    <a:pt x="29425" y="303203"/>
                    <a:pt x="29425" y="308641"/>
                  </a:cubicBezTo>
                  <a:cubicBezTo>
                    <a:pt x="29425" y="314514"/>
                    <a:pt x="29425" y="320387"/>
                    <a:pt x="28155" y="327792"/>
                  </a:cubicBezTo>
                  <a:lnTo>
                    <a:pt x="28155" y="337952"/>
                  </a:lnTo>
                  <a:cubicBezTo>
                    <a:pt x="28155" y="348112"/>
                    <a:pt x="31965" y="351922"/>
                    <a:pt x="40855" y="351922"/>
                  </a:cubicBezTo>
                  <a:cubicBezTo>
                    <a:pt x="63308" y="351922"/>
                    <a:pt x="88748" y="353192"/>
                    <a:pt x="112371" y="353192"/>
                  </a:cubicBezTo>
                  <a:cubicBezTo>
                    <a:pt x="146897" y="353192"/>
                    <a:pt x="183241" y="350652"/>
                    <a:pt x="217767" y="353192"/>
                  </a:cubicBezTo>
                  <a:cubicBezTo>
                    <a:pt x="274099" y="357002"/>
                    <a:pt x="330432" y="359542"/>
                    <a:pt x="386764" y="358272"/>
                  </a:cubicBezTo>
                  <a:cubicBezTo>
                    <a:pt x="423107" y="357002"/>
                    <a:pt x="457634" y="359542"/>
                    <a:pt x="493977" y="359542"/>
                  </a:cubicBezTo>
                  <a:cubicBezTo>
                    <a:pt x="546675" y="359542"/>
                    <a:pt x="599373" y="358272"/>
                    <a:pt x="652071" y="359542"/>
                  </a:cubicBezTo>
                  <a:cubicBezTo>
                    <a:pt x="730209" y="360812"/>
                    <a:pt x="1587914" y="350652"/>
                    <a:pt x="1667869" y="353192"/>
                  </a:cubicBezTo>
                  <a:cubicBezTo>
                    <a:pt x="1702395" y="354462"/>
                    <a:pt x="1736922" y="355733"/>
                    <a:pt x="1769631" y="355733"/>
                  </a:cubicBezTo>
                  <a:cubicBezTo>
                    <a:pt x="1829597" y="358272"/>
                    <a:pt x="1887747" y="354462"/>
                    <a:pt x="1947714" y="358272"/>
                  </a:cubicBezTo>
                  <a:cubicBezTo>
                    <a:pt x="1996777" y="360812"/>
                    <a:pt x="2045841" y="360812"/>
                    <a:pt x="2094904" y="363352"/>
                  </a:cubicBezTo>
                  <a:cubicBezTo>
                    <a:pt x="2167591" y="367162"/>
                    <a:pt x="2240278" y="369702"/>
                    <a:pt x="2312965" y="370972"/>
                  </a:cubicBezTo>
                  <a:cubicBezTo>
                    <a:pt x="2337909" y="370972"/>
                    <a:pt x="2355688" y="369702"/>
                    <a:pt x="2376009" y="369702"/>
                  </a:cubicBezTo>
                  <a:close/>
                </a:path>
              </a:pathLst>
            </a:custGeom>
            <a:solidFill>
              <a:srgbClr val="242424"/>
            </a:solidFill>
          </p:spPr>
        </p:sp>
      </p:grpSp>
      <p:grpSp>
        <p:nvGrpSpPr>
          <p:cNvPr name="Group 37" id="37"/>
          <p:cNvGrpSpPr/>
          <p:nvPr/>
        </p:nvGrpSpPr>
        <p:grpSpPr>
          <a:xfrm rot="0">
            <a:off x="1010086" y="4328582"/>
            <a:ext cx="5062382" cy="1230324"/>
            <a:chOff x="0" y="0"/>
            <a:chExt cx="1709328" cy="415422"/>
          </a:xfrm>
        </p:grpSpPr>
        <p:sp>
          <p:nvSpPr>
            <p:cNvPr name="Freeform 38" id="38"/>
            <p:cNvSpPr/>
            <p:nvPr/>
          </p:nvSpPr>
          <p:spPr>
            <a:xfrm flipH="false" flipV="false" rot="0">
              <a:off x="39985" y="45156"/>
              <a:ext cx="1669343" cy="369561"/>
            </a:xfrm>
            <a:custGeom>
              <a:avLst/>
              <a:gdLst/>
              <a:ahLst/>
              <a:cxnLst/>
              <a:rect r="r" b="b" t="t" l="l"/>
              <a:pathLst>
                <a:path h="369561" w="1669343">
                  <a:moveTo>
                    <a:pt x="655" y="339786"/>
                  </a:moveTo>
                  <a:cubicBezTo>
                    <a:pt x="-1885" y="348676"/>
                    <a:pt x="3195" y="355026"/>
                    <a:pt x="11884" y="356296"/>
                  </a:cubicBezTo>
                  <a:cubicBezTo>
                    <a:pt x="21809" y="357566"/>
                    <a:pt x="30494" y="357566"/>
                    <a:pt x="40420" y="357566"/>
                  </a:cubicBezTo>
                  <a:cubicBezTo>
                    <a:pt x="80122" y="358836"/>
                    <a:pt x="119824" y="358836"/>
                    <a:pt x="160767" y="360106"/>
                  </a:cubicBezTo>
                  <a:cubicBezTo>
                    <a:pt x="183099" y="361376"/>
                    <a:pt x="205431" y="362646"/>
                    <a:pt x="226523" y="363916"/>
                  </a:cubicBezTo>
                  <a:cubicBezTo>
                    <a:pt x="263744" y="365186"/>
                    <a:pt x="299724" y="365186"/>
                    <a:pt x="336944" y="366456"/>
                  </a:cubicBezTo>
                  <a:cubicBezTo>
                    <a:pt x="351833" y="366456"/>
                    <a:pt x="365480" y="366456"/>
                    <a:pt x="380368" y="365186"/>
                  </a:cubicBezTo>
                  <a:cubicBezTo>
                    <a:pt x="386572" y="365186"/>
                    <a:pt x="394016" y="363916"/>
                    <a:pt x="400219" y="363916"/>
                  </a:cubicBezTo>
                  <a:cubicBezTo>
                    <a:pt x="425033" y="365186"/>
                    <a:pt x="921308" y="356296"/>
                    <a:pt x="946122" y="357566"/>
                  </a:cubicBezTo>
                  <a:cubicBezTo>
                    <a:pt x="980862" y="358836"/>
                    <a:pt x="1076395" y="358836"/>
                    <a:pt x="1111134" y="358836"/>
                  </a:cubicBezTo>
                  <a:cubicBezTo>
                    <a:pt x="1124781" y="358836"/>
                    <a:pt x="1137188" y="357566"/>
                    <a:pt x="1150836" y="357566"/>
                  </a:cubicBezTo>
                  <a:lnTo>
                    <a:pt x="1217833" y="361376"/>
                  </a:lnTo>
                  <a:cubicBezTo>
                    <a:pt x="1266220" y="363916"/>
                    <a:pt x="1313366" y="361376"/>
                    <a:pt x="1361753" y="365186"/>
                  </a:cubicBezTo>
                  <a:cubicBezTo>
                    <a:pt x="1442398" y="370266"/>
                    <a:pt x="1524283" y="363916"/>
                    <a:pt x="1605843" y="368996"/>
                  </a:cubicBezTo>
                  <a:cubicBezTo>
                    <a:pt x="1626163" y="370266"/>
                    <a:pt x="1646483" y="368996"/>
                    <a:pt x="1669343" y="368996"/>
                  </a:cubicBezTo>
                  <a:lnTo>
                    <a:pt x="1669343" y="309306"/>
                  </a:lnTo>
                  <a:cubicBezTo>
                    <a:pt x="1668073" y="274578"/>
                    <a:pt x="1666803" y="264138"/>
                    <a:pt x="1666803" y="253045"/>
                  </a:cubicBezTo>
                  <a:cubicBezTo>
                    <a:pt x="1666803" y="240211"/>
                    <a:pt x="1670613" y="227161"/>
                    <a:pt x="1664263" y="214327"/>
                  </a:cubicBezTo>
                  <a:cubicBezTo>
                    <a:pt x="1656643" y="205844"/>
                    <a:pt x="1645213" y="38578"/>
                    <a:pt x="1645213" y="30095"/>
                  </a:cubicBezTo>
                  <a:cubicBezTo>
                    <a:pt x="1642673" y="24222"/>
                    <a:pt x="1641403" y="18132"/>
                    <a:pt x="1638863" y="12259"/>
                  </a:cubicBezTo>
                  <a:cubicBezTo>
                    <a:pt x="1638863" y="10519"/>
                    <a:pt x="1637593" y="8779"/>
                    <a:pt x="1636323" y="5644"/>
                  </a:cubicBezTo>
                  <a:cubicBezTo>
                    <a:pt x="1626163" y="3104"/>
                    <a:pt x="1617273" y="1834"/>
                    <a:pt x="1607113" y="564"/>
                  </a:cubicBezTo>
                  <a:cubicBezTo>
                    <a:pt x="1599493" y="-706"/>
                    <a:pt x="1591873" y="564"/>
                    <a:pt x="1585523" y="564"/>
                  </a:cubicBezTo>
                  <a:lnTo>
                    <a:pt x="5680" y="5644"/>
                  </a:lnTo>
                  <a:lnTo>
                    <a:pt x="655" y="339786"/>
                  </a:lnTo>
                  <a:close/>
                </a:path>
              </a:pathLst>
            </a:custGeom>
            <a:solidFill>
              <a:srgbClr val="FFDA68"/>
            </a:solidFill>
          </p:spPr>
        </p:sp>
        <p:sp>
          <p:nvSpPr>
            <p:cNvPr name="Freeform 39" id="39"/>
            <p:cNvSpPr/>
            <p:nvPr/>
          </p:nvSpPr>
          <p:spPr>
            <a:xfrm flipH="false" flipV="false" rot="0">
              <a:off x="11430" y="16510"/>
              <a:ext cx="1648368" cy="360812"/>
            </a:xfrm>
            <a:custGeom>
              <a:avLst/>
              <a:gdLst/>
              <a:ahLst/>
              <a:cxnLst/>
              <a:rect r="r" b="b" t="t" l="l"/>
              <a:pathLst>
                <a:path h="360812" w="1648368">
                  <a:moveTo>
                    <a:pt x="1648368" y="360812"/>
                  </a:moveTo>
                  <a:lnTo>
                    <a:pt x="0" y="353192"/>
                  </a:lnTo>
                  <a:lnTo>
                    <a:pt x="0" y="131825"/>
                  </a:lnTo>
                  <a:lnTo>
                    <a:pt x="7620" y="20320"/>
                  </a:lnTo>
                  <a:lnTo>
                    <a:pt x="819591" y="0"/>
                  </a:lnTo>
                  <a:lnTo>
                    <a:pt x="1626778" y="8890"/>
                  </a:lnTo>
                  <a:close/>
                </a:path>
              </a:pathLst>
            </a:custGeom>
            <a:solidFill>
              <a:srgbClr val="EFEFEF"/>
            </a:solidFill>
          </p:spPr>
        </p:sp>
        <p:sp>
          <p:nvSpPr>
            <p:cNvPr name="Freeform 40" id="40"/>
            <p:cNvSpPr/>
            <p:nvPr/>
          </p:nvSpPr>
          <p:spPr>
            <a:xfrm flipH="false" flipV="false" rot="0">
              <a:off x="-215" y="0"/>
              <a:ext cx="1672713" cy="386777"/>
            </a:xfrm>
            <a:custGeom>
              <a:avLst/>
              <a:gdLst/>
              <a:ahLst/>
              <a:cxnLst/>
              <a:rect r="r" b="b" t="t" l="l"/>
              <a:pathLst>
                <a:path h="386777" w="1672713">
                  <a:moveTo>
                    <a:pt x="1639693" y="21590"/>
                  </a:moveTo>
                  <a:cubicBezTo>
                    <a:pt x="1640963" y="34290"/>
                    <a:pt x="1640963" y="44450"/>
                    <a:pt x="1642233" y="52412"/>
                  </a:cubicBezTo>
                  <a:cubicBezTo>
                    <a:pt x="1644773" y="58285"/>
                    <a:pt x="1646043" y="64375"/>
                    <a:pt x="1648583" y="70248"/>
                  </a:cubicBezTo>
                  <a:cubicBezTo>
                    <a:pt x="1648583" y="78731"/>
                    <a:pt x="1661283" y="245998"/>
                    <a:pt x="1667633" y="254481"/>
                  </a:cubicBezTo>
                  <a:cubicBezTo>
                    <a:pt x="1673983" y="267314"/>
                    <a:pt x="1670173" y="280365"/>
                    <a:pt x="1670173" y="293198"/>
                  </a:cubicBezTo>
                  <a:cubicBezTo>
                    <a:pt x="1670173" y="304508"/>
                    <a:pt x="1671443" y="314949"/>
                    <a:pt x="1672713" y="326522"/>
                  </a:cubicBezTo>
                  <a:lnTo>
                    <a:pt x="1672713" y="386212"/>
                  </a:lnTo>
                  <a:cubicBezTo>
                    <a:pt x="1649853" y="386212"/>
                    <a:pt x="1629533" y="387482"/>
                    <a:pt x="1609213" y="386212"/>
                  </a:cubicBezTo>
                  <a:cubicBezTo>
                    <a:pt x="1528503" y="381132"/>
                    <a:pt x="1446618" y="387482"/>
                    <a:pt x="1365973" y="382402"/>
                  </a:cubicBezTo>
                  <a:cubicBezTo>
                    <a:pt x="1317586" y="378592"/>
                    <a:pt x="1270440" y="381132"/>
                    <a:pt x="1222053" y="378592"/>
                  </a:cubicBezTo>
                  <a:lnTo>
                    <a:pt x="1155056" y="374782"/>
                  </a:lnTo>
                  <a:cubicBezTo>
                    <a:pt x="1141408" y="374782"/>
                    <a:pt x="1129001" y="376052"/>
                    <a:pt x="1115354" y="376052"/>
                  </a:cubicBezTo>
                  <a:cubicBezTo>
                    <a:pt x="1080615" y="374782"/>
                    <a:pt x="985081" y="376052"/>
                    <a:pt x="950342" y="374782"/>
                  </a:cubicBezTo>
                  <a:cubicBezTo>
                    <a:pt x="925528" y="373512"/>
                    <a:pt x="429253" y="382402"/>
                    <a:pt x="404439" y="381132"/>
                  </a:cubicBezTo>
                  <a:cubicBezTo>
                    <a:pt x="398236" y="381132"/>
                    <a:pt x="390792" y="382402"/>
                    <a:pt x="384588" y="382402"/>
                  </a:cubicBezTo>
                  <a:cubicBezTo>
                    <a:pt x="369700" y="382402"/>
                    <a:pt x="356053" y="383672"/>
                    <a:pt x="341164" y="383672"/>
                  </a:cubicBezTo>
                  <a:cubicBezTo>
                    <a:pt x="303944" y="383672"/>
                    <a:pt x="267964" y="382402"/>
                    <a:pt x="230743" y="381132"/>
                  </a:cubicBezTo>
                  <a:cubicBezTo>
                    <a:pt x="208411" y="379862"/>
                    <a:pt x="186078" y="378592"/>
                    <a:pt x="164987" y="377322"/>
                  </a:cubicBezTo>
                  <a:cubicBezTo>
                    <a:pt x="125285" y="376052"/>
                    <a:pt x="85582" y="374782"/>
                    <a:pt x="44640" y="374782"/>
                  </a:cubicBezTo>
                  <a:cubicBezTo>
                    <a:pt x="34505" y="374782"/>
                    <a:pt x="25615" y="374782"/>
                    <a:pt x="15455" y="373512"/>
                  </a:cubicBezTo>
                  <a:cubicBezTo>
                    <a:pt x="6565" y="372242"/>
                    <a:pt x="1485" y="365892"/>
                    <a:pt x="4025" y="357002"/>
                  </a:cubicBezTo>
                  <a:cubicBezTo>
                    <a:pt x="12915" y="325825"/>
                    <a:pt x="9105" y="320387"/>
                    <a:pt x="7835" y="314731"/>
                  </a:cubicBezTo>
                  <a:cubicBezTo>
                    <a:pt x="6565" y="303203"/>
                    <a:pt x="2755" y="291893"/>
                    <a:pt x="4025" y="280365"/>
                  </a:cubicBezTo>
                  <a:cubicBezTo>
                    <a:pt x="1485" y="266009"/>
                    <a:pt x="-3595" y="88302"/>
                    <a:pt x="4025" y="73728"/>
                  </a:cubicBezTo>
                  <a:cubicBezTo>
                    <a:pt x="5295" y="70901"/>
                    <a:pt x="4025" y="67856"/>
                    <a:pt x="5295" y="65028"/>
                  </a:cubicBezTo>
                  <a:cubicBezTo>
                    <a:pt x="6565" y="60460"/>
                    <a:pt x="9105" y="55457"/>
                    <a:pt x="10375" y="44450"/>
                  </a:cubicBezTo>
                  <a:cubicBezTo>
                    <a:pt x="10375" y="41910"/>
                    <a:pt x="11645" y="39370"/>
                    <a:pt x="12915" y="38100"/>
                  </a:cubicBezTo>
                  <a:cubicBezTo>
                    <a:pt x="34505" y="35560"/>
                    <a:pt x="54565" y="30480"/>
                    <a:pt x="74416" y="29210"/>
                  </a:cubicBezTo>
                  <a:cubicBezTo>
                    <a:pt x="107915" y="25400"/>
                    <a:pt x="141413" y="22860"/>
                    <a:pt x="176153" y="20320"/>
                  </a:cubicBezTo>
                  <a:cubicBezTo>
                    <a:pt x="199726" y="17780"/>
                    <a:pt x="223299" y="16510"/>
                    <a:pt x="245631" y="13970"/>
                  </a:cubicBezTo>
                  <a:cubicBezTo>
                    <a:pt x="267964" y="11430"/>
                    <a:pt x="291537" y="8890"/>
                    <a:pt x="313869" y="8890"/>
                  </a:cubicBezTo>
                  <a:cubicBezTo>
                    <a:pt x="338683" y="7620"/>
                    <a:pt x="363497" y="10160"/>
                    <a:pt x="388310" y="8890"/>
                  </a:cubicBezTo>
                  <a:cubicBezTo>
                    <a:pt x="419328" y="8890"/>
                    <a:pt x="981359" y="6350"/>
                    <a:pt x="1012377" y="5080"/>
                  </a:cubicBezTo>
                  <a:cubicBezTo>
                    <a:pt x="1042153" y="3810"/>
                    <a:pt x="1071930" y="2540"/>
                    <a:pt x="1102947" y="2540"/>
                  </a:cubicBezTo>
                  <a:cubicBezTo>
                    <a:pt x="1153815" y="1270"/>
                    <a:pt x="1203443" y="0"/>
                    <a:pt x="1254311" y="0"/>
                  </a:cubicBezTo>
                  <a:cubicBezTo>
                    <a:pt x="1275403" y="0"/>
                    <a:pt x="1297735" y="2540"/>
                    <a:pt x="1318827" y="2540"/>
                  </a:cubicBezTo>
                  <a:cubicBezTo>
                    <a:pt x="1377139" y="3810"/>
                    <a:pt x="1436692" y="5080"/>
                    <a:pt x="1495004" y="7620"/>
                  </a:cubicBezTo>
                  <a:cubicBezTo>
                    <a:pt x="1526022" y="8890"/>
                    <a:pt x="1557039" y="12700"/>
                    <a:pt x="1588056" y="16510"/>
                  </a:cubicBezTo>
                  <a:lnTo>
                    <a:pt x="1609213" y="16510"/>
                  </a:lnTo>
                  <a:cubicBezTo>
                    <a:pt x="1620643" y="17780"/>
                    <a:pt x="1629533" y="20320"/>
                    <a:pt x="1639693" y="21590"/>
                  </a:cubicBezTo>
                  <a:close/>
                  <a:moveTo>
                    <a:pt x="1649853" y="369702"/>
                  </a:moveTo>
                  <a:cubicBezTo>
                    <a:pt x="1651123" y="353192"/>
                    <a:pt x="1652393" y="340492"/>
                    <a:pt x="1652393" y="327792"/>
                  </a:cubicBezTo>
                  <a:cubicBezTo>
                    <a:pt x="1651123" y="313861"/>
                    <a:pt x="1649853" y="302333"/>
                    <a:pt x="1649853" y="289935"/>
                  </a:cubicBezTo>
                  <a:cubicBezTo>
                    <a:pt x="1649853" y="284280"/>
                    <a:pt x="1652393" y="278625"/>
                    <a:pt x="1651123" y="272969"/>
                  </a:cubicBezTo>
                  <a:cubicBezTo>
                    <a:pt x="1651123" y="267749"/>
                    <a:pt x="1649853" y="262311"/>
                    <a:pt x="1648583" y="257091"/>
                  </a:cubicBezTo>
                  <a:cubicBezTo>
                    <a:pt x="1643503" y="249043"/>
                    <a:pt x="1632073" y="82429"/>
                    <a:pt x="1632073" y="74381"/>
                  </a:cubicBezTo>
                  <a:cubicBezTo>
                    <a:pt x="1629533" y="67638"/>
                    <a:pt x="1626993" y="60678"/>
                    <a:pt x="1624453" y="53935"/>
                  </a:cubicBezTo>
                  <a:cubicBezTo>
                    <a:pt x="1623183" y="44450"/>
                    <a:pt x="1621913" y="43180"/>
                    <a:pt x="1605426" y="41910"/>
                  </a:cubicBezTo>
                  <a:cubicBezTo>
                    <a:pt x="1601704" y="41910"/>
                    <a:pt x="1599222" y="41910"/>
                    <a:pt x="1595500" y="40640"/>
                  </a:cubicBezTo>
                  <a:cubicBezTo>
                    <a:pt x="1564483" y="36830"/>
                    <a:pt x="1532225" y="31750"/>
                    <a:pt x="1501208" y="30480"/>
                  </a:cubicBezTo>
                  <a:cubicBezTo>
                    <a:pt x="1425526" y="26670"/>
                    <a:pt x="1348603" y="25400"/>
                    <a:pt x="1272921" y="22860"/>
                  </a:cubicBezTo>
                  <a:lnTo>
                    <a:pt x="1183592" y="22860"/>
                  </a:lnTo>
                  <a:cubicBezTo>
                    <a:pt x="1143890" y="22860"/>
                    <a:pt x="1104188" y="22860"/>
                    <a:pt x="1065726" y="24130"/>
                  </a:cubicBezTo>
                  <a:cubicBezTo>
                    <a:pt x="1032228" y="25400"/>
                    <a:pt x="467714" y="29210"/>
                    <a:pt x="434216" y="29210"/>
                  </a:cubicBezTo>
                  <a:cubicBezTo>
                    <a:pt x="379626" y="29210"/>
                    <a:pt x="325035" y="26670"/>
                    <a:pt x="270445" y="33020"/>
                  </a:cubicBezTo>
                  <a:cubicBezTo>
                    <a:pt x="241909" y="36830"/>
                    <a:pt x="214614" y="36830"/>
                    <a:pt x="187319" y="38100"/>
                  </a:cubicBezTo>
                  <a:cubicBezTo>
                    <a:pt x="140173" y="41910"/>
                    <a:pt x="93027" y="45720"/>
                    <a:pt x="45880" y="50800"/>
                  </a:cubicBezTo>
                  <a:cubicBezTo>
                    <a:pt x="33235" y="50800"/>
                    <a:pt x="30695" y="52195"/>
                    <a:pt x="29425" y="54805"/>
                  </a:cubicBezTo>
                  <a:cubicBezTo>
                    <a:pt x="28155" y="58720"/>
                    <a:pt x="28155" y="62635"/>
                    <a:pt x="26885" y="66550"/>
                  </a:cubicBezTo>
                  <a:cubicBezTo>
                    <a:pt x="25615" y="73076"/>
                    <a:pt x="23075" y="79384"/>
                    <a:pt x="21805" y="85909"/>
                  </a:cubicBezTo>
                  <a:cubicBezTo>
                    <a:pt x="16725" y="92869"/>
                    <a:pt x="23075" y="262964"/>
                    <a:pt x="25615" y="269924"/>
                  </a:cubicBezTo>
                  <a:cubicBezTo>
                    <a:pt x="25615" y="277319"/>
                    <a:pt x="25615" y="284932"/>
                    <a:pt x="26885" y="292328"/>
                  </a:cubicBezTo>
                  <a:cubicBezTo>
                    <a:pt x="26885" y="297766"/>
                    <a:pt x="29425" y="303203"/>
                    <a:pt x="29425" y="308641"/>
                  </a:cubicBezTo>
                  <a:cubicBezTo>
                    <a:pt x="29425" y="314514"/>
                    <a:pt x="29425" y="320387"/>
                    <a:pt x="28155" y="327792"/>
                  </a:cubicBezTo>
                  <a:lnTo>
                    <a:pt x="28155" y="337952"/>
                  </a:lnTo>
                  <a:cubicBezTo>
                    <a:pt x="28155" y="348112"/>
                    <a:pt x="31965" y="351922"/>
                    <a:pt x="40855" y="351922"/>
                  </a:cubicBezTo>
                  <a:cubicBezTo>
                    <a:pt x="57047" y="351922"/>
                    <a:pt x="74416" y="353192"/>
                    <a:pt x="90545" y="353192"/>
                  </a:cubicBezTo>
                  <a:cubicBezTo>
                    <a:pt x="114118" y="353192"/>
                    <a:pt x="138932" y="350652"/>
                    <a:pt x="162505" y="353192"/>
                  </a:cubicBezTo>
                  <a:cubicBezTo>
                    <a:pt x="200967" y="357002"/>
                    <a:pt x="239428" y="359542"/>
                    <a:pt x="277889" y="358272"/>
                  </a:cubicBezTo>
                  <a:cubicBezTo>
                    <a:pt x="302703" y="357002"/>
                    <a:pt x="326276" y="359542"/>
                    <a:pt x="351090" y="359542"/>
                  </a:cubicBezTo>
                  <a:cubicBezTo>
                    <a:pt x="387070" y="359542"/>
                    <a:pt x="423050" y="358272"/>
                    <a:pt x="459030" y="359542"/>
                  </a:cubicBezTo>
                  <a:cubicBezTo>
                    <a:pt x="512379" y="360812"/>
                    <a:pt x="1097984" y="350652"/>
                    <a:pt x="1152575" y="353192"/>
                  </a:cubicBezTo>
                  <a:cubicBezTo>
                    <a:pt x="1176148" y="354462"/>
                    <a:pt x="1199721" y="355733"/>
                    <a:pt x="1222053" y="355733"/>
                  </a:cubicBezTo>
                  <a:cubicBezTo>
                    <a:pt x="1262996" y="358272"/>
                    <a:pt x="1302698" y="354462"/>
                    <a:pt x="1343641" y="358272"/>
                  </a:cubicBezTo>
                  <a:cubicBezTo>
                    <a:pt x="1377139" y="360812"/>
                    <a:pt x="1410638" y="360812"/>
                    <a:pt x="1444136" y="363352"/>
                  </a:cubicBezTo>
                  <a:cubicBezTo>
                    <a:pt x="1493764" y="367162"/>
                    <a:pt x="1543391" y="369702"/>
                    <a:pt x="1593019" y="370972"/>
                  </a:cubicBezTo>
                  <a:cubicBezTo>
                    <a:pt x="1611753" y="370972"/>
                    <a:pt x="1629533" y="369702"/>
                    <a:pt x="1649853" y="369702"/>
                  </a:cubicBezTo>
                  <a:close/>
                </a:path>
              </a:pathLst>
            </a:custGeom>
            <a:solidFill>
              <a:srgbClr val="242424"/>
            </a:solidFill>
          </p:spPr>
        </p:sp>
      </p:grpSp>
      <p:grpSp>
        <p:nvGrpSpPr>
          <p:cNvPr name="Group 41" id="41"/>
          <p:cNvGrpSpPr/>
          <p:nvPr/>
        </p:nvGrpSpPr>
        <p:grpSpPr>
          <a:xfrm rot="0">
            <a:off x="12536742" y="4432948"/>
            <a:ext cx="5350397" cy="1226043"/>
            <a:chOff x="0" y="0"/>
            <a:chExt cx="1812885" cy="415422"/>
          </a:xfrm>
        </p:grpSpPr>
        <p:sp>
          <p:nvSpPr>
            <p:cNvPr name="Freeform 42" id="42"/>
            <p:cNvSpPr/>
            <p:nvPr/>
          </p:nvSpPr>
          <p:spPr>
            <a:xfrm flipH="false" flipV="false" rot="0">
              <a:off x="39988" y="45156"/>
              <a:ext cx="1772897" cy="369561"/>
            </a:xfrm>
            <a:custGeom>
              <a:avLst/>
              <a:gdLst/>
              <a:ahLst/>
              <a:cxnLst/>
              <a:rect r="r" b="b" t="t" l="l"/>
              <a:pathLst>
                <a:path h="369561" w="1772897">
                  <a:moveTo>
                    <a:pt x="652" y="339786"/>
                  </a:moveTo>
                  <a:cubicBezTo>
                    <a:pt x="-1888" y="348676"/>
                    <a:pt x="3192" y="355026"/>
                    <a:pt x="12445" y="356296"/>
                  </a:cubicBezTo>
                  <a:cubicBezTo>
                    <a:pt x="23028" y="357566"/>
                    <a:pt x="32288" y="357566"/>
                    <a:pt x="42872" y="357566"/>
                  </a:cubicBezTo>
                  <a:cubicBezTo>
                    <a:pt x="85204" y="358836"/>
                    <a:pt x="127537" y="358836"/>
                    <a:pt x="171193" y="360106"/>
                  </a:cubicBezTo>
                  <a:cubicBezTo>
                    <a:pt x="195005" y="361376"/>
                    <a:pt x="218817" y="362646"/>
                    <a:pt x="241307" y="363916"/>
                  </a:cubicBezTo>
                  <a:cubicBezTo>
                    <a:pt x="280994" y="365186"/>
                    <a:pt x="319358" y="365186"/>
                    <a:pt x="359045" y="366456"/>
                  </a:cubicBezTo>
                  <a:cubicBezTo>
                    <a:pt x="374920" y="366456"/>
                    <a:pt x="389472" y="366456"/>
                    <a:pt x="405346" y="365186"/>
                  </a:cubicBezTo>
                  <a:cubicBezTo>
                    <a:pt x="411961" y="365186"/>
                    <a:pt x="419898" y="363916"/>
                    <a:pt x="426513" y="363916"/>
                  </a:cubicBezTo>
                  <a:cubicBezTo>
                    <a:pt x="452971" y="365186"/>
                    <a:pt x="982131" y="356296"/>
                    <a:pt x="1008589" y="357566"/>
                  </a:cubicBezTo>
                  <a:cubicBezTo>
                    <a:pt x="1045630" y="358836"/>
                    <a:pt x="1147493" y="358836"/>
                    <a:pt x="1184535" y="358836"/>
                  </a:cubicBezTo>
                  <a:cubicBezTo>
                    <a:pt x="1199087" y="358836"/>
                    <a:pt x="1212316" y="357566"/>
                    <a:pt x="1226868" y="357566"/>
                  </a:cubicBezTo>
                  <a:lnTo>
                    <a:pt x="1298304" y="361376"/>
                  </a:lnTo>
                  <a:cubicBezTo>
                    <a:pt x="1349897" y="363916"/>
                    <a:pt x="1400168" y="361376"/>
                    <a:pt x="1451761" y="365186"/>
                  </a:cubicBezTo>
                  <a:cubicBezTo>
                    <a:pt x="1537749" y="370266"/>
                    <a:pt x="1625061" y="363916"/>
                    <a:pt x="1709397" y="368996"/>
                  </a:cubicBezTo>
                  <a:cubicBezTo>
                    <a:pt x="1729717" y="370266"/>
                    <a:pt x="1750037" y="368996"/>
                    <a:pt x="1772897" y="368996"/>
                  </a:cubicBezTo>
                  <a:lnTo>
                    <a:pt x="1772897" y="309306"/>
                  </a:lnTo>
                  <a:cubicBezTo>
                    <a:pt x="1771627" y="274578"/>
                    <a:pt x="1770357" y="264138"/>
                    <a:pt x="1770357" y="253045"/>
                  </a:cubicBezTo>
                  <a:cubicBezTo>
                    <a:pt x="1770357" y="240211"/>
                    <a:pt x="1774167" y="227161"/>
                    <a:pt x="1767817" y="214327"/>
                  </a:cubicBezTo>
                  <a:cubicBezTo>
                    <a:pt x="1760197" y="205844"/>
                    <a:pt x="1748767" y="38578"/>
                    <a:pt x="1748767" y="30095"/>
                  </a:cubicBezTo>
                  <a:cubicBezTo>
                    <a:pt x="1746227" y="24222"/>
                    <a:pt x="1744957" y="18132"/>
                    <a:pt x="1742417" y="12259"/>
                  </a:cubicBezTo>
                  <a:cubicBezTo>
                    <a:pt x="1742417" y="10519"/>
                    <a:pt x="1741147" y="8779"/>
                    <a:pt x="1739877" y="5644"/>
                  </a:cubicBezTo>
                  <a:cubicBezTo>
                    <a:pt x="1729717" y="3104"/>
                    <a:pt x="1720827" y="1834"/>
                    <a:pt x="1710667" y="564"/>
                  </a:cubicBezTo>
                  <a:cubicBezTo>
                    <a:pt x="1703047" y="-706"/>
                    <a:pt x="1695427" y="564"/>
                    <a:pt x="1689077" y="564"/>
                  </a:cubicBezTo>
                  <a:lnTo>
                    <a:pt x="5830" y="5644"/>
                  </a:lnTo>
                  <a:lnTo>
                    <a:pt x="652" y="339786"/>
                  </a:lnTo>
                  <a:close/>
                </a:path>
              </a:pathLst>
            </a:custGeom>
            <a:solidFill>
              <a:srgbClr val="FFDA68"/>
            </a:solidFill>
          </p:spPr>
        </p:sp>
        <p:sp>
          <p:nvSpPr>
            <p:cNvPr name="Freeform 43" id="43"/>
            <p:cNvSpPr/>
            <p:nvPr/>
          </p:nvSpPr>
          <p:spPr>
            <a:xfrm flipH="false" flipV="false" rot="0">
              <a:off x="11430" y="16510"/>
              <a:ext cx="1751925" cy="360812"/>
            </a:xfrm>
            <a:custGeom>
              <a:avLst/>
              <a:gdLst/>
              <a:ahLst/>
              <a:cxnLst/>
              <a:rect r="r" b="b" t="t" l="l"/>
              <a:pathLst>
                <a:path h="360812" w="1751925">
                  <a:moveTo>
                    <a:pt x="1751925" y="360812"/>
                  </a:moveTo>
                  <a:lnTo>
                    <a:pt x="0" y="353192"/>
                  </a:lnTo>
                  <a:lnTo>
                    <a:pt x="0" y="131825"/>
                  </a:lnTo>
                  <a:lnTo>
                    <a:pt x="7620" y="20320"/>
                  </a:lnTo>
                  <a:lnTo>
                    <a:pt x="871784" y="0"/>
                  </a:lnTo>
                  <a:lnTo>
                    <a:pt x="1730335" y="8890"/>
                  </a:lnTo>
                  <a:close/>
                </a:path>
              </a:pathLst>
            </a:custGeom>
            <a:solidFill>
              <a:srgbClr val="EFEFEF"/>
            </a:solidFill>
          </p:spPr>
        </p:sp>
        <p:sp>
          <p:nvSpPr>
            <p:cNvPr name="Freeform 44" id="44"/>
            <p:cNvSpPr/>
            <p:nvPr/>
          </p:nvSpPr>
          <p:spPr>
            <a:xfrm flipH="false" flipV="false" rot="0">
              <a:off x="-215" y="0"/>
              <a:ext cx="1776270" cy="386777"/>
            </a:xfrm>
            <a:custGeom>
              <a:avLst/>
              <a:gdLst/>
              <a:ahLst/>
              <a:cxnLst/>
              <a:rect r="r" b="b" t="t" l="l"/>
              <a:pathLst>
                <a:path h="386777" w="1776270">
                  <a:moveTo>
                    <a:pt x="1743250" y="21590"/>
                  </a:moveTo>
                  <a:cubicBezTo>
                    <a:pt x="1744520" y="34290"/>
                    <a:pt x="1744520" y="44450"/>
                    <a:pt x="1745790" y="52412"/>
                  </a:cubicBezTo>
                  <a:cubicBezTo>
                    <a:pt x="1748330" y="58285"/>
                    <a:pt x="1749600" y="64375"/>
                    <a:pt x="1752140" y="70248"/>
                  </a:cubicBezTo>
                  <a:cubicBezTo>
                    <a:pt x="1752140" y="78731"/>
                    <a:pt x="1764840" y="245998"/>
                    <a:pt x="1771190" y="254481"/>
                  </a:cubicBezTo>
                  <a:cubicBezTo>
                    <a:pt x="1777540" y="267314"/>
                    <a:pt x="1773730" y="280365"/>
                    <a:pt x="1773730" y="293198"/>
                  </a:cubicBezTo>
                  <a:cubicBezTo>
                    <a:pt x="1773730" y="304508"/>
                    <a:pt x="1775000" y="314949"/>
                    <a:pt x="1776270" y="326522"/>
                  </a:cubicBezTo>
                  <a:lnTo>
                    <a:pt x="1776270" y="386212"/>
                  </a:lnTo>
                  <a:cubicBezTo>
                    <a:pt x="1753410" y="386212"/>
                    <a:pt x="1733090" y="387482"/>
                    <a:pt x="1712770" y="386212"/>
                  </a:cubicBezTo>
                  <a:cubicBezTo>
                    <a:pt x="1626899" y="381132"/>
                    <a:pt x="1539588" y="387482"/>
                    <a:pt x="1453599" y="382402"/>
                  </a:cubicBezTo>
                  <a:cubicBezTo>
                    <a:pt x="1402006" y="378592"/>
                    <a:pt x="1351736" y="381132"/>
                    <a:pt x="1300143" y="378592"/>
                  </a:cubicBezTo>
                  <a:lnTo>
                    <a:pt x="1228706" y="374782"/>
                  </a:lnTo>
                  <a:cubicBezTo>
                    <a:pt x="1214154" y="374782"/>
                    <a:pt x="1200926" y="376052"/>
                    <a:pt x="1186374" y="376052"/>
                  </a:cubicBezTo>
                  <a:cubicBezTo>
                    <a:pt x="1149332" y="374782"/>
                    <a:pt x="1047469" y="376052"/>
                    <a:pt x="1010428" y="374782"/>
                  </a:cubicBezTo>
                  <a:cubicBezTo>
                    <a:pt x="983970" y="373512"/>
                    <a:pt x="454810" y="382402"/>
                    <a:pt x="428352" y="381132"/>
                  </a:cubicBezTo>
                  <a:cubicBezTo>
                    <a:pt x="421737" y="381132"/>
                    <a:pt x="413800" y="382402"/>
                    <a:pt x="407185" y="382402"/>
                  </a:cubicBezTo>
                  <a:cubicBezTo>
                    <a:pt x="391310" y="382402"/>
                    <a:pt x="376759" y="383672"/>
                    <a:pt x="360884" y="383672"/>
                  </a:cubicBezTo>
                  <a:cubicBezTo>
                    <a:pt x="321197" y="383672"/>
                    <a:pt x="282833" y="382402"/>
                    <a:pt x="243146" y="381132"/>
                  </a:cubicBezTo>
                  <a:cubicBezTo>
                    <a:pt x="219333" y="379862"/>
                    <a:pt x="195521" y="378592"/>
                    <a:pt x="173032" y="377322"/>
                  </a:cubicBezTo>
                  <a:cubicBezTo>
                    <a:pt x="130699" y="376052"/>
                    <a:pt x="88366" y="374782"/>
                    <a:pt x="44711" y="374782"/>
                  </a:cubicBezTo>
                  <a:cubicBezTo>
                    <a:pt x="34505" y="374782"/>
                    <a:pt x="25615" y="374782"/>
                    <a:pt x="15455" y="373512"/>
                  </a:cubicBezTo>
                  <a:cubicBezTo>
                    <a:pt x="6565" y="372242"/>
                    <a:pt x="1485" y="365892"/>
                    <a:pt x="4025" y="357002"/>
                  </a:cubicBezTo>
                  <a:cubicBezTo>
                    <a:pt x="12915" y="325825"/>
                    <a:pt x="9105" y="320387"/>
                    <a:pt x="7835" y="314731"/>
                  </a:cubicBezTo>
                  <a:cubicBezTo>
                    <a:pt x="6565" y="303203"/>
                    <a:pt x="2755" y="291893"/>
                    <a:pt x="4025" y="280365"/>
                  </a:cubicBezTo>
                  <a:cubicBezTo>
                    <a:pt x="1485" y="266009"/>
                    <a:pt x="-3595" y="88302"/>
                    <a:pt x="4025" y="73728"/>
                  </a:cubicBezTo>
                  <a:cubicBezTo>
                    <a:pt x="5295" y="70901"/>
                    <a:pt x="4025" y="67856"/>
                    <a:pt x="5295" y="65028"/>
                  </a:cubicBezTo>
                  <a:cubicBezTo>
                    <a:pt x="6565" y="60460"/>
                    <a:pt x="9105" y="55457"/>
                    <a:pt x="10375" y="44450"/>
                  </a:cubicBezTo>
                  <a:cubicBezTo>
                    <a:pt x="10375" y="41910"/>
                    <a:pt x="11645" y="39370"/>
                    <a:pt x="12915" y="38100"/>
                  </a:cubicBezTo>
                  <a:cubicBezTo>
                    <a:pt x="34505" y="35560"/>
                    <a:pt x="55294" y="30480"/>
                    <a:pt x="76460" y="29210"/>
                  </a:cubicBezTo>
                  <a:cubicBezTo>
                    <a:pt x="112178" y="25400"/>
                    <a:pt x="147897" y="22860"/>
                    <a:pt x="184938" y="20320"/>
                  </a:cubicBezTo>
                  <a:cubicBezTo>
                    <a:pt x="210073" y="17780"/>
                    <a:pt x="235208" y="16510"/>
                    <a:pt x="259020" y="13970"/>
                  </a:cubicBezTo>
                  <a:cubicBezTo>
                    <a:pt x="282833" y="11430"/>
                    <a:pt x="307968" y="8890"/>
                    <a:pt x="331780" y="8890"/>
                  </a:cubicBezTo>
                  <a:cubicBezTo>
                    <a:pt x="358238" y="7620"/>
                    <a:pt x="384696" y="10160"/>
                    <a:pt x="411154" y="8890"/>
                  </a:cubicBezTo>
                  <a:cubicBezTo>
                    <a:pt x="444226" y="8890"/>
                    <a:pt x="1043500" y="6350"/>
                    <a:pt x="1076573" y="5080"/>
                  </a:cubicBezTo>
                  <a:cubicBezTo>
                    <a:pt x="1108322" y="3810"/>
                    <a:pt x="1140072" y="2540"/>
                    <a:pt x="1173145" y="2540"/>
                  </a:cubicBezTo>
                  <a:cubicBezTo>
                    <a:pt x="1227384" y="1270"/>
                    <a:pt x="1280300" y="0"/>
                    <a:pt x="1334538" y="0"/>
                  </a:cubicBezTo>
                  <a:cubicBezTo>
                    <a:pt x="1357028" y="0"/>
                    <a:pt x="1380840" y="2540"/>
                    <a:pt x="1403329" y="2540"/>
                  </a:cubicBezTo>
                  <a:cubicBezTo>
                    <a:pt x="1465506" y="3810"/>
                    <a:pt x="1529005" y="5080"/>
                    <a:pt x="1591181" y="7620"/>
                  </a:cubicBezTo>
                  <a:cubicBezTo>
                    <a:pt x="1624254" y="8890"/>
                    <a:pt x="1657326" y="12700"/>
                    <a:pt x="1690399" y="16510"/>
                  </a:cubicBezTo>
                  <a:lnTo>
                    <a:pt x="1712770" y="16510"/>
                  </a:lnTo>
                  <a:cubicBezTo>
                    <a:pt x="1724200" y="17780"/>
                    <a:pt x="1733090" y="20320"/>
                    <a:pt x="1743250" y="21590"/>
                  </a:cubicBezTo>
                  <a:close/>
                  <a:moveTo>
                    <a:pt x="1753410" y="369702"/>
                  </a:moveTo>
                  <a:cubicBezTo>
                    <a:pt x="1754680" y="353192"/>
                    <a:pt x="1755950" y="340492"/>
                    <a:pt x="1755950" y="327792"/>
                  </a:cubicBezTo>
                  <a:cubicBezTo>
                    <a:pt x="1754680" y="313861"/>
                    <a:pt x="1753410" y="302333"/>
                    <a:pt x="1753410" y="289935"/>
                  </a:cubicBezTo>
                  <a:cubicBezTo>
                    <a:pt x="1753410" y="284280"/>
                    <a:pt x="1755950" y="278625"/>
                    <a:pt x="1754680" y="272969"/>
                  </a:cubicBezTo>
                  <a:cubicBezTo>
                    <a:pt x="1754680" y="267749"/>
                    <a:pt x="1753410" y="262311"/>
                    <a:pt x="1752140" y="257091"/>
                  </a:cubicBezTo>
                  <a:cubicBezTo>
                    <a:pt x="1747060" y="249043"/>
                    <a:pt x="1735630" y="82429"/>
                    <a:pt x="1735630" y="74381"/>
                  </a:cubicBezTo>
                  <a:cubicBezTo>
                    <a:pt x="1733090" y="67638"/>
                    <a:pt x="1730550" y="60678"/>
                    <a:pt x="1728010" y="53935"/>
                  </a:cubicBezTo>
                  <a:cubicBezTo>
                    <a:pt x="1726740" y="44450"/>
                    <a:pt x="1725470" y="43180"/>
                    <a:pt x="1708919" y="41910"/>
                  </a:cubicBezTo>
                  <a:cubicBezTo>
                    <a:pt x="1704950" y="41910"/>
                    <a:pt x="1702305" y="41910"/>
                    <a:pt x="1698336" y="40640"/>
                  </a:cubicBezTo>
                  <a:cubicBezTo>
                    <a:pt x="1665264" y="36830"/>
                    <a:pt x="1630868" y="31750"/>
                    <a:pt x="1597796" y="30480"/>
                  </a:cubicBezTo>
                  <a:cubicBezTo>
                    <a:pt x="1517099" y="26670"/>
                    <a:pt x="1435079" y="25400"/>
                    <a:pt x="1354382" y="22860"/>
                  </a:cubicBezTo>
                  <a:lnTo>
                    <a:pt x="1259133" y="22860"/>
                  </a:lnTo>
                  <a:cubicBezTo>
                    <a:pt x="1216800" y="22860"/>
                    <a:pt x="1174467" y="22860"/>
                    <a:pt x="1133458" y="24130"/>
                  </a:cubicBezTo>
                  <a:cubicBezTo>
                    <a:pt x="1097739" y="25400"/>
                    <a:pt x="495820" y="29210"/>
                    <a:pt x="460101" y="29210"/>
                  </a:cubicBezTo>
                  <a:cubicBezTo>
                    <a:pt x="401894" y="29210"/>
                    <a:pt x="343686" y="26670"/>
                    <a:pt x="285478" y="33020"/>
                  </a:cubicBezTo>
                  <a:cubicBezTo>
                    <a:pt x="255052" y="36830"/>
                    <a:pt x="225948" y="36830"/>
                    <a:pt x="196844" y="38100"/>
                  </a:cubicBezTo>
                  <a:cubicBezTo>
                    <a:pt x="146574" y="41910"/>
                    <a:pt x="96304" y="45720"/>
                    <a:pt x="46033" y="50800"/>
                  </a:cubicBezTo>
                  <a:cubicBezTo>
                    <a:pt x="33235" y="50800"/>
                    <a:pt x="30695" y="52195"/>
                    <a:pt x="29425" y="54805"/>
                  </a:cubicBezTo>
                  <a:cubicBezTo>
                    <a:pt x="28155" y="58720"/>
                    <a:pt x="28155" y="62635"/>
                    <a:pt x="26885" y="66550"/>
                  </a:cubicBezTo>
                  <a:cubicBezTo>
                    <a:pt x="25615" y="73076"/>
                    <a:pt x="23075" y="79384"/>
                    <a:pt x="21805" y="85909"/>
                  </a:cubicBezTo>
                  <a:cubicBezTo>
                    <a:pt x="16725" y="92869"/>
                    <a:pt x="23075" y="262964"/>
                    <a:pt x="25615" y="269924"/>
                  </a:cubicBezTo>
                  <a:cubicBezTo>
                    <a:pt x="25615" y="277319"/>
                    <a:pt x="25615" y="284932"/>
                    <a:pt x="26885" y="292328"/>
                  </a:cubicBezTo>
                  <a:cubicBezTo>
                    <a:pt x="26885" y="297766"/>
                    <a:pt x="29425" y="303203"/>
                    <a:pt x="29425" y="308641"/>
                  </a:cubicBezTo>
                  <a:cubicBezTo>
                    <a:pt x="29425" y="314514"/>
                    <a:pt x="29425" y="320387"/>
                    <a:pt x="28155" y="327792"/>
                  </a:cubicBezTo>
                  <a:lnTo>
                    <a:pt x="28155" y="337952"/>
                  </a:lnTo>
                  <a:cubicBezTo>
                    <a:pt x="28155" y="348112"/>
                    <a:pt x="31965" y="351922"/>
                    <a:pt x="40855" y="351922"/>
                  </a:cubicBezTo>
                  <a:cubicBezTo>
                    <a:pt x="57940" y="351922"/>
                    <a:pt x="76460" y="353192"/>
                    <a:pt x="93658" y="353192"/>
                  </a:cubicBezTo>
                  <a:cubicBezTo>
                    <a:pt x="118793" y="353192"/>
                    <a:pt x="145251" y="350652"/>
                    <a:pt x="170386" y="353192"/>
                  </a:cubicBezTo>
                  <a:cubicBezTo>
                    <a:pt x="211396" y="357002"/>
                    <a:pt x="252406" y="359542"/>
                    <a:pt x="293416" y="358272"/>
                  </a:cubicBezTo>
                  <a:cubicBezTo>
                    <a:pt x="319874" y="357002"/>
                    <a:pt x="345009" y="359542"/>
                    <a:pt x="371467" y="359542"/>
                  </a:cubicBezTo>
                  <a:cubicBezTo>
                    <a:pt x="409831" y="359542"/>
                    <a:pt x="448195" y="358272"/>
                    <a:pt x="486559" y="359542"/>
                  </a:cubicBezTo>
                  <a:cubicBezTo>
                    <a:pt x="543444" y="360812"/>
                    <a:pt x="1167853" y="350652"/>
                    <a:pt x="1226061" y="353192"/>
                  </a:cubicBezTo>
                  <a:cubicBezTo>
                    <a:pt x="1251196" y="354462"/>
                    <a:pt x="1276331" y="355733"/>
                    <a:pt x="1300143" y="355733"/>
                  </a:cubicBezTo>
                  <a:cubicBezTo>
                    <a:pt x="1343799" y="358272"/>
                    <a:pt x="1386132" y="354462"/>
                    <a:pt x="1429787" y="358272"/>
                  </a:cubicBezTo>
                  <a:cubicBezTo>
                    <a:pt x="1465506" y="360812"/>
                    <a:pt x="1501224" y="360812"/>
                    <a:pt x="1536942" y="363352"/>
                  </a:cubicBezTo>
                  <a:cubicBezTo>
                    <a:pt x="1589858" y="367162"/>
                    <a:pt x="1642774" y="369702"/>
                    <a:pt x="1695690" y="370972"/>
                  </a:cubicBezTo>
                  <a:cubicBezTo>
                    <a:pt x="1715310" y="370972"/>
                    <a:pt x="1733090" y="369702"/>
                    <a:pt x="1753410" y="369702"/>
                  </a:cubicBezTo>
                  <a:close/>
                </a:path>
              </a:pathLst>
            </a:custGeom>
            <a:solidFill>
              <a:srgbClr val="242424"/>
            </a:solidFill>
          </p:spPr>
        </p:sp>
      </p:grpSp>
      <p:grpSp>
        <p:nvGrpSpPr>
          <p:cNvPr name="Group 45" id="45"/>
          <p:cNvGrpSpPr/>
          <p:nvPr/>
        </p:nvGrpSpPr>
        <p:grpSpPr>
          <a:xfrm rot="0">
            <a:off x="566089" y="7742778"/>
            <a:ext cx="6112771" cy="1186823"/>
            <a:chOff x="0" y="0"/>
            <a:chExt cx="2139647" cy="415422"/>
          </a:xfrm>
        </p:grpSpPr>
        <p:sp>
          <p:nvSpPr>
            <p:cNvPr name="Freeform 46" id="46"/>
            <p:cNvSpPr/>
            <p:nvPr/>
          </p:nvSpPr>
          <p:spPr>
            <a:xfrm flipH="false" flipV="false" rot="0">
              <a:off x="39997" y="45156"/>
              <a:ext cx="2099650" cy="369561"/>
            </a:xfrm>
            <a:custGeom>
              <a:avLst/>
              <a:gdLst/>
              <a:ahLst/>
              <a:cxnLst/>
              <a:rect r="r" b="b" t="t" l="l"/>
              <a:pathLst>
                <a:path h="369561" w="2099650">
                  <a:moveTo>
                    <a:pt x="643" y="339786"/>
                  </a:moveTo>
                  <a:cubicBezTo>
                    <a:pt x="-1897" y="348676"/>
                    <a:pt x="3183" y="355026"/>
                    <a:pt x="14216" y="356296"/>
                  </a:cubicBezTo>
                  <a:cubicBezTo>
                    <a:pt x="26874" y="357566"/>
                    <a:pt x="37950" y="357566"/>
                    <a:pt x="50609" y="357566"/>
                  </a:cubicBezTo>
                  <a:cubicBezTo>
                    <a:pt x="101243" y="358836"/>
                    <a:pt x="151877" y="358836"/>
                    <a:pt x="204093" y="360106"/>
                  </a:cubicBezTo>
                  <a:cubicBezTo>
                    <a:pt x="232574" y="361376"/>
                    <a:pt x="261056" y="362646"/>
                    <a:pt x="287955" y="363916"/>
                  </a:cubicBezTo>
                  <a:cubicBezTo>
                    <a:pt x="335425" y="365186"/>
                    <a:pt x="381312" y="365186"/>
                    <a:pt x="428781" y="366456"/>
                  </a:cubicBezTo>
                  <a:cubicBezTo>
                    <a:pt x="447769" y="366456"/>
                    <a:pt x="465174" y="366456"/>
                    <a:pt x="484162" y="365186"/>
                  </a:cubicBezTo>
                  <a:cubicBezTo>
                    <a:pt x="492073" y="365186"/>
                    <a:pt x="501567" y="363916"/>
                    <a:pt x="509479" y="363916"/>
                  </a:cubicBezTo>
                  <a:cubicBezTo>
                    <a:pt x="541125" y="365186"/>
                    <a:pt x="1174049" y="356296"/>
                    <a:pt x="1205696" y="357566"/>
                  </a:cubicBezTo>
                  <a:cubicBezTo>
                    <a:pt x="1250000" y="358836"/>
                    <a:pt x="1371838" y="358836"/>
                    <a:pt x="1416143" y="358836"/>
                  </a:cubicBezTo>
                  <a:cubicBezTo>
                    <a:pt x="1433549" y="358836"/>
                    <a:pt x="1449372" y="357566"/>
                    <a:pt x="1466777" y="357566"/>
                  </a:cubicBezTo>
                  <a:lnTo>
                    <a:pt x="1552222" y="361376"/>
                  </a:lnTo>
                  <a:cubicBezTo>
                    <a:pt x="1613932" y="363916"/>
                    <a:pt x="1674060" y="361376"/>
                    <a:pt x="1735770" y="365186"/>
                  </a:cubicBezTo>
                  <a:cubicBezTo>
                    <a:pt x="1838620" y="370266"/>
                    <a:pt x="1943052" y="363916"/>
                    <a:pt x="2036150" y="368996"/>
                  </a:cubicBezTo>
                  <a:cubicBezTo>
                    <a:pt x="2056470" y="370266"/>
                    <a:pt x="2076790" y="368996"/>
                    <a:pt x="2099650" y="368996"/>
                  </a:cubicBezTo>
                  <a:lnTo>
                    <a:pt x="2099650" y="309306"/>
                  </a:lnTo>
                  <a:cubicBezTo>
                    <a:pt x="2098380" y="274578"/>
                    <a:pt x="2097110" y="264138"/>
                    <a:pt x="2097110" y="253045"/>
                  </a:cubicBezTo>
                  <a:cubicBezTo>
                    <a:pt x="2097110" y="240211"/>
                    <a:pt x="2100920" y="227161"/>
                    <a:pt x="2094570" y="214327"/>
                  </a:cubicBezTo>
                  <a:cubicBezTo>
                    <a:pt x="2086950" y="205844"/>
                    <a:pt x="2075520" y="38578"/>
                    <a:pt x="2075520" y="30095"/>
                  </a:cubicBezTo>
                  <a:cubicBezTo>
                    <a:pt x="2072980" y="24222"/>
                    <a:pt x="2071710" y="18132"/>
                    <a:pt x="2069170" y="12259"/>
                  </a:cubicBezTo>
                  <a:cubicBezTo>
                    <a:pt x="2069170" y="10519"/>
                    <a:pt x="2067900" y="8779"/>
                    <a:pt x="2066630" y="5644"/>
                  </a:cubicBezTo>
                  <a:cubicBezTo>
                    <a:pt x="2056470" y="3104"/>
                    <a:pt x="2047580" y="1834"/>
                    <a:pt x="2037420" y="564"/>
                  </a:cubicBezTo>
                  <a:cubicBezTo>
                    <a:pt x="2029800" y="-706"/>
                    <a:pt x="2022180" y="564"/>
                    <a:pt x="2015830" y="564"/>
                  </a:cubicBezTo>
                  <a:lnTo>
                    <a:pt x="6304" y="5644"/>
                  </a:lnTo>
                  <a:lnTo>
                    <a:pt x="643" y="339786"/>
                  </a:lnTo>
                  <a:close/>
                </a:path>
              </a:pathLst>
            </a:custGeom>
            <a:solidFill>
              <a:srgbClr val="FFDA68"/>
            </a:solidFill>
          </p:spPr>
        </p:sp>
        <p:sp>
          <p:nvSpPr>
            <p:cNvPr name="Freeform 47" id="47"/>
            <p:cNvSpPr/>
            <p:nvPr/>
          </p:nvSpPr>
          <p:spPr>
            <a:xfrm flipH="false" flipV="false" rot="0">
              <a:off x="11430" y="16510"/>
              <a:ext cx="2078687" cy="360812"/>
            </a:xfrm>
            <a:custGeom>
              <a:avLst/>
              <a:gdLst/>
              <a:ahLst/>
              <a:cxnLst/>
              <a:rect r="r" b="b" t="t" l="l"/>
              <a:pathLst>
                <a:path h="360812" w="2078687">
                  <a:moveTo>
                    <a:pt x="2078687" y="360812"/>
                  </a:moveTo>
                  <a:lnTo>
                    <a:pt x="0" y="353192"/>
                  </a:lnTo>
                  <a:lnTo>
                    <a:pt x="0" y="131825"/>
                  </a:lnTo>
                  <a:lnTo>
                    <a:pt x="7620" y="20320"/>
                  </a:lnTo>
                  <a:lnTo>
                    <a:pt x="1036474" y="0"/>
                  </a:lnTo>
                  <a:lnTo>
                    <a:pt x="2057097" y="8890"/>
                  </a:lnTo>
                  <a:close/>
                </a:path>
              </a:pathLst>
            </a:custGeom>
            <a:solidFill>
              <a:srgbClr val="EFEFEF"/>
            </a:solidFill>
          </p:spPr>
        </p:sp>
        <p:sp>
          <p:nvSpPr>
            <p:cNvPr name="Freeform 48" id="48"/>
            <p:cNvSpPr/>
            <p:nvPr/>
          </p:nvSpPr>
          <p:spPr>
            <a:xfrm flipH="false" flipV="false" rot="0">
              <a:off x="-215" y="0"/>
              <a:ext cx="2103031" cy="386777"/>
            </a:xfrm>
            <a:custGeom>
              <a:avLst/>
              <a:gdLst/>
              <a:ahLst/>
              <a:cxnLst/>
              <a:rect r="r" b="b" t="t" l="l"/>
              <a:pathLst>
                <a:path h="386777" w="2103031">
                  <a:moveTo>
                    <a:pt x="2070012" y="21590"/>
                  </a:moveTo>
                  <a:cubicBezTo>
                    <a:pt x="2071282" y="34290"/>
                    <a:pt x="2071282" y="44450"/>
                    <a:pt x="2072552" y="52412"/>
                  </a:cubicBezTo>
                  <a:cubicBezTo>
                    <a:pt x="2075092" y="58285"/>
                    <a:pt x="2076362" y="64375"/>
                    <a:pt x="2078902" y="70248"/>
                  </a:cubicBezTo>
                  <a:cubicBezTo>
                    <a:pt x="2078902" y="78731"/>
                    <a:pt x="2091602" y="245998"/>
                    <a:pt x="2097952" y="254481"/>
                  </a:cubicBezTo>
                  <a:cubicBezTo>
                    <a:pt x="2104302" y="267314"/>
                    <a:pt x="2100492" y="280365"/>
                    <a:pt x="2100492" y="293198"/>
                  </a:cubicBezTo>
                  <a:cubicBezTo>
                    <a:pt x="2100492" y="304508"/>
                    <a:pt x="2101762" y="314949"/>
                    <a:pt x="2103032" y="326522"/>
                  </a:cubicBezTo>
                  <a:lnTo>
                    <a:pt x="2103032" y="386212"/>
                  </a:lnTo>
                  <a:cubicBezTo>
                    <a:pt x="2080172" y="386212"/>
                    <a:pt x="2059852" y="387482"/>
                    <a:pt x="2039532" y="386212"/>
                  </a:cubicBezTo>
                  <a:cubicBezTo>
                    <a:pt x="1937378" y="381132"/>
                    <a:pt x="1832945" y="387482"/>
                    <a:pt x="1730095" y="382402"/>
                  </a:cubicBezTo>
                  <a:cubicBezTo>
                    <a:pt x="1668385" y="378592"/>
                    <a:pt x="1608257" y="381132"/>
                    <a:pt x="1546547" y="378592"/>
                  </a:cubicBezTo>
                  <a:lnTo>
                    <a:pt x="1461102" y="374782"/>
                  </a:lnTo>
                  <a:cubicBezTo>
                    <a:pt x="1443697" y="374782"/>
                    <a:pt x="1427873" y="376052"/>
                    <a:pt x="1410468" y="376052"/>
                  </a:cubicBezTo>
                  <a:cubicBezTo>
                    <a:pt x="1366163" y="374782"/>
                    <a:pt x="1244325" y="376052"/>
                    <a:pt x="1200021" y="374782"/>
                  </a:cubicBezTo>
                  <a:cubicBezTo>
                    <a:pt x="1168374" y="373512"/>
                    <a:pt x="535450" y="382402"/>
                    <a:pt x="503804" y="381132"/>
                  </a:cubicBezTo>
                  <a:cubicBezTo>
                    <a:pt x="495892" y="381132"/>
                    <a:pt x="486398" y="382402"/>
                    <a:pt x="478487" y="382402"/>
                  </a:cubicBezTo>
                  <a:cubicBezTo>
                    <a:pt x="459499" y="382402"/>
                    <a:pt x="442094" y="383672"/>
                    <a:pt x="423106" y="383672"/>
                  </a:cubicBezTo>
                  <a:cubicBezTo>
                    <a:pt x="375637" y="383672"/>
                    <a:pt x="329750" y="382402"/>
                    <a:pt x="282280" y="381132"/>
                  </a:cubicBezTo>
                  <a:cubicBezTo>
                    <a:pt x="253799" y="379862"/>
                    <a:pt x="225317" y="378592"/>
                    <a:pt x="198418" y="377322"/>
                  </a:cubicBezTo>
                  <a:cubicBezTo>
                    <a:pt x="147784" y="376052"/>
                    <a:pt x="97150" y="374782"/>
                    <a:pt x="44934" y="374782"/>
                  </a:cubicBezTo>
                  <a:cubicBezTo>
                    <a:pt x="34505" y="374782"/>
                    <a:pt x="25615" y="374782"/>
                    <a:pt x="15455" y="373512"/>
                  </a:cubicBezTo>
                  <a:cubicBezTo>
                    <a:pt x="6565" y="372242"/>
                    <a:pt x="1485" y="365892"/>
                    <a:pt x="4025" y="357002"/>
                  </a:cubicBezTo>
                  <a:cubicBezTo>
                    <a:pt x="12915" y="325825"/>
                    <a:pt x="9105" y="320387"/>
                    <a:pt x="7835" y="314731"/>
                  </a:cubicBezTo>
                  <a:cubicBezTo>
                    <a:pt x="6565" y="303203"/>
                    <a:pt x="2755" y="291893"/>
                    <a:pt x="4025" y="280365"/>
                  </a:cubicBezTo>
                  <a:cubicBezTo>
                    <a:pt x="1485" y="266009"/>
                    <a:pt x="-3595" y="88302"/>
                    <a:pt x="4025" y="73728"/>
                  </a:cubicBezTo>
                  <a:cubicBezTo>
                    <a:pt x="5295" y="70901"/>
                    <a:pt x="4025" y="67856"/>
                    <a:pt x="5295" y="65028"/>
                  </a:cubicBezTo>
                  <a:cubicBezTo>
                    <a:pt x="6565" y="60460"/>
                    <a:pt x="9105" y="55457"/>
                    <a:pt x="10375" y="44450"/>
                  </a:cubicBezTo>
                  <a:cubicBezTo>
                    <a:pt x="10375" y="41910"/>
                    <a:pt x="11645" y="39370"/>
                    <a:pt x="12915" y="38100"/>
                  </a:cubicBezTo>
                  <a:cubicBezTo>
                    <a:pt x="34505" y="35560"/>
                    <a:pt x="57592" y="30480"/>
                    <a:pt x="82909" y="29210"/>
                  </a:cubicBezTo>
                  <a:cubicBezTo>
                    <a:pt x="125632" y="25400"/>
                    <a:pt x="168354" y="22860"/>
                    <a:pt x="212659" y="20320"/>
                  </a:cubicBezTo>
                  <a:cubicBezTo>
                    <a:pt x="242723" y="17780"/>
                    <a:pt x="272786" y="16510"/>
                    <a:pt x="301268" y="13970"/>
                  </a:cubicBezTo>
                  <a:cubicBezTo>
                    <a:pt x="329750" y="11430"/>
                    <a:pt x="359814" y="8890"/>
                    <a:pt x="388295" y="8890"/>
                  </a:cubicBezTo>
                  <a:cubicBezTo>
                    <a:pt x="419941" y="7620"/>
                    <a:pt x="451588" y="10160"/>
                    <a:pt x="483234" y="8890"/>
                  </a:cubicBezTo>
                  <a:cubicBezTo>
                    <a:pt x="522792" y="8890"/>
                    <a:pt x="1239578" y="6350"/>
                    <a:pt x="1279136" y="5080"/>
                  </a:cubicBezTo>
                  <a:cubicBezTo>
                    <a:pt x="1317112" y="3810"/>
                    <a:pt x="1355087" y="2540"/>
                    <a:pt x="1394645" y="2540"/>
                  </a:cubicBezTo>
                  <a:cubicBezTo>
                    <a:pt x="1459520" y="1270"/>
                    <a:pt x="1522812" y="0"/>
                    <a:pt x="1587687" y="0"/>
                  </a:cubicBezTo>
                  <a:cubicBezTo>
                    <a:pt x="1614586" y="0"/>
                    <a:pt x="1643068" y="2540"/>
                    <a:pt x="1669967" y="2540"/>
                  </a:cubicBezTo>
                  <a:cubicBezTo>
                    <a:pt x="1744336" y="3810"/>
                    <a:pt x="1820286" y="5080"/>
                    <a:pt x="1894655" y="7620"/>
                  </a:cubicBezTo>
                  <a:cubicBezTo>
                    <a:pt x="1934213" y="8890"/>
                    <a:pt x="1973771" y="12700"/>
                    <a:pt x="2013329" y="16510"/>
                  </a:cubicBezTo>
                  <a:lnTo>
                    <a:pt x="2039532" y="16510"/>
                  </a:lnTo>
                  <a:cubicBezTo>
                    <a:pt x="2050962" y="17780"/>
                    <a:pt x="2059852" y="20320"/>
                    <a:pt x="2070012" y="21590"/>
                  </a:cubicBezTo>
                  <a:close/>
                  <a:moveTo>
                    <a:pt x="2080172" y="369702"/>
                  </a:moveTo>
                  <a:cubicBezTo>
                    <a:pt x="2081442" y="353192"/>
                    <a:pt x="2082712" y="340492"/>
                    <a:pt x="2082712" y="327792"/>
                  </a:cubicBezTo>
                  <a:cubicBezTo>
                    <a:pt x="2081442" y="313861"/>
                    <a:pt x="2080172" y="302333"/>
                    <a:pt x="2080172" y="289935"/>
                  </a:cubicBezTo>
                  <a:cubicBezTo>
                    <a:pt x="2080172" y="284280"/>
                    <a:pt x="2082712" y="278625"/>
                    <a:pt x="2081442" y="272969"/>
                  </a:cubicBezTo>
                  <a:cubicBezTo>
                    <a:pt x="2081442" y="267749"/>
                    <a:pt x="2080172" y="262311"/>
                    <a:pt x="2078902" y="257091"/>
                  </a:cubicBezTo>
                  <a:cubicBezTo>
                    <a:pt x="2073822" y="249043"/>
                    <a:pt x="2062392" y="82429"/>
                    <a:pt x="2062392" y="74381"/>
                  </a:cubicBezTo>
                  <a:cubicBezTo>
                    <a:pt x="2059852" y="67638"/>
                    <a:pt x="2057312" y="60678"/>
                    <a:pt x="2054772" y="53935"/>
                  </a:cubicBezTo>
                  <a:cubicBezTo>
                    <a:pt x="2053502" y="44450"/>
                    <a:pt x="2052232" y="43180"/>
                    <a:pt x="2035481" y="41910"/>
                  </a:cubicBezTo>
                  <a:cubicBezTo>
                    <a:pt x="2030734" y="41910"/>
                    <a:pt x="2027569" y="41910"/>
                    <a:pt x="2022822" y="40640"/>
                  </a:cubicBezTo>
                  <a:cubicBezTo>
                    <a:pt x="1983264" y="36830"/>
                    <a:pt x="1942125" y="31750"/>
                    <a:pt x="1902567" y="30480"/>
                  </a:cubicBezTo>
                  <a:cubicBezTo>
                    <a:pt x="1806046" y="26670"/>
                    <a:pt x="1707942" y="25400"/>
                    <a:pt x="1611421" y="22860"/>
                  </a:cubicBezTo>
                  <a:lnTo>
                    <a:pt x="1497495" y="22860"/>
                  </a:lnTo>
                  <a:cubicBezTo>
                    <a:pt x="1446861" y="22860"/>
                    <a:pt x="1396227" y="22860"/>
                    <a:pt x="1347176" y="24130"/>
                  </a:cubicBezTo>
                  <a:cubicBezTo>
                    <a:pt x="1304453" y="25400"/>
                    <a:pt x="584502" y="29210"/>
                    <a:pt x="541779" y="29210"/>
                  </a:cubicBezTo>
                  <a:cubicBezTo>
                    <a:pt x="472158" y="29210"/>
                    <a:pt x="402536" y="26670"/>
                    <a:pt x="332914" y="33020"/>
                  </a:cubicBezTo>
                  <a:cubicBezTo>
                    <a:pt x="296521" y="36830"/>
                    <a:pt x="261710" y="36830"/>
                    <a:pt x="226899" y="38100"/>
                  </a:cubicBezTo>
                  <a:cubicBezTo>
                    <a:pt x="166772" y="41910"/>
                    <a:pt x="106644" y="45720"/>
                    <a:pt x="46516" y="50800"/>
                  </a:cubicBezTo>
                  <a:cubicBezTo>
                    <a:pt x="33235" y="50800"/>
                    <a:pt x="30695" y="52195"/>
                    <a:pt x="29425" y="54805"/>
                  </a:cubicBezTo>
                  <a:cubicBezTo>
                    <a:pt x="28155" y="58720"/>
                    <a:pt x="28155" y="62635"/>
                    <a:pt x="26885" y="66550"/>
                  </a:cubicBezTo>
                  <a:cubicBezTo>
                    <a:pt x="25615" y="73076"/>
                    <a:pt x="23075" y="79384"/>
                    <a:pt x="21805" y="85909"/>
                  </a:cubicBezTo>
                  <a:cubicBezTo>
                    <a:pt x="16725" y="92869"/>
                    <a:pt x="23075" y="262964"/>
                    <a:pt x="25615" y="269924"/>
                  </a:cubicBezTo>
                  <a:cubicBezTo>
                    <a:pt x="25615" y="277319"/>
                    <a:pt x="25615" y="284932"/>
                    <a:pt x="26885" y="292328"/>
                  </a:cubicBezTo>
                  <a:cubicBezTo>
                    <a:pt x="26885" y="297766"/>
                    <a:pt x="29425" y="303203"/>
                    <a:pt x="29425" y="308641"/>
                  </a:cubicBezTo>
                  <a:cubicBezTo>
                    <a:pt x="29425" y="314514"/>
                    <a:pt x="29425" y="320387"/>
                    <a:pt x="28155" y="327792"/>
                  </a:cubicBezTo>
                  <a:lnTo>
                    <a:pt x="28155" y="337952"/>
                  </a:lnTo>
                  <a:cubicBezTo>
                    <a:pt x="28155" y="348112"/>
                    <a:pt x="31965" y="351922"/>
                    <a:pt x="40855" y="351922"/>
                  </a:cubicBezTo>
                  <a:cubicBezTo>
                    <a:pt x="60757" y="351922"/>
                    <a:pt x="82909" y="353192"/>
                    <a:pt x="103479" y="353192"/>
                  </a:cubicBezTo>
                  <a:cubicBezTo>
                    <a:pt x="133543" y="353192"/>
                    <a:pt x="165189" y="350652"/>
                    <a:pt x="195253" y="353192"/>
                  </a:cubicBezTo>
                  <a:cubicBezTo>
                    <a:pt x="244305" y="357002"/>
                    <a:pt x="293357" y="359542"/>
                    <a:pt x="342408" y="358272"/>
                  </a:cubicBezTo>
                  <a:cubicBezTo>
                    <a:pt x="374054" y="357002"/>
                    <a:pt x="404118" y="359542"/>
                    <a:pt x="435765" y="359542"/>
                  </a:cubicBezTo>
                  <a:cubicBezTo>
                    <a:pt x="481652" y="359542"/>
                    <a:pt x="527539" y="358272"/>
                    <a:pt x="573426" y="359542"/>
                  </a:cubicBezTo>
                  <a:cubicBezTo>
                    <a:pt x="641465" y="360812"/>
                    <a:pt x="1388316" y="350652"/>
                    <a:pt x="1457937" y="353192"/>
                  </a:cubicBezTo>
                  <a:cubicBezTo>
                    <a:pt x="1488001" y="354462"/>
                    <a:pt x="1518065" y="355733"/>
                    <a:pt x="1546547" y="355733"/>
                  </a:cubicBezTo>
                  <a:cubicBezTo>
                    <a:pt x="1598763" y="358272"/>
                    <a:pt x="1649397" y="354462"/>
                    <a:pt x="1701613" y="358272"/>
                  </a:cubicBezTo>
                  <a:cubicBezTo>
                    <a:pt x="1744336" y="360812"/>
                    <a:pt x="1787058" y="360812"/>
                    <a:pt x="1829780" y="363352"/>
                  </a:cubicBezTo>
                  <a:cubicBezTo>
                    <a:pt x="1893073" y="367162"/>
                    <a:pt x="1956365" y="369702"/>
                    <a:pt x="2019658" y="370972"/>
                  </a:cubicBezTo>
                  <a:cubicBezTo>
                    <a:pt x="2042072" y="370972"/>
                    <a:pt x="2059852" y="369702"/>
                    <a:pt x="2080172" y="369702"/>
                  </a:cubicBezTo>
                  <a:close/>
                </a:path>
              </a:pathLst>
            </a:custGeom>
            <a:solidFill>
              <a:srgbClr val="242424"/>
            </a:solidFill>
          </p:spPr>
        </p:sp>
      </p:grpSp>
      <p:grpSp>
        <p:nvGrpSpPr>
          <p:cNvPr name="Group 49" id="49"/>
          <p:cNvGrpSpPr/>
          <p:nvPr/>
        </p:nvGrpSpPr>
        <p:grpSpPr>
          <a:xfrm rot="0">
            <a:off x="12477532" y="7487525"/>
            <a:ext cx="5419133" cy="1317026"/>
            <a:chOff x="0" y="0"/>
            <a:chExt cx="1709328" cy="415422"/>
          </a:xfrm>
        </p:grpSpPr>
        <p:sp>
          <p:nvSpPr>
            <p:cNvPr name="Freeform 50" id="50"/>
            <p:cNvSpPr/>
            <p:nvPr/>
          </p:nvSpPr>
          <p:spPr>
            <a:xfrm flipH="false" flipV="false" rot="0">
              <a:off x="39985" y="45156"/>
              <a:ext cx="1669343" cy="369561"/>
            </a:xfrm>
            <a:custGeom>
              <a:avLst/>
              <a:gdLst/>
              <a:ahLst/>
              <a:cxnLst/>
              <a:rect r="r" b="b" t="t" l="l"/>
              <a:pathLst>
                <a:path h="369561" w="1669343">
                  <a:moveTo>
                    <a:pt x="655" y="339786"/>
                  </a:moveTo>
                  <a:cubicBezTo>
                    <a:pt x="-1885" y="348676"/>
                    <a:pt x="3195" y="355026"/>
                    <a:pt x="11884" y="356296"/>
                  </a:cubicBezTo>
                  <a:cubicBezTo>
                    <a:pt x="21809" y="357566"/>
                    <a:pt x="30494" y="357566"/>
                    <a:pt x="40420" y="357566"/>
                  </a:cubicBezTo>
                  <a:cubicBezTo>
                    <a:pt x="80122" y="358836"/>
                    <a:pt x="119824" y="358836"/>
                    <a:pt x="160767" y="360106"/>
                  </a:cubicBezTo>
                  <a:cubicBezTo>
                    <a:pt x="183099" y="361376"/>
                    <a:pt x="205431" y="362646"/>
                    <a:pt x="226523" y="363916"/>
                  </a:cubicBezTo>
                  <a:cubicBezTo>
                    <a:pt x="263744" y="365186"/>
                    <a:pt x="299724" y="365186"/>
                    <a:pt x="336944" y="366456"/>
                  </a:cubicBezTo>
                  <a:cubicBezTo>
                    <a:pt x="351833" y="366456"/>
                    <a:pt x="365480" y="366456"/>
                    <a:pt x="380368" y="365186"/>
                  </a:cubicBezTo>
                  <a:cubicBezTo>
                    <a:pt x="386572" y="365186"/>
                    <a:pt x="394016" y="363916"/>
                    <a:pt x="400219" y="363916"/>
                  </a:cubicBezTo>
                  <a:cubicBezTo>
                    <a:pt x="425033" y="365186"/>
                    <a:pt x="921308" y="356296"/>
                    <a:pt x="946122" y="357566"/>
                  </a:cubicBezTo>
                  <a:cubicBezTo>
                    <a:pt x="980862" y="358836"/>
                    <a:pt x="1076395" y="358836"/>
                    <a:pt x="1111134" y="358836"/>
                  </a:cubicBezTo>
                  <a:cubicBezTo>
                    <a:pt x="1124781" y="358836"/>
                    <a:pt x="1137188" y="357566"/>
                    <a:pt x="1150836" y="357566"/>
                  </a:cubicBezTo>
                  <a:lnTo>
                    <a:pt x="1217833" y="361376"/>
                  </a:lnTo>
                  <a:cubicBezTo>
                    <a:pt x="1266220" y="363916"/>
                    <a:pt x="1313366" y="361376"/>
                    <a:pt x="1361753" y="365186"/>
                  </a:cubicBezTo>
                  <a:cubicBezTo>
                    <a:pt x="1442398" y="370266"/>
                    <a:pt x="1524283" y="363916"/>
                    <a:pt x="1605843" y="368996"/>
                  </a:cubicBezTo>
                  <a:cubicBezTo>
                    <a:pt x="1626163" y="370266"/>
                    <a:pt x="1646483" y="368996"/>
                    <a:pt x="1669343" y="368996"/>
                  </a:cubicBezTo>
                  <a:lnTo>
                    <a:pt x="1669343" y="309306"/>
                  </a:lnTo>
                  <a:cubicBezTo>
                    <a:pt x="1668073" y="274578"/>
                    <a:pt x="1666803" y="264138"/>
                    <a:pt x="1666803" y="253045"/>
                  </a:cubicBezTo>
                  <a:cubicBezTo>
                    <a:pt x="1666803" y="240211"/>
                    <a:pt x="1670613" y="227161"/>
                    <a:pt x="1664263" y="214327"/>
                  </a:cubicBezTo>
                  <a:cubicBezTo>
                    <a:pt x="1656643" y="205844"/>
                    <a:pt x="1645213" y="38578"/>
                    <a:pt x="1645213" y="30095"/>
                  </a:cubicBezTo>
                  <a:cubicBezTo>
                    <a:pt x="1642673" y="24222"/>
                    <a:pt x="1641403" y="18132"/>
                    <a:pt x="1638863" y="12259"/>
                  </a:cubicBezTo>
                  <a:cubicBezTo>
                    <a:pt x="1638863" y="10519"/>
                    <a:pt x="1637593" y="8779"/>
                    <a:pt x="1636323" y="5644"/>
                  </a:cubicBezTo>
                  <a:cubicBezTo>
                    <a:pt x="1626163" y="3104"/>
                    <a:pt x="1617273" y="1834"/>
                    <a:pt x="1607113" y="564"/>
                  </a:cubicBezTo>
                  <a:cubicBezTo>
                    <a:pt x="1599493" y="-706"/>
                    <a:pt x="1591873" y="564"/>
                    <a:pt x="1585523" y="564"/>
                  </a:cubicBezTo>
                  <a:lnTo>
                    <a:pt x="5680" y="5644"/>
                  </a:lnTo>
                  <a:lnTo>
                    <a:pt x="655" y="339786"/>
                  </a:lnTo>
                  <a:close/>
                </a:path>
              </a:pathLst>
            </a:custGeom>
            <a:solidFill>
              <a:srgbClr val="FFDA68"/>
            </a:solidFill>
          </p:spPr>
        </p:sp>
        <p:sp>
          <p:nvSpPr>
            <p:cNvPr name="Freeform 51" id="51"/>
            <p:cNvSpPr/>
            <p:nvPr/>
          </p:nvSpPr>
          <p:spPr>
            <a:xfrm flipH="false" flipV="false" rot="0">
              <a:off x="11430" y="16510"/>
              <a:ext cx="1648368" cy="360812"/>
            </a:xfrm>
            <a:custGeom>
              <a:avLst/>
              <a:gdLst/>
              <a:ahLst/>
              <a:cxnLst/>
              <a:rect r="r" b="b" t="t" l="l"/>
              <a:pathLst>
                <a:path h="360812" w="1648368">
                  <a:moveTo>
                    <a:pt x="1648368" y="360812"/>
                  </a:moveTo>
                  <a:lnTo>
                    <a:pt x="0" y="353192"/>
                  </a:lnTo>
                  <a:lnTo>
                    <a:pt x="0" y="131825"/>
                  </a:lnTo>
                  <a:lnTo>
                    <a:pt x="7620" y="20320"/>
                  </a:lnTo>
                  <a:lnTo>
                    <a:pt x="819591" y="0"/>
                  </a:lnTo>
                  <a:lnTo>
                    <a:pt x="1626778" y="8890"/>
                  </a:lnTo>
                  <a:close/>
                </a:path>
              </a:pathLst>
            </a:custGeom>
            <a:solidFill>
              <a:srgbClr val="EFEFEF"/>
            </a:solidFill>
          </p:spPr>
        </p:sp>
        <p:sp>
          <p:nvSpPr>
            <p:cNvPr name="Freeform 52" id="52"/>
            <p:cNvSpPr/>
            <p:nvPr/>
          </p:nvSpPr>
          <p:spPr>
            <a:xfrm flipH="false" flipV="false" rot="0">
              <a:off x="-215" y="0"/>
              <a:ext cx="1672713" cy="386777"/>
            </a:xfrm>
            <a:custGeom>
              <a:avLst/>
              <a:gdLst/>
              <a:ahLst/>
              <a:cxnLst/>
              <a:rect r="r" b="b" t="t" l="l"/>
              <a:pathLst>
                <a:path h="386777" w="1672713">
                  <a:moveTo>
                    <a:pt x="1639693" y="21590"/>
                  </a:moveTo>
                  <a:cubicBezTo>
                    <a:pt x="1640963" y="34290"/>
                    <a:pt x="1640963" y="44450"/>
                    <a:pt x="1642233" y="52412"/>
                  </a:cubicBezTo>
                  <a:cubicBezTo>
                    <a:pt x="1644773" y="58285"/>
                    <a:pt x="1646043" y="64375"/>
                    <a:pt x="1648583" y="70248"/>
                  </a:cubicBezTo>
                  <a:cubicBezTo>
                    <a:pt x="1648583" y="78731"/>
                    <a:pt x="1661283" y="245998"/>
                    <a:pt x="1667633" y="254481"/>
                  </a:cubicBezTo>
                  <a:cubicBezTo>
                    <a:pt x="1673983" y="267314"/>
                    <a:pt x="1670173" y="280365"/>
                    <a:pt x="1670173" y="293198"/>
                  </a:cubicBezTo>
                  <a:cubicBezTo>
                    <a:pt x="1670173" y="304508"/>
                    <a:pt x="1671443" y="314949"/>
                    <a:pt x="1672713" y="326522"/>
                  </a:cubicBezTo>
                  <a:lnTo>
                    <a:pt x="1672713" y="386212"/>
                  </a:lnTo>
                  <a:cubicBezTo>
                    <a:pt x="1649853" y="386212"/>
                    <a:pt x="1629533" y="387482"/>
                    <a:pt x="1609213" y="386212"/>
                  </a:cubicBezTo>
                  <a:cubicBezTo>
                    <a:pt x="1528503" y="381132"/>
                    <a:pt x="1446618" y="387482"/>
                    <a:pt x="1365973" y="382402"/>
                  </a:cubicBezTo>
                  <a:cubicBezTo>
                    <a:pt x="1317586" y="378592"/>
                    <a:pt x="1270440" y="381132"/>
                    <a:pt x="1222053" y="378592"/>
                  </a:cubicBezTo>
                  <a:lnTo>
                    <a:pt x="1155056" y="374782"/>
                  </a:lnTo>
                  <a:cubicBezTo>
                    <a:pt x="1141408" y="374782"/>
                    <a:pt x="1129001" y="376052"/>
                    <a:pt x="1115354" y="376052"/>
                  </a:cubicBezTo>
                  <a:cubicBezTo>
                    <a:pt x="1080615" y="374782"/>
                    <a:pt x="985081" y="376052"/>
                    <a:pt x="950342" y="374782"/>
                  </a:cubicBezTo>
                  <a:cubicBezTo>
                    <a:pt x="925528" y="373512"/>
                    <a:pt x="429253" y="382402"/>
                    <a:pt x="404439" y="381132"/>
                  </a:cubicBezTo>
                  <a:cubicBezTo>
                    <a:pt x="398236" y="381132"/>
                    <a:pt x="390792" y="382402"/>
                    <a:pt x="384588" y="382402"/>
                  </a:cubicBezTo>
                  <a:cubicBezTo>
                    <a:pt x="369700" y="382402"/>
                    <a:pt x="356053" y="383672"/>
                    <a:pt x="341164" y="383672"/>
                  </a:cubicBezTo>
                  <a:cubicBezTo>
                    <a:pt x="303944" y="383672"/>
                    <a:pt x="267964" y="382402"/>
                    <a:pt x="230743" y="381132"/>
                  </a:cubicBezTo>
                  <a:cubicBezTo>
                    <a:pt x="208411" y="379862"/>
                    <a:pt x="186078" y="378592"/>
                    <a:pt x="164987" y="377322"/>
                  </a:cubicBezTo>
                  <a:cubicBezTo>
                    <a:pt x="125285" y="376052"/>
                    <a:pt x="85582" y="374782"/>
                    <a:pt x="44640" y="374782"/>
                  </a:cubicBezTo>
                  <a:cubicBezTo>
                    <a:pt x="34505" y="374782"/>
                    <a:pt x="25615" y="374782"/>
                    <a:pt x="15455" y="373512"/>
                  </a:cubicBezTo>
                  <a:cubicBezTo>
                    <a:pt x="6565" y="372242"/>
                    <a:pt x="1485" y="365892"/>
                    <a:pt x="4025" y="357002"/>
                  </a:cubicBezTo>
                  <a:cubicBezTo>
                    <a:pt x="12915" y="325825"/>
                    <a:pt x="9105" y="320387"/>
                    <a:pt x="7835" y="314731"/>
                  </a:cubicBezTo>
                  <a:cubicBezTo>
                    <a:pt x="6565" y="303203"/>
                    <a:pt x="2755" y="291893"/>
                    <a:pt x="4025" y="280365"/>
                  </a:cubicBezTo>
                  <a:cubicBezTo>
                    <a:pt x="1485" y="266009"/>
                    <a:pt x="-3595" y="88302"/>
                    <a:pt x="4025" y="73728"/>
                  </a:cubicBezTo>
                  <a:cubicBezTo>
                    <a:pt x="5295" y="70901"/>
                    <a:pt x="4025" y="67856"/>
                    <a:pt x="5295" y="65028"/>
                  </a:cubicBezTo>
                  <a:cubicBezTo>
                    <a:pt x="6565" y="60460"/>
                    <a:pt x="9105" y="55457"/>
                    <a:pt x="10375" y="44450"/>
                  </a:cubicBezTo>
                  <a:cubicBezTo>
                    <a:pt x="10375" y="41910"/>
                    <a:pt x="11645" y="39370"/>
                    <a:pt x="12915" y="38100"/>
                  </a:cubicBezTo>
                  <a:cubicBezTo>
                    <a:pt x="34505" y="35560"/>
                    <a:pt x="54565" y="30480"/>
                    <a:pt x="74416" y="29210"/>
                  </a:cubicBezTo>
                  <a:cubicBezTo>
                    <a:pt x="107915" y="25400"/>
                    <a:pt x="141413" y="22860"/>
                    <a:pt x="176153" y="20320"/>
                  </a:cubicBezTo>
                  <a:cubicBezTo>
                    <a:pt x="199726" y="17780"/>
                    <a:pt x="223299" y="16510"/>
                    <a:pt x="245631" y="13970"/>
                  </a:cubicBezTo>
                  <a:cubicBezTo>
                    <a:pt x="267964" y="11430"/>
                    <a:pt x="291537" y="8890"/>
                    <a:pt x="313869" y="8890"/>
                  </a:cubicBezTo>
                  <a:cubicBezTo>
                    <a:pt x="338683" y="7620"/>
                    <a:pt x="363497" y="10160"/>
                    <a:pt x="388310" y="8890"/>
                  </a:cubicBezTo>
                  <a:cubicBezTo>
                    <a:pt x="419328" y="8890"/>
                    <a:pt x="981359" y="6350"/>
                    <a:pt x="1012377" y="5080"/>
                  </a:cubicBezTo>
                  <a:cubicBezTo>
                    <a:pt x="1042153" y="3810"/>
                    <a:pt x="1071930" y="2540"/>
                    <a:pt x="1102947" y="2540"/>
                  </a:cubicBezTo>
                  <a:cubicBezTo>
                    <a:pt x="1153815" y="1270"/>
                    <a:pt x="1203443" y="0"/>
                    <a:pt x="1254311" y="0"/>
                  </a:cubicBezTo>
                  <a:cubicBezTo>
                    <a:pt x="1275403" y="0"/>
                    <a:pt x="1297735" y="2540"/>
                    <a:pt x="1318827" y="2540"/>
                  </a:cubicBezTo>
                  <a:cubicBezTo>
                    <a:pt x="1377139" y="3810"/>
                    <a:pt x="1436692" y="5080"/>
                    <a:pt x="1495004" y="7620"/>
                  </a:cubicBezTo>
                  <a:cubicBezTo>
                    <a:pt x="1526022" y="8890"/>
                    <a:pt x="1557039" y="12700"/>
                    <a:pt x="1588056" y="16510"/>
                  </a:cubicBezTo>
                  <a:lnTo>
                    <a:pt x="1609213" y="16510"/>
                  </a:lnTo>
                  <a:cubicBezTo>
                    <a:pt x="1620643" y="17780"/>
                    <a:pt x="1629533" y="20320"/>
                    <a:pt x="1639693" y="21590"/>
                  </a:cubicBezTo>
                  <a:close/>
                  <a:moveTo>
                    <a:pt x="1649853" y="369702"/>
                  </a:moveTo>
                  <a:cubicBezTo>
                    <a:pt x="1651123" y="353192"/>
                    <a:pt x="1652393" y="340492"/>
                    <a:pt x="1652393" y="327792"/>
                  </a:cubicBezTo>
                  <a:cubicBezTo>
                    <a:pt x="1651123" y="313861"/>
                    <a:pt x="1649853" y="302333"/>
                    <a:pt x="1649853" y="289935"/>
                  </a:cubicBezTo>
                  <a:cubicBezTo>
                    <a:pt x="1649853" y="284280"/>
                    <a:pt x="1652393" y="278625"/>
                    <a:pt x="1651123" y="272969"/>
                  </a:cubicBezTo>
                  <a:cubicBezTo>
                    <a:pt x="1651123" y="267749"/>
                    <a:pt x="1649853" y="262311"/>
                    <a:pt x="1648583" y="257091"/>
                  </a:cubicBezTo>
                  <a:cubicBezTo>
                    <a:pt x="1643503" y="249043"/>
                    <a:pt x="1632073" y="82429"/>
                    <a:pt x="1632073" y="74381"/>
                  </a:cubicBezTo>
                  <a:cubicBezTo>
                    <a:pt x="1629533" y="67638"/>
                    <a:pt x="1626993" y="60678"/>
                    <a:pt x="1624453" y="53935"/>
                  </a:cubicBezTo>
                  <a:cubicBezTo>
                    <a:pt x="1623183" y="44450"/>
                    <a:pt x="1621913" y="43180"/>
                    <a:pt x="1605426" y="41910"/>
                  </a:cubicBezTo>
                  <a:cubicBezTo>
                    <a:pt x="1601704" y="41910"/>
                    <a:pt x="1599222" y="41910"/>
                    <a:pt x="1595500" y="40640"/>
                  </a:cubicBezTo>
                  <a:cubicBezTo>
                    <a:pt x="1564483" y="36830"/>
                    <a:pt x="1532225" y="31750"/>
                    <a:pt x="1501208" y="30480"/>
                  </a:cubicBezTo>
                  <a:cubicBezTo>
                    <a:pt x="1425526" y="26670"/>
                    <a:pt x="1348603" y="25400"/>
                    <a:pt x="1272921" y="22860"/>
                  </a:cubicBezTo>
                  <a:lnTo>
                    <a:pt x="1183592" y="22860"/>
                  </a:lnTo>
                  <a:cubicBezTo>
                    <a:pt x="1143890" y="22860"/>
                    <a:pt x="1104188" y="22860"/>
                    <a:pt x="1065726" y="24130"/>
                  </a:cubicBezTo>
                  <a:cubicBezTo>
                    <a:pt x="1032228" y="25400"/>
                    <a:pt x="467714" y="29210"/>
                    <a:pt x="434216" y="29210"/>
                  </a:cubicBezTo>
                  <a:cubicBezTo>
                    <a:pt x="379626" y="29210"/>
                    <a:pt x="325035" y="26670"/>
                    <a:pt x="270445" y="33020"/>
                  </a:cubicBezTo>
                  <a:cubicBezTo>
                    <a:pt x="241909" y="36830"/>
                    <a:pt x="214614" y="36830"/>
                    <a:pt x="187319" y="38100"/>
                  </a:cubicBezTo>
                  <a:cubicBezTo>
                    <a:pt x="140173" y="41910"/>
                    <a:pt x="93027" y="45720"/>
                    <a:pt x="45880" y="50800"/>
                  </a:cubicBezTo>
                  <a:cubicBezTo>
                    <a:pt x="33235" y="50800"/>
                    <a:pt x="30695" y="52195"/>
                    <a:pt x="29425" y="54805"/>
                  </a:cubicBezTo>
                  <a:cubicBezTo>
                    <a:pt x="28155" y="58720"/>
                    <a:pt x="28155" y="62635"/>
                    <a:pt x="26885" y="66550"/>
                  </a:cubicBezTo>
                  <a:cubicBezTo>
                    <a:pt x="25615" y="73076"/>
                    <a:pt x="23075" y="79384"/>
                    <a:pt x="21805" y="85909"/>
                  </a:cubicBezTo>
                  <a:cubicBezTo>
                    <a:pt x="16725" y="92869"/>
                    <a:pt x="23075" y="262964"/>
                    <a:pt x="25615" y="269924"/>
                  </a:cubicBezTo>
                  <a:cubicBezTo>
                    <a:pt x="25615" y="277319"/>
                    <a:pt x="25615" y="284932"/>
                    <a:pt x="26885" y="292328"/>
                  </a:cubicBezTo>
                  <a:cubicBezTo>
                    <a:pt x="26885" y="297766"/>
                    <a:pt x="29425" y="303203"/>
                    <a:pt x="29425" y="308641"/>
                  </a:cubicBezTo>
                  <a:cubicBezTo>
                    <a:pt x="29425" y="314514"/>
                    <a:pt x="29425" y="320387"/>
                    <a:pt x="28155" y="327792"/>
                  </a:cubicBezTo>
                  <a:lnTo>
                    <a:pt x="28155" y="337952"/>
                  </a:lnTo>
                  <a:cubicBezTo>
                    <a:pt x="28155" y="348112"/>
                    <a:pt x="31965" y="351922"/>
                    <a:pt x="40855" y="351922"/>
                  </a:cubicBezTo>
                  <a:cubicBezTo>
                    <a:pt x="57047" y="351922"/>
                    <a:pt x="74416" y="353192"/>
                    <a:pt x="90545" y="353192"/>
                  </a:cubicBezTo>
                  <a:cubicBezTo>
                    <a:pt x="114118" y="353192"/>
                    <a:pt x="138932" y="350652"/>
                    <a:pt x="162505" y="353192"/>
                  </a:cubicBezTo>
                  <a:cubicBezTo>
                    <a:pt x="200967" y="357002"/>
                    <a:pt x="239428" y="359542"/>
                    <a:pt x="277889" y="358272"/>
                  </a:cubicBezTo>
                  <a:cubicBezTo>
                    <a:pt x="302703" y="357002"/>
                    <a:pt x="326276" y="359542"/>
                    <a:pt x="351090" y="359542"/>
                  </a:cubicBezTo>
                  <a:cubicBezTo>
                    <a:pt x="387070" y="359542"/>
                    <a:pt x="423050" y="358272"/>
                    <a:pt x="459030" y="359542"/>
                  </a:cubicBezTo>
                  <a:cubicBezTo>
                    <a:pt x="512379" y="360812"/>
                    <a:pt x="1097984" y="350652"/>
                    <a:pt x="1152575" y="353192"/>
                  </a:cubicBezTo>
                  <a:cubicBezTo>
                    <a:pt x="1176148" y="354462"/>
                    <a:pt x="1199721" y="355733"/>
                    <a:pt x="1222053" y="355733"/>
                  </a:cubicBezTo>
                  <a:cubicBezTo>
                    <a:pt x="1262996" y="358272"/>
                    <a:pt x="1302698" y="354462"/>
                    <a:pt x="1343641" y="358272"/>
                  </a:cubicBezTo>
                  <a:cubicBezTo>
                    <a:pt x="1377139" y="360812"/>
                    <a:pt x="1410638" y="360812"/>
                    <a:pt x="1444136" y="363352"/>
                  </a:cubicBezTo>
                  <a:cubicBezTo>
                    <a:pt x="1493764" y="367162"/>
                    <a:pt x="1543391" y="369702"/>
                    <a:pt x="1593019" y="370972"/>
                  </a:cubicBezTo>
                  <a:cubicBezTo>
                    <a:pt x="1611753" y="370972"/>
                    <a:pt x="1629533" y="369702"/>
                    <a:pt x="1649853" y="369702"/>
                  </a:cubicBezTo>
                  <a:close/>
                </a:path>
              </a:pathLst>
            </a:custGeom>
            <a:solidFill>
              <a:srgbClr val="242424"/>
            </a:solidFill>
          </p:spPr>
        </p:sp>
      </p:grpSp>
      <p:sp>
        <p:nvSpPr>
          <p:cNvPr name="Freeform 53" id="53"/>
          <p:cNvSpPr/>
          <p:nvPr/>
        </p:nvSpPr>
        <p:spPr>
          <a:xfrm flipH="false" flipV="false" rot="-10800000">
            <a:off x="17005175" y="6572384"/>
            <a:ext cx="1225928" cy="853692"/>
          </a:xfrm>
          <a:custGeom>
            <a:avLst/>
            <a:gdLst/>
            <a:ahLst/>
            <a:cxnLst/>
            <a:rect r="r" b="b" t="t" l="l"/>
            <a:pathLst>
              <a:path h="853692" w="1225928">
                <a:moveTo>
                  <a:pt x="0" y="0"/>
                </a:moveTo>
                <a:lnTo>
                  <a:pt x="1225929" y="0"/>
                </a:lnTo>
                <a:lnTo>
                  <a:pt x="1225929" y="853692"/>
                </a:lnTo>
                <a:lnTo>
                  <a:pt x="0" y="85369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54" id="54"/>
          <p:cNvSpPr/>
          <p:nvPr/>
        </p:nvSpPr>
        <p:spPr>
          <a:xfrm flipH="false" flipV="false" rot="-387364">
            <a:off x="287278" y="2069161"/>
            <a:ext cx="1328234" cy="1707431"/>
          </a:xfrm>
          <a:custGeom>
            <a:avLst/>
            <a:gdLst/>
            <a:ahLst/>
            <a:cxnLst/>
            <a:rect r="r" b="b" t="t" l="l"/>
            <a:pathLst>
              <a:path h="1707431" w="1328234">
                <a:moveTo>
                  <a:pt x="0" y="0"/>
                </a:moveTo>
                <a:lnTo>
                  <a:pt x="1328233" y="0"/>
                </a:lnTo>
                <a:lnTo>
                  <a:pt x="1328233" y="1707432"/>
                </a:lnTo>
                <a:lnTo>
                  <a:pt x="0" y="170743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55" id="55"/>
          <p:cNvSpPr/>
          <p:nvPr/>
        </p:nvSpPr>
        <p:spPr>
          <a:xfrm flipH="false" flipV="false" rot="0">
            <a:off x="8506658" y="2132681"/>
            <a:ext cx="1471015" cy="1298171"/>
          </a:xfrm>
          <a:custGeom>
            <a:avLst/>
            <a:gdLst/>
            <a:ahLst/>
            <a:cxnLst/>
            <a:rect r="r" b="b" t="t" l="l"/>
            <a:pathLst>
              <a:path h="1298171" w="1471015">
                <a:moveTo>
                  <a:pt x="0" y="0"/>
                </a:moveTo>
                <a:lnTo>
                  <a:pt x="1471016" y="0"/>
                </a:lnTo>
                <a:lnTo>
                  <a:pt x="1471016" y="1298171"/>
                </a:lnTo>
                <a:lnTo>
                  <a:pt x="0" y="1298171"/>
                </a:lnTo>
                <a:lnTo>
                  <a:pt x="0" y="0"/>
                </a:lnTo>
                <a:close/>
              </a:path>
            </a:pathLst>
          </a:custGeom>
          <a:blipFill>
            <a:blip r:embed="rId24"/>
            <a:stretch>
              <a:fillRect l="0" t="0" r="0" b="0"/>
            </a:stretch>
          </a:blipFill>
        </p:spPr>
      </p:sp>
      <p:sp>
        <p:nvSpPr>
          <p:cNvPr name="TextBox 56" id="56"/>
          <p:cNvSpPr txBox="true"/>
          <p:nvPr/>
        </p:nvSpPr>
        <p:spPr>
          <a:xfrm rot="0">
            <a:off x="7449488" y="4406622"/>
            <a:ext cx="3585356" cy="2134301"/>
          </a:xfrm>
          <a:prstGeom prst="rect">
            <a:avLst/>
          </a:prstGeom>
        </p:spPr>
        <p:txBody>
          <a:bodyPr anchor="t" rtlCol="false" tIns="0" lIns="0" bIns="0" rIns="0">
            <a:spAutoFit/>
          </a:bodyPr>
          <a:lstStyle/>
          <a:p>
            <a:pPr algn="ctr">
              <a:lnSpc>
                <a:spcPts val="5303"/>
              </a:lnSpc>
            </a:pPr>
            <a:r>
              <a:rPr lang="en-US" sz="5412" spc="270">
                <a:solidFill>
                  <a:srgbClr val="242424"/>
                </a:solidFill>
                <a:latin typeface="Ballpoint"/>
                <a:ea typeface="Ballpoint"/>
                <a:cs typeface="Ballpoint"/>
                <a:sym typeface="Ballpoint"/>
              </a:rPr>
              <a:t>RUMUSAN MASALAH</a:t>
            </a:r>
          </a:p>
          <a:p>
            <a:pPr algn="ctr">
              <a:lnSpc>
                <a:spcPts val="5303"/>
              </a:lnSpc>
            </a:pPr>
          </a:p>
        </p:txBody>
      </p:sp>
      <p:sp>
        <p:nvSpPr>
          <p:cNvPr name="TextBox 57" id="57"/>
          <p:cNvSpPr txBox="true"/>
          <p:nvPr/>
        </p:nvSpPr>
        <p:spPr>
          <a:xfrm rot="0">
            <a:off x="926596" y="976465"/>
            <a:ext cx="5287799" cy="1078797"/>
          </a:xfrm>
          <a:prstGeom prst="rect">
            <a:avLst/>
          </a:prstGeom>
        </p:spPr>
        <p:txBody>
          <a:bodyPr anchor="t" rtlCol="false" tIns="0" lIns="0" bIns="0" rIns="0">
            <a:spAutoFit/>
          </a:bodyPr>
          <a:lstStyle/>
          <a:p>
            <a:pPr algn="ctr" marL="0" indent="0" lvl="0">
              <a:lnSpc>
                <a:spcPts val="4325"/>
              </a:lnSpc>
              <a:spcBef>
                <a:spcPct val="0"/>
              </a:spcBef>
            </a:pPr>
            <a:r>
              <a:rPr lang="en-US" b="true" sz="3089">
                <a:solidFill>
                  <a:srgbClr val="083698"/>
                </a:solidFill>
                <a:latin typeface="Montaser Arabic Bold"/>
                <a:ea typeface="Montaser Arabic Bold"/>
                <a:cs typeface="Montaser Arabic Bold"/>
                <a:sym typeface="Montaser Arabic Bold"/>
              </a:rPr>
              <a:t>Objektivi</a:t>
            </a:r>
            <a:r>
              <a:rPr lang="en-US" b="true" sz="3089" strike="noStrike" u="none">
                <a:solidFill>
                  <a:srgbClr val="083698"/>
                </a:solidFill>
                <a:latin typeface="Montaser Arabic Bold"/>
                <a:ea typeface="Montaser Arabic Bold"/>
                <a:cs typeface="Montaser Arabic Bold"/>
                <a:sym typeface="Montaser Arabic Bold"/>
              </a:rPr>
              <a:t>ta</a:t>
            </a:r>
            <a:r>
              <a:rPr lang="en-US" b="true" sz="3089" strike="noStrike" u="none">
                <a:solidFill>
                  <a:srgbClr val="083698"/>
                </a:solidFill>
                <a:latin typeface="Montaser Arabic Bold"/>
                <a:ea typeface="Montaser Arabic Bold"/>
                <a:cs typeface="Montaser Arabic Bold"/>
                <a:sym typeface="Montaser Arabic Bold"/>
              </a:rPr>
              <a:t>s</a:t>
            </a:r>
            <a:r>
              <a:rPr lang="en-US" b="true" sz="3089" strike="noStrike" u="none">
                <a:solidFill>
                  <a:srgbClr val="083698"/>
                </a:solidFill>
                <a:latin typeface="Montaser Arabic Bold"/>
                <a:ea typeface="Montaser Arabic Bold"/>
                <a:cs typeface="Montaser Arabic Bold"/>
                <a:sym typeface="Montaser Arabic Bold"/>
              </a:rPr>
              <a:t> </a:t>
            </a:r>
            <a:r>
              <a:rPr lang="en-US" b="true" sz="3089" strike="noStrike" u="none">
                <a:solidFill>
                  <a:srgbClr val="083698"/>
                </a:solidFill>
                <a:latin typeface="Montaser Arabic Bold"/>
                <a:ea typeface="Montaser Arabic Bold"/>
                <a:cs typeface="Montaser Arabic Bold"/>
                <a:sym typeface="Montaser Arabic Bold"/>
              </a:rPr>
              <a:t>P</a:t>
            </a:r>
            <a:r>
              <a:rPr lang="en-US" b="true" sz="3089" strike="noStrike" u="none">
                <a:solidFill>
                  <a:srgbClr val="083698"/>
                </a:solidFill>
                <a:latin typeface="Montaser Arabic Bold"/>
                <a:ea typeface="Montaser Arabic Bold"/>
                <a:cs typeface="Montaser Arabic Bold"/>
                <a:sym typeface="Montaser Arabic Bold"/>
              </a:rPr>
              <a:t>e</a:t>
            </a:r>
            <a:r>
              <a:rPr lang="en-US" b="true" sz="3089" strike="noStrike" u="none">
                <a:solidFill>
                  <a:srgbClr val="083698"/>
                </a:solidFill>
                <a:latin typeface="Montaser Arabic Bold"/>
                <a:ea typeface="Montaser Arabic Bold"/>
                <a:cs typeface="Montaser Arabic Bold"/>
                <a:sym typeface="Montaser Arabic Bold"/>
              </a:rPr>
              <a:t>ni</a:t>
            </a:r>
            <a:r>
              <a:rPr lang="en-US" b="true" sz="3089" strike="noStrike" u="none">
                <a:solidFill>
                  <a:srgbClr val="083698"/>
                </a:solidFill>
                <a:latin typeface="Montaser Arabic Bold"/>
                <a:ea typeface="Montaser Arabic Bold"/>
                <a:cs typeface="Montaser Arabic Bold"/>
                <a:sym typeface="Montaser Arabic Bold"/>
              </a:rPr>
              <a:t>la</a:t>
            </a:r>
            <a:r>
              <a:rPr lang="en-US" b="true" sz="3089" strike="noStrike" u="none">
                <a:solidFill>
                  <a:srgbClr val="083698"/>
                </a:solidFill>
                <a:latin typeface="Montaser Arabic Bold"/>
                <a:ea typeface="Montaser Arabic Bold"/>
                <a:cs typeface="Montaser Arabic Bold"/>
                <a:sym typeface="Montaser Arabic Bold"/>
              </a:rPr>
              <a:t>i</a:t>
            </a:r>
            <a:r>
              <a:rPr lang="en-US" b="true" sz="3089" strike="noStrike" u="none">
                <a:solidFill>
                  <a:srgbClr val="083698"/>
                </a:solidFill>
                <a:latin typeface="Montaser Arabic Bold"/>
                <a:ea typeface="Montaser Arabic Bold"/>
                <a:cs typeface="Montaser Arabic Bold"/>
                <a:sym typeface="Montaser Arabic Bold"/>
              </a:rPr>
              <a:t>an </a:t>
            </a:r>
            <a:r>
              <a:rPr lang="en-US" b="true" sz="3089" strike="noStrike" u="none">
                <a:solidFill>
                  <a:srgbClr val="083698"/>
                </a:solidFill>
                <a:latin typeface="Montaser Arabic Bold"/>
                <a:ea typeface="Montaser Arabic Bold"/>
                <a:cs typeface="Montaser Arabic Bold"/>
                <a:sym typeface="Montaser Arabic Bold"/>
              </a:rPr>
              <a:t>Lem</a:t>
            </a:r>
            <a:r>
              <a:rPr lang="en-US" b="true" sz="3089" strike="noStrike" u="none">
                <a:solidFill>
                  <a:srgbClr val="083698"/>
                </a:solidFill>
                <a:latin typeface="Montaser Arabic Bold"/>
                <a:ea typeface="Montaser Arabic Bold"/>
                <a:cs typeface="Montaser Arabic Bold"/>
                <a:sym typeface="Montaser Arabic Bold"/>
              </a:rPr>
              <a:t>ah</a:t>
            </a:r>
          </a:p>
        </p:txBody>
      </p:sp>
      <p:sp>
        <p:nvSpPr>
          <p:cNvPr name="TextBox 58" id="58"/>
          <p:cNvSpPr txBox="true"/>
          <p:nvPr/>
        </p:nvSpPr>
        <p:spPr>
          <a:xfrm rot="0">
            <a:off x="12127167" y="1253867"/>
            <a:ext cx="5132133" cy="523992"/>
          </a:xfrm>
          <a:prstGeom prst="rect">
            <a:avLst/>
          </a:prstGeom>
        </p:spPr>
        <p:txBody>
          <a:bodyPr anchor="t" rtlCol="false" tIns="0" lIns="0" bIns="0" rIns="0">
            <a:spAutoFit/>
          </a:bodyPr>
          <a:lstStyle/>
          <a:p>
            <a:pPr algn="ctr" marL="0" indent="0" lvl="0">
              <a:lnSpc>
                <a:spcPts val="4325"/>
              </a:lnSpc>
              <a:spcBef>
                <a:spcPct val="0"/>
              </a:spcBef>
            </a:pPr>
            <a:r>
              <a:rPr lang="en-US" b="true" sz="3089">
                <a:solidFill>
                  <a:srgbClr val="083698"/>
                </a:solidFill>
                <a:latin typeface="Montaser Arabic Bold"/>
                <a:ea typeface="Montaser Arabic Bold"/>
                <a:cs typeface="Montaser Arabic Bold"/>
                <a:sym typeface="Montaser Arabic Bold"/>
              </a:rPr>
              <a:t>Motivasi ASN M</a:t>
            </a:r>
            <a:r>
              <a:rPr lang="en-US" b="true" sz="3089" strike="noStrike" u="none">
                <a:solidFill>
                  <a:srgbClr val="083698"/>
                </a:solidFill>
                <a:latin typeface="Montaser Arabic Bold"/>
                <a:ea typeface="Montaser Arabic Bold"/>
                <a:cs typeface="Montaser Arabic Bold"/>
                <a:sym typeface="Montaser Arabic Bold"/>
              </a:rPr>
              <a:t>e</a:t>
            </a:r>
            <a:r>
              <a:rPr lang="en-US" b="true" sz="3089" strike="noStrike" u="none">
                <a:solidFill>
                  <a:srgbClr val="083698"/>
                </a:solidFill>
                <a:latin typeface="Montaser Arabic Bold"/>
                <a:ea typeface="Montaser Arabic Bold"/>
                <a:cs typeface="Montaser Arabic Bold"/>
                <a:sym typeface="Montaser Arabic Bold"/>
              </a:rPr>
              <a:t>nur</a:t>
            </a:r>
            <a:r>
              <a:rPr lang="en-US" b="true" sz="3089" strike="noStrike" u="none">
                <a:solidFill>
                  <a:srgbClr val="083698"/>
                </a:solidFill>
                <a:latin typeface="Montaser Arabic Bold"/>
                <a:ea typeface="Montaser Arabic Bold"/>
                <a:cs typeface="Montaser Arabic Bold"/>
                <a:sym typeface="Montaser Arabic Bold"/>
              </a:rPr>
              <a:t>un</a:t>
            </a:r>
          </a:p>
        </p:txBody>
      </p:sp>
      <p:sp>
        <p:nvSpPr>
          <p:cNvPr name="TextBox 59" id="59"/>
          <p:cNvSpPr txBox="true"/>
          <p:nvPr/>
        </p:nvSpPr>
        <p:spPr>
          <a:xfrm rot="0">
            <a:off x="855674" y="4271394"/>
            <a:ext cx="5371207" cy="1059783"/>
          </a:xfrm>
          <a:prstGeom prst="rect">
            <a:avLst/>
          </a:prstGeom>
        </p:spPr>
        <p:txBody>
          <a:bodyPr anchor="t" rtlCol="false" tIns="0" lIns="0" bIns="0" rIns="0">
            <a:spAutoFit/>
          </a:bodyPr>
          <a:lstStyle/>
          <a:p>
            <a:pPr algn="ctr" marL="0" indent="0" lvl="0">
              <a:lnSpc>
                <a:spcPts val="4325"/>
              </a:lnSpc>
              <a:spcBef>
                <a:spcPct val="0"/>
              </a:spcBef>
            </a:pPr>
            <a:r>
              <a:rPr lang="en-US" b="true" sz="3089" strike="noStrike" u="none">
                <a:solidFill>
                  <a:srgbClr val="083698"/>
                </a:solidFill>
                <a:latin typeface="Montaser Arabic Bold"/>
                <a:ea typeface="Montaser Arabic Bold"/>
                <a:cs typeface="Montaser Arabic Bold"/>
                <a:sym typeface="Montaser Arabic Bold"/>
              </a:rPr>
              <a:t> Sistem Merit Belum Terintegrasi Nasional</a:t>
            </a:r>
          </a:p>
        </p:txBody>
      </p:sp>
      <p:sp>
        <p:nvSpPr>
          <p:cNvPr name="TextBox 60" id="60"/>
          <p:cNvSpPr txBox="true"/>
          <p:nvPr/>
        </p:nvSpPr>
        <p:spPr>
          <a:xfrm rot="0">
            <a:off x="12801766" y="4457846"/>
            <a:ext cx="4505918" cy="1059783"/>
          </a:xfrm>
          <a:prstGeom prst="rect">
            <a:avLst/>
          </a:prstGeom>
        </p:spPr>
        <p:txBody>
          <a:bodyPr anchor="t" rtlCol="false" tIns="0" lIns="0" bIns="0" rIns="0">
            <a:spAutoFit/>
          </a:bodyPr>
          <a:lstStyle/>
          <a:p>
            <a:pPr algn="ctr" marL="0" indent="0" lvl="0">
              <a:lnSpc>
                <a:spcPts val="4325"/>
              </a:lnSpc>
              <a:spcBef>
                <a:spcPct val="0"/>
              </a:spcBef>
            </a:pPr>
            <a:r>
              <a:rPr lang="en-US" b="true" sz="3089">
                <a:solidFill>
                  <a:srgbClr val="083698"/>
                </a:solidFill>
                <a:latin typeface="Montaser Arabic Bold"/>
                <a:ea typeface="Montaser Arabic Bold"/>
                <a:cs typeface="Montaser Arabic Bold"/>
                <a:sym typeface="Montaser Arabic Bold"/>
              </a:rPr>
              <a:t>P</a:t>
            </a:r>
            <a:r>
              <a:rPr lang="en-US" b="true" sz="3089" strike="noStrike" u="none">
                <a:solidFill>
                  <a:srgbClr val="083698"/>
                </a:solidFill>
                <a:latin typeface="Montaser Arabic Bold"/>
                <a:ea typeface="Montaser Arabic Bold"/>
                <a:cs typeface="Montaser Arabic Bold"/>
                <a:sym typeface="Montaser Arabic Bold"/>
              </a:rPr>
              <a:t>e</a:t>
            </a:r>
            <a:r>
              <a:rPr lang="en-US" b="true" sz="3089" strike="noStrike" u="none">
                <a:solidFill>
                  <a:srgbClr val="083698"/>
                </a:solidFill>
                <a:latin typeface="Montaser Arabic Bold"/>
                <a:ea typeface="Montaser Arabic Bold"/>
                <a:cs typeface="Montaser Arabic Bold"/>
                <a:sym typeface="Montaser Arabic Bold"/>
              </a:rPr>
              <a:t>r</a:t>
            </a:r>
            <a:r>
              <a:rPr lang="en-US" b="true" sz="3089" strike="noStrike" u="none">
                <a:solidFill>
                  <a:srgbClr val="083698"/>
                </a:solidFill>
                <a:latin typeface="Montaser Arabic Bold"/>
                <a:ea typeface="Montaser Arabic Bold"/>
                <a:cs typeface="Montaser Arabic Bold"/>
                <a:sym typeface="Montaser Arabic Bold"/>
              </a:rPr>
              <a:t>s</a:t>
            </a:r>
            <a:r>
              <a:rPr lang="en-US" b="true" sz="3089" strike="noStrike" u="none">
                <a:solidFill>
                  <a:srgbClr val="083698"/>
                </a:solidFill>
                <a:latin typeface="Montaser Arabic Bold"/>
                <a:ea typeface="Montaser Arabic Bold"/>
                <a:cs typeface="Montaser Arabic Bold"/>
                <a:sym typeface="Montaser Arabic Bold"/>
              </a:rPr>
              <a:t>e</a:t>
            </a:r>
            <a:r>
              <a:rPr lang="en-US" b="true" sz="3089" strike="noStrike" u="none">
                <a:solidFill>
                  <a:srgbClr val="083698"/>
                </a:solidFill>
                <a:latin typeface="Montaser Arabic Bold"/>
                <a:ea typeface="Montaser Arabic Bold"/>
                <a:cs typeface="Montaser Arabic Bold"/>
                <a:sym typeface="Montaser Arabic Bold"/>
              </a:rPr>
              <a:t>p</a:t>
            </a:r>
            <a:r>
              <a:rPr lang="en-US" b="true" sz="3089" strike="noStrike" u="none">
                <a:solidFill>
                  <a:srgbClr val="083698"/>
                </a:solidFill>
                <a:latin typeface="Montaser Arabic Bold"/>
                <a:ea typeface="Montaser Arabic Bold"/>
                <a:cs typeface="Montaser Arabic Bold"/>
                <a:sym typeface="Montaser Arabic Bold"/>
              </a:rPr>
              <a:t>si P</a:t>
            </a:r>
            <a:r>
              <a:rPr lang="en-US" b="true" sz="3089" strike="noStrike" u="none">
                <a:solidFill>
                  <a:srgbClr val="083698"/>
                </a:solidFill>
                <a:latin typeface="Montaser Arabic Bold"/>
                <a:ea typeface="Montaser Arabic Bold"/>
                <a:cs typeface="Montaser Arabic Bold"/>
                <a:sym typeface="Montaser Arabic Bold"/>
              </a:rPr>
              <a:t>u</a:t>
            </a:r>
            <a:r>
              <a:rPr lang="en-US" b="true" sz="3089" strike="noStrike" u="none">
                <a:solidFill>
                  <a:srgbClr val="083698"/>
                </a:solidFill>
                <a:latin typeface="Montaser Arabic Bold"/>
                <a:ea typeface="Montaser Arabic Bold"/>
                <a:cs typeface="Montaser Arabic Bold"/>
                <a:sym typeface="Montaser Arabic Bold"/>
              </a:rPr>
              <a:t>b</a:t>
            </a:r>
            <a:r>
              <a:rPr lang="en-US" b="true" sz="3089" strike="noStrike" u="none">
                <a:solidFill>
                  <a:srgbClr val="083698"/>
                </a:solidFill>
                <a:latin typeface="Montaser Arabic Bold"/>
                <a:ea typeface="Montaser Arabic Bold"/>
                <a:cs typeface="Montaser Arabic Bold"/>
                <a:sym typeface="Montaser Arabic Bold"/>
              </a:rPr>
              <a:t>l</a:t>
            </a:r>
            <a:r>
              <a:rPr lang="en-US" b="true" sz="3089" strike="noStrike" u="none">
                <a:solidFill>
                  <a:srgbClr val="083698"/>
                </a:solidFill>
                <a:latin typeface="Montaser Arabic Bold"/>
                <a:ea typeface="Montaser Arabic Bold"/>
                <a:cs typeface="Montaser Arabic Bold"/>
                <a:sym typeface="Montaser Arabic Bold"/>
              </a:rPr>
              <a:t>ik M</a:t>
            </a:r>
            <a:r>
              <a:rPr lang="en-US" b="true" sz="3089" strike="noStrike" u="none">
                <a:solidFill>
                  <a:srgbClr val="083698"/>
                </a:solidFill>
                <a:latin typeface="Montaser Arabic Bold"/>
                <a:ea typeface="Montaser Arabic Bold"/>
                <a:cs typeface="Montaser Arabic Bold"/>
                <a:sym typeface="Montaser Arabic Bold"/>
              </a:rPr>
              <a:t>a</a:t>
            </a:r>
            <a:r>
              <a:rPr lang="en-US" b="true" sz="3089" strike="noStrike" u="none">
                <a:solidFill>
                  <a:srgbClr val="083698"/>
                </a:solidFill>
                <a:latin typeface="Montaser Arabic Bold"/>
                <a:ea typeface="Montaser Arabic Bold"/>
                <a:cs typeface="Montaser Arabic Bold"/>
                <a:sym typeface="Montaser Arabic Bold"/>
              </a:rPr>
              <a:t>sih Re</a:t>
            </a:r>
            <a:r>
              <a:rPr lang="en-US" b="true" sz="3089" strike="noStrike" u="none">
                <a:solidFill>
                  <a:srgbClr val="083698"/>
                </a:solidFill>
                <a:latin typeface="Montaser Arabic Bold"/>
                <a:ea typeface="Montaser Arabic Bold"/>
                <a:cs typeface="Montaser Arabic Bold"/>
                <a:sym typeface="Montaser Arabic Bold"/>
              </a:rPr>
              <a:t>n</a:t>
            </a:r>
            <a:r>
              <a:rPr lang="en-US" b="true" sz="3089" strike="noStrike" u="none">
                <a:solidFill>
                  <a:srgbClr val="083698"/>
                </a:solidFill>
                <a:latin typeface="Montaser Arabic Bold"/>
                <a:ea typeface="Montaser Arabic Bold"/>
                <a:cs typeface="Montaser Arabic Bold"/>
                <a:sym typeface="Montaser Arabic Bold"/>
              </a:rPr>
              <a:t>dah</a:t>
            </a:r>
          </a:p>
        </p:txBody>
      </p:sp>
      <p:sp>
        <p:nvSpPr>
          <p:cNvPr name="TextBox 61" id="61"/>
          <p:cNvSpPr txBox="true"/>
          <p:nvPr/>
        </p:nvSpPr>
        <p:spPr>
          <a:xfrm rot="0">
            <a:off x="511387" y="7759509"/>
            <a:ext cx="6059781" cy="1059783"/>
          </a:xfrm>
          <a:prstGeom prst="rect">
            <a:avLst/>
          </a:prstGeom>
        </p:spPr>
        <p:txBody>
          <a:bodyPr anchor="t" rtlCol="false" tIns="0" lIns="0" bIns="0" rIns="0">
            <a:spAutoFit/>
          </a:bodyPr>
          <a:lstStyle/>
          <a:p>
            <a:pPr algn="ctr" marL="0" indent="0" lvl="0">
              <a:lnSpc>
                <a:spcPts val="4325"/>
              </a:lnSpc>
              <a:spcBef>
                <a:spcPct val="0"/>
              </a:spcBef>
            </a:pPr>
            <a:r>
              <a:rPr lang="en-US" b="true" sz="3089">
                <a:solidFill>
                  <a:srgbClr val="083698"/>
                </a:solidFill>
                <a:latin typeface="Montaser Arabic Bold"/>
                <a:ea typeface="Montaser Arabic Bold"/>
                <a:cs typeface="Montaser Arabic Bold"/>
                <a:sym typeface="Montaser Arabic Bold"/>
              </a:rPr>
              <a:t> In</a:t>
            </a:r>
            <a:r>
              <a:rPr lang="en-US" b="true" sz="3089" strike="noStrike" u="none">
                <a:solidFill>
                  <a:srgbClr val="083698"/>
                </a:solidFill>
                <a:latin typeface="Montaser Arabic Bold"/>
                <a:ea typeface="Montaser Arabic Bold"/>
                <a:cs typeface="Montaser Arabic Bold"/>
                <a:sym typeface="Montaser Arabic Bold"/>
              </a:rPr>
              <a:t>d</a:t>
            </a:r>
            <a:r>
              <a:rPr lang="en-US" b="true" sz="3089" strike="noStrike" u="none">
                <a:solidFill>
                  <a:srgbClr val="083698"/>
                </a:solidFill>
                <a:latin typeface="Montaser Arabic Bold"/>
                <a:ea typeface="Montaser Arabic Bold"/>
                <a:cs typeface="Montaser Arabic Bold"/>
                <a:sym typeface="Montaser Arabic Bold"/>
              </a:rPr>
              <a:t>eks</a:t>
            </a:r>
            <a:r>
              <a:rPr lang="en-US" b="true" sz="3089" strike="noStrike" u="none">
                <a:solidFill>
                  <a:srgbClr val="083698"/>
                </a:solidFill>
                <a:latin typeface="Montaser Arabic Bold"/>
                <a:ea typeface="Montaser Arabic Bold"/>
                <a:cs typeface="Montaser Arabic Bold"/>
                <a:sym typeface="Montaser Arabic Bold"/>
              </a:rPr>
              <a:t> P</a:t>
            </a:r>
            <a:r>
              <a:rPr lang="en-US" b="true" sz="3089" strike="noStrike" u="none">
                <a:solidFill>
                  <a:srgbClr val="083698"/>
                </a:solidFill>
                <a:latin typeface="Montaser Arabic Bold"/>
                <a:ea typeface="Montaser Arabic Bold"/>
                <a:cs typeface="Montaser Arabic Bold"/>
                <a:sym typeface="Montaser Arabic Bold"/>
              </a:rPr>
              <a:t>rof</a:t>
            </a:r>
            <a:r>
              <a:rPr lang="en-US" b="true" sz="3089" strike="noStrike" u="none">
                <a:solidFill>
                  <a:srgbClr val="083698"/>
                </a:solidFill>
                <a:latin typeface="Montaser Arabic Bold"/>
                <a:ea typeface="Montaser Arabic Bold"/>
                <a:cs typeface="Montaser Arabic Bold"/>
                <a:sym typeface="Montaser Arabic Bold"/>
              </a:rPr>
              <a:t>e</a:t>
            </a:r>
            <a:r>
              <a:rPr lang="en-US" b="true" sz="3089" strike="noStrike" u="none">
                <a:solidFill>
                  <a:srgbClr val="083698"/>
                </a:solidFill>
                <a:latin typeface="Montaser Arabic Bold"/>
                <a:ea typeface="Montaser Arabic Bold"/>
                <a:cs typeface="Montaser Arabic Bold"/>
                <a:sym typeface="Montaser Arabic Bold"/>
              </a:rPr>
              <a:t>sio</a:t>
            </a:r>
            <a:r>
              <a:rPr lang="en-US" b="true" sz="3089" strike="noStrike" u="none">
                <a:solidFill>
                  <a:srgbClr val="083698"/>
                </a:solidFill>
                <a:latin typeface="Montaser Arabic Bold"/>
                <a:ea typeface="Montaser Arabic Bold"/>
                <a:cs typeface="Montaser Arabic Bold"/>
                <a:sym typeface="Montaser Arabic Bold"/>
              </a:rPr>
              <a:t>n</a:t>
            </a:r>
            <a:r>
              <a:rPr lang="en-US" b="true" sz="3089" strike="noStrike" u="none">
                <a:solidFill>
                  <a:srgbClr val="083698"/>
                </a:solidFill>
                <a:latin typeface="Montaser Arabic Bold"/>
                <a:ea typeface="Montaser Arabic Bold"/>
                <a:cs typeface="Montaser Arabic Bold"/>
                <a:sym typeface="Montaser Arabic Bold"/>
              </a:rPr>
              <a:t>a</a:t>
            </a:r>
            <a:r>
              <a:rPr lang="en-US" b="true" sz="3089" strike="noStrike" u="none">
                <a:solidFill>
                  <a:srgbClr val="083698"/>
                </a:solidFill>
                <a:latin typeface="Montaser Arabic Bold"/>
                <a:ea typeface="Montaser Arabic Bold"/>
                <a:cs typeface="Montaser Arabic Bold"/>
                <a:sym typeface="Montaser Arabic Bold"/>
              </a:rPr>
              <a:t>lit</a:t>
            </a:r>
            <a:r>
              <a:rPr lang="en-US" b="true" sz="3089" strike="noStrike" u="none">
                <a:solidFill>
                  <a:srgbClr val="083698"/>
                </a:solidFill>
                <a:latin typeface="Montaser Arabic Bold"/>
                <a:ea typeface="Montaser Arabic Bold"/>
                <a:cs typeface="Montaser Arabic Bold"/>
                <a:sym typeface="Montaser Arabic Bold"/>
              </a:rPr>
              <a:t>as ASN Stagn</a:t>
            </a:r>
            <a:r>
              <a:rPr lang="en-US" b="true" sz="3089" strike="noStrike" u="none">
                <a:solidFill>
                  <a:srgbClr val="083698"/>
                </a:solidFill>
                <a:latin typeface="Montaser Arabic Bold"/>
                <a:ea typeface="Montaser Arabic Bold"/>
                <a:cs typeface="Montaser Arabic Bold"/>
                <a:sym typeface="Montaser Arabic Bold"/>
              </a:rPr>
              <a:t>an</a:t>
            </a:r>
          </a:p>
        </p:txBody>
      </p:sp>
      <p:sp>
        <p:nvSpPr>
          <p:cNvPr name="TextBox 62" id="62"/>
          <p:cNvSpPr txBox="true"/>
          <p:nvPr/>
        </p:nvSpPr>
        <p:spPr>
          <a:xfrm rot="0">
            <a:off x="13094647" y="7603668"/>
            <a:ext cx="4617427" cy="1059783"/>
          </a:xfrm>
          <a:prstGeom prst="rect">
            <a:avLst/>
          </a:prstGeom>
        </p:spPr>
        <p:txBody>
          <a:bodyPr anchor="t" rtlCol="false" tIns="0" lIns="0" bIns="0" rIns="0">
            <a:spAutoFit/>
          </a:bodyPr>
          <a:lstStyle/>
          <a:p>
            <a:pPr algn="ctr" marL="0" indent="0" lvl="0">
              <a:lnSpc>
                <a:spcPts val="4325"/>
              </a:lnSpc>
              <a:spcBef>
                <a:spcPct val="0"/>
              </a:spcBef>
            </a:pPr>
            <a:r>
              <a:rPr lang="en-US" b="true" sz="3089" strike="noStrike" u="none">
                <a:solidFill>
                  <a:srgbClr val="083698"/>
                </a:solidFill>
                <a:latin typeface="Montaser Arabic Bold"/>
                <a:ea typeface="Montaser Arabic Bold"/>
                <a:cs typeface="Montaser Arabic Bold"/>
                <a:sym typeface="Montaser Arabic Bold"/>
              </a:rPr>
              <a:t>K</a:t>
            </a:r>
            <a:r>
              <a:rPr lang="en-US" b="true" sz="3089" strike="noStrike" u="none">
                <a:solidFill>
                  <a:srgbClr val="083698"/>
                </a:solidFill>
                <a:latin typeface="Montaser Arabic Bold"/>
                <a:ea typeface="Montaser Arabic Bold"/>
                <a:cs typeface="Montaser Arabic Bold"/>
                <a:sym typeface="Montaser Arabic Bold"/>
              </a:rPr>
              <a:t>ualitas Data Kinerja Re</a:t>
            </a:r>
            <a:r>
              <a:rPr lang="en-US" b="true" sz="3089" strike="noStrike" u="none">
                <a:solidFill>
                  <a:srgbClr val="083698"/>
                </a:solidFill>
                <a:latin typeface="Montaser Arabic Bold"/>
                <a:ea typeface="Montaser Arabic Bold"/>
                <a:cs typeface="Montaser Arabic Bold"/>
                <a:sym typeface="Montaser Arabic Bold"/>
              </a:rPr>
              <a:t>nt</a:t>
            </a:r>
            <a:r>
              <a:rPr lang="en-US" b="true" sz="3089" strike="noStrike" u="none">
                <a:solidFill>
                  <a:srgbClr val="083698"/>
                </a:solidFill>
                <a:latin typeface="Montaser Arabic Bold"/>
                <a:ea typeface="Montaser Arabic Bold"/>
                <a:cs typeface="Montaser Arabic Bold"/>
                <a:sym typeface="Montaser Arabic Bold"/>
              </a:rPr>
              <a:t>an Man</a:t>
            </a:r>
            <a:r>
              <a:rPr lang="en-US" b="true" sz="3089" strike="noStrike" u="none">
                <a:solidFill>
                  <a:srgbClr val="083698"/>
                </a:solidFill>
                <a:latin typeface="Montaser Arabic Bold"/>
                <a:ea typeface="Montaser Arabic Bold"/>
                <a:cs typeface="Montaser Arabic Bold"/>
                <a:sym typeface="Montaser Arabic Bold"/>
              </a:rPr>
              <a:t>i</a:t>
            </a:r>
            <a:r>
              <a:rPr lang="en-US" b="true" sz="3089" strike="noStrike" u="none">
                <a:solidFill>
                  <a:srgbClr val="083698"/>
                </a:solidFill>
                <a:latin typeface="Montaser Arabic Bold"/>
                <a:ea typeface="Montaser Arabic Bold"/>
                <a:cs typeface="Montaser Arabic Bold"/>
                <a:sym typeface="Montaser Arabic Bold"/>
              </a:rPr>
              <a:t>p</a:t>
            </a:r>
            <a:r>
              <a:rPr lang="en-US" b="true" sz="3089" strike="noStrike" u="none">
                <a:solidFill>
                  <a:srgbClr val="083698"/>
                </a:solidFill>
                <a:latin typeface="Montaser Arabic Bold"/>
                <a:ea typeface="Montaser Arabic Bold"/>
                <a:cs typeface="Montaser Arabic Bold"/>
                <a:sym typeface="Montaser Arabic Bold"/>
              </a:rPr>
              <a:t>u</a:t>
            </a:r>
            <a:r>
              <a:rPr lang="en-US" b="true" sz="3089" strike="noStrike" u="none">
                <a:solidFill>
                  <a:srgbClr val="083698"/>
                </a:solidFill>
                <a:latin typeface="Montaser Arabic Bold"/>
                <a:ea typeface="Montaser Arabic Bold"/>
                <a:cs typeface="Montaser Arabic Bold"/>
                <a:sym typeface="Montaser Arabic Bold"/>
              </a:rPr>
              <a:t>la</a:t>
            </a:r>
            <a:r>
              <a:rPr lang="en-US" b="true" sz="3089" strike="noStrike" u="none">
                <a:solidFill>
                  <a:srgbClr val="083698"/>
                </a:solidFill>
                <a:latin typeface="Montaser Arabic Bold"/>
                <a:ea typeface="Montaser Arabic Bold"/>
                <a:cs typeface="Montaser Arabic Bold"/>
                <a:sym typeface="Montaser Arabic Bold"/>
              </a:rPr>
              <a:t>si</a:t>
            </a:r>
          </a:p>
        </p:txBody>
      </p:sp>
      <p:sp>
        <p:nvSpPr>
          <p:cNvPr name="TextBox 63" id="63"/>
          <p:cNvSpPr txBox="true"/>
          <p:nvPr/>
        </p:nvSpPr>
        <p:spPr>
          <a:xfrm rot="0">
            <a:off x="1162273" y="2317438"/>
            <a:ext cx="5688160" cy="399815"/>
          </a:xfrm>
          <a:prstGeom prst="rect">
            <a:avLst/>
          </a:prstGeom>
        </p:spPr>
        <p:txBody>
          <a:bodyPr anchor="t" rtlCol="false" tIns="0" lIns="0" bIns="0" rIns="0">
            <a:spAutoFit/>
          </a:bodyPr>
          <a:lstStyle/>
          <a:p>
            <a:pPr algn="just">
              <a:lnSpc>
                <a:spcPts val="3203"/>
              </a:lnSpc>
            </a:pPr>
            <a:r>
              <a:rPr lang="en-US" sz="2355" spc="58">
                <a:solidFill>
                  <a:srgbClr val="242424"/>
                </a:solidFill>
                <a:latin typeface="Montserrat"/>
                <a:ea typeface="Montserrat"/>
                <a:cs typeface="Montserrat"/>
                <a:sym typeface="Montserrat"/>
              </a:rPr>
              <a:t>(Jurnal Innovant Unesa, 2023)</a:t>
            </a:r>
          </a:p>
        </p:txBody>
      </p:sp>
      <p:sp>
        <p:nvSpPr>
          <p:cNvPr name="TextBox 64" id="64"/>
          <p:cNvSpPr txBox="true"/>
          <p:nvPr/>
        </p:nvSpPr>
        <p:spPr>
          <a:xfrm rot="0">
            <a:off x="1221563" y="5767139"/>
            <a:ext cx="5569579" cy="399815"/>
          </a:xfrm>
          <a:prstGeom prst="rect">
            <a:avLst/>
          </a:prstGeom>
        </p:spPr>
        <p:txBody>
          <a:bodyPr anchor="t" rtlCol="false" tIns="0" lIns="0" bIns="0" rIns="0">
            <a:spAutoFit/>
          </a:bodyPr>
          <a:lstStyle/>
          <a:p>
            <a:pPr algn="just" marL="0" indent="0" lvl="1">
              <a:lnSpc>
                <a:spcPts val="3203"/>
              </a:lnSpc>
              <a:spcBef>
                <a:spcPct val="0"/>
              </a:spcBef>
            </a:pPr>
            <a:r>
              <a:rPr lang="en-US" sz="2355" spc="58">
                <a:solidFill>
                  <a:srgbClr val="242424"/>
                </a:solidFill>
                <a:latin typeface="Montserrat"/>
                <a:ea typeface="Montserrat"/>
                <a:cs typeface="Montserrat"/>
                <a:sym typeface="Montserrat"/>
              </a:rPr>
              <a:t>(Pol</a:t>
            </a:r>
            <a:r>
              <a:rPr lang="en-US" sz="2355" spc="58" strike="noStrike" u="none">
                <a:solidFill>
                  <a:srgbClr val="242424"/>
                </a:solidFill>
                <a:latin typeface="Montserrat"/>
                <a:ea typeface="Montserrat"/>
                <a:cs typeface="Montserrat"/>
                <a:sym typeface="Montserrat"/>
              </a:rPr>
              <a:t>ic</a:t>
            </a:r>
            <a:r>
              <a:rPr lang="en-US" sz="2355" spc="58" strike="noStrike" u="none">
                <a:solidFill>
                  <a:srgbClr val="242424"/>
                </a:solidFill>
                <a:latin typeface="Montserrat"/>
                <a:ea typeface="Montserrat"/>
                <a:cs typeface="Montserrat"/>
                <a:sym typeface="Montserrat"/>
              </a:rPr>
              <a:t>y</a:t>
            </a:r>
            <a:r>
              <a:rPr lang="en-US" sz="2355" spc="58" strike="noStrike" u="none">
                <a:solidFill>
                  <a:srgbClr val="242424"/>
                </a:solidFill>
                <a:latin typeface="Montserrat"/>
                <a:ea typeface="Montserrat"/>
                <a:cs typeface="Montserrat"/>
                <a:sym typeface="Montserrat"/>
              </a:rPr>
              <a:t> B</a:t>
            </a:r>
            <a:r>
              <a:rPr lang="en-US" sz="2355" spc="58" strike="noStrike" u="none">
                <a:solidFill>
                  <a:srgbClr val="242424"/>
                </a:solidFill>
                <a:latin typeface="Montserrat"/>
                <a:ea typeface="Montserrat"/>
                <a:cs typeface="Montserrat"/>
                <a:sym typeface="Montserrat"/>
              </a:rPr>
              <a:t>r</a:t>
            </a:r>
            <a:r>
              <a:rPr lang="en-US" sz="2355" spc="58" strike="noStrike" u="none">
                <a:solidFill>
                  <a:srgbClr val="242424"/>
                </a:solidFill>
                <a:latin typeface="Montserrat"/>
                <a:ea typeface="Montserrat"/>
                <a:cs typeface="Montserrat"/>
                <a:sym typeface="Montserrat"/>
              </a:rPr>
              <a:t>ie</a:t>
            </a:r>
            <a:r>
              <a:rPr lang="en-US" sz="2355" spc="58" strike="noStrike" u="none">
                <a:solidFill>
                  <a:srgbClr val="242424"/>
                </a:solidFill>
                <a:latin typeface="Montserrat"/>
                <a:ea typeface="Montserrat"/>
                <a:cs typeface="Montserrat"/>
                <a:sym typeface="Montserrat"/>
              </a:rPr>
              <a:t>f</a:t>
            </a:r>
            <a:r>
              <a:rPr lang="en-US" sz="2355" spc="58" strike="noStrike" u="none">
                <a:solidFill>
                  <a:srgbClr val="242424"/>
                </a:solidFill>
                <a:latin typeface="Montserrat"/>
                <a:ea typeface="Montserrat"/>
                <a:cs typeface="Montserrat"/>
                <a:sym typeface="Montserrat"/>
              </a:rPr>
              <a:t> </a:t>
            </a:r>
            <a:r>
              <a:rPr lang="en-US" sz="2355" spc="58" strike="noStrike" u="none">
                <a:solidFill>
                  <a:srgbClr val="242424"/>
                </a:solidFill>
                <a:latin typeface="Montserrat"/>
                <a:ea typeface="Montserrat"/>
                <a:cs typeface="Montserrat"/>
                <a:sym typeface="Montserrat"/>
              </a:rPr>
              <a:t>KASN</a:t>
            </a:r>
            <a:r>
              <a:rPr lang="en-US" sz="2355" spc="58" strike="noStrike" u="none">
                <a:solidFill>
                  <a:srgbClr val="242424"/>
                </a:solidFill>
                <a:latin typeface="Montserrat"/>
                <a:ea typeface="Montserrat"/>
                <a:cs typeface="Montserrat"/>
                <a:sym typeface="Montserrat"/>
              </a:rPr>
              <a:t>, </a:t>
            </a:r>
            <a:r>
              <a:rPr lang="en-US" sz="2355" spc="58" strike="noStrike" u="none">
                <a:solidFill>
                  <a:srgbClr val="242424"/>
                </a:solidFill>
                <a:latin typeface="Montserrat"/>
                <a:ea typeface="Montserrat"/>
                <a:cs typeface="Montserrat"/>
                <a:sym typeface="Montserrat"/>
              </a:rPr>
              <a:t>M</a:t>
            </a:r>
            <a:r>
              <a:rPr lang="en-US" sz="2355" spc="58" strike="noStrike" u="none">
                <a:solidFill>
                  <a:srgbClr val="242424"/>
                </a:solidFill>
                <a:latin typeface="Montserrat"/>
                <a:ea typeface="Montserrat"/>
                <a:cs typeface="Montserrat"/>
                <a:sym typeface="Montserrat"/>
              </a:rPr>
              <a:t>ei 202</a:t>
            </a:r>
            <a:r>
              <a:rPr lang="en-US" sz="2355" spc="58" strike="noStrike" u="none">
                <a:solidFill>
                  <a:srgbClr val="242424"/>
                </a:solidFill>
                <a:latin typeface="Montserrat"/>
                <a:ea typeface="Montserrat"/>
                <a:cs typeface="Montserrat"/>
                <a:sym typeface="Montserrat"/>
              </a:rPr>
              <a:t>4</a:t>
            </a:r>
            <a:r>
              <a:rPr lang="en-US" sz="2355" spc="58" strike="noStrike" u="none">
                <a:solidFill>
                  <a:srgbClr val="242424"/>
                </a:solidFill>
                <a:latin typeface="Montserrat"/>
                <a:ea typeface="Montserrat"/>
                <a:cs typeface="Montserrat"/>
                <a:sym typeface="Montserrat"/>
              </a:rPr>
              <a:t>)</a:t>
            </a:r>
          </a:p>
        </p:txBody>
      </p:sp>
      <p:sp>
        <p:nvSpPr>
          <p:cNvPr name="TextBox 65" id="65"/>
          <p:cNvSpPr txBox="true"/>
          <p:nvPr/>
        </p:nvSpPr>
        <p:spPr>
          <a:xfrm rot="0">
            <a:off x="7035591" y="1498424"/>
            <a:ext cx="2011608" cy="1085102"/>
          </a:xfrm>
          <a:prstGeom prst="rect">
            <a:avLst/>
          </a:prstGeom>
        </p:spPr>
        <p:txBody>
          <a:bodyPr anchor="t" rtlCol="false" tIns="0" lIns="0" bIns="0" rIns="0">
            <a:spAutoFit/>
          </a:bodyPr>
          <a:lstStyle/>
          <a:p>
            <a:pPr algn="ctr" marL="0" indent="0" lvl="0">
              <a:lnSpc>
                <a:spcPts val="2174"/>
              </a:lnSpc>
              <a:spcBef>
                <a:spcPct val="0"/>
              </a:spcBef>
            </a:pPr>
            <a:r>
              <a:rPr lang="en-US" b="true" sz="1553">
                <a:solidFill>
                  <a:srgbClr val="083698"/>
                </a:solidFill>
                <a:latin typeface="Montaser Arabic Bold"/>
                <a:ea typeface="Montaser Arabic Bold"/>
                <a:cs typeface="Montaser Arabic Bold"/>
                <a:sym typeface="Montaser Arabic Bold"/>
              </a:rPr>
              <a:t>Indon</a:t>
            </a:r>
            <a:r>
              <a:rPr lang="en-US" b="true" sz="1553" strike="noStrike" u="none">
                <a:solidFill>
                  <a:srgbClr val="083698"/>
                </a:solidFill>
                <a:latin typeface="Montaser Arabic Bold"/>
                <a:ea typeface="Montaser Arabic Bold"/>
                <a:cs typeface="Montaser Arabic Bold"/>
                <a:sym typeface="Montaser Arabic Bold"/>
              </a:rPr>
              <a:t>esi</a:t>
            </a:r>
            <a:r>
              <a:rPr lang="en-US" b="true" sz="1553" strike="noStrike" u="none">
                <a:solidFill>
                  <a:srgbClr val="083698"/>
                </a:solidFill>
                <a:latin typeface="Montaser Arabic Bold"/>
                <a:ea typeface="Montaser Arabic Bold"/>
                <a:cs typeface="Montaser Arabic Bold"/>
                <a:sym typeface="Montaser Arabic Bold"/>
              </a:rPr>
              <a:t>a sudah </a:t>
            </a:r>
            <a:r>
              <a:rPr lang="en-US" b="true" sz="1553" strike="noStrike" u="none">
                <a:solidFill>
                  <a:srgbClr val="083698"/>
                </a:solidFill>
                <a:latin typeface="Montaser Arabic Bold"/>
                <a:ea typeface="Montaser Arabic Bold"/>
                <a:cs typeface="Montaser Arabic Bold"/>
                <a:sym typeface="Montaser Arabic Bold"/>
              </a:rPr>
              <a:t>m</a:t>
            </a:r>
            <a:r>
              <a:rPr lang="en-US" b="true" sz="1553" strike="noStrike" u="none">
                <a:solidFill>
                  <a:srgbClr val="083698"/>
                </a:solidFill>
                <a:latin typeface="Montaser Arabic Bold"/>
                <a:ea typeface="Montaser Arabic Bold"/>
                <a:cs typeface="Montaser Arabic Bold"/>
                <a:sym typeface="Montaser Arabic Bold"/>
              </a:rPr>
              <a:t>emiliki reg</a:t>
            </a:r>
            <a:r>
              <a:rPr lang="en-US" b="true" sz="1553" strike="noStrike" u="none">
                <a:solidFill>
                  <a:srgbClr val="083698"/>
                </a:solidFill>
                <a:latin typeface="Montaser Arabic Bold"/>
                <a:ea typeface="Montaser Arabic Bold"/>
                <a:cs typeface="Montaser Arabic Bold"/>
                <a:sym typeface="Montaser Arabic Bold"/>
              </a:rPr>
              <a:t>ula</a:t>
            </a:r>
            <a:r>
              <a:rPr lang="en-US" b="true" sz="1553" strike="noStrike" u="none">
                <a:solidFill>
                  <a:srgbClr val="083698"/>
                </a:solidFill>
                <a:latin typeface="Montaser Arabic Bold"/>
                <a:ea typeface="Montaser Arabic Bold"/>
                <a:cs typeface="Montaser Arabic Bold"/>
                <a:sym typeface="Montaser Arabic Bold"/>
              </a:rPr>
              <a:t>si kuat</a:t>
            </a:r>
          </a:p>
          <a:p>
            <a:pPr algn="l" marL="0" indent="0" lvl="0">
              <a:lnSpc>
                <a:spcPts val="2174"/>
              </a:lnSpc>
              <a:spcBef>
                <a:spcPct val="0"/>
              </a:spcBef>
            </a:pPr>
          </a:p>
        </p:txBody>
      </p:sp>
      <p:sp>
        <p:nvSpPr>
          <p:cNvPr name="TextBox 66" id="66"/>
          <p:cNvSpPr txBox="true"/>
          <p:nvPr/>
        </p:nvSpPr>
        <p:spPr>
          <a:xfrm rot="0">
            <a:off x="9361524" y="1575842"/>
            <a:ext cx="2011608" cy="789221"/>
          </a:xfrm>
          <a:prstGeom prst="rect">
            <a:avLst/>
          </a:prstGeom>
        </p:spPr>
        <p:txBody>
          <a:bodyPr anchor="t" rtlCol="false" tIns="0" lIns="0" bIns="0" rIns="0">
            <a:spAutoFit/>
          </a:bodyPr>
          <a:lstStyle/>
          <a:p>
            <a:pPr algn="ctr" marL="0" indent="0" lvl="0">
              <a:lnSpc>
                <a:spcPts val="2174"/>
              </a:lnSpc>
              <a:spcBef>
                <a:spcPct val="0"/>
              </a:spcBef>
            </a:pPr>
            <a:r>
              <a:rPr lang="en-US" b="true" sz="1553" strike="noStrike" u="none">
                <a:solidFill>
                  <a:srgbClr val="FF0000"/>
                </a:solidFill>
                <a:latin typeface="Montaser Arabic Bold"/>
                <a:ea typeface="Montaser Arabic Bold"/>
                <a:cs typeface="Montaser Arabic Bold"/>
                <a:sym typeface="Montaser Arabic Bold"/>
              </a:rPr>
              <a:t> </a:t>
            </a:r>
            <a:r>
              <a:rPr lang="en-US" b="true" sz="1553" strike="noStrike" u="none">
                <a:solidFill>
                  <a:srgbClr val="FF0000"/>
                </a:solidFill>
                <a:latin typeface="Montaser Arabic Bold"/>
                <a:ea typeface="Montaser Arabic Bold"/>
                <a:cs typeface="Montaser Arabic Bold"/>
                <a:sym typeface="Montaser Arabic Bold"/>
              </a:rPr>
              <a:t>T</a:t>
            </a:r>
            <a:r>
              <a:rPr lang="en-US" b="true" sz="1553" strike="noStrike" u="none">
                <a:solidFill>
                  <a:srgbClr val="FF0000"/>
                </a:solidFill>
                <a:latin typeface="Montaser Arabic Bold"/>
                <a:ea typeface="Montaser Arabic Bold"/>
                <a:cs typeface="Montaser Arabic Bold"/>
                <a:sym typeface="Montaser Arabic Bold"/>
              </a:rPr>
              <a:t>a</a:t>
            </a:r>
            <a:r>
              <a:rPr lang="en-US" b="true" sz="1553" strike="noStrike" u="none">
                <a:solidFill>
                  <a:srgbClr val="FF0000"/>
                </a:solidFill>
                <a:latin typeface="Montaser Arabic Bold"/>
                <a:ea typeface="Montaser Arabic Bold"/>
                <a:cs typeface="Montaser Arabic Bold"/>
                <a:sym typeface="Montaser Arabic Bold"/>
              </a:rPr>
              <a:t>pi</a:t>
            </a:r>
            <a:r>
              <a:rPr lang="en-US" b="true" sz="1553" strike="noStrike" u="none">
                <a:solidFill>
                  <a:srgbClr val="FF0000"/>
                </a:solidFill>
                <a:latin typeface="Montaser Arabic Bold"/>
                <a:ea typeface="Montaser Arabic Bold"/>
                <a:cs typeface="Montaser Arabic Bold"/>
                <a:sym typeface="Montaser Arabic Bold"/>
              </a:rPr>
              <a:t> </a:t>
            </a:r>
            <a:r>
              <a:rPr lang="en-US" b="true" sz="1553" strike="noStrike" u="none">
                <a:solidFill>
                  <a:srgbClr val="FF0000"/>
                </a:solidFill>
                <a:latin typeface="Montaser Arabic Bold"/>
                <a:ea typeface="Montaser Arabic Bold"/>
                <a:cs typeface="Montaser Arabic Bold"/>
                <a:sym typeface="Montaser Arabic Bold"/>
              </a:rPr>
              <a:t>i</a:t>
            </a:r>
            <a:r>
              <a:rPr lang="en-US" b="true" sz="1553" strike="noStrike" u="none">
                <a:solidFill>
                  <a:srgbClr val="FF0000"/>
                </a:solidFill>
                <a:latin typeface="Montaser Arabic Bold"/>
                <a:ea typeface="Montaser Arabic Bold"/>
                <a:cs typeface="Montaser Arabic Bold"/>
                <a:sym typeface="Montaser Arabic Bold"/>
              </a:rPr>
              <a:t>mplem</a:t>
            </a:r>
            <a:r>
              <a:rPr lang="en-US" b="true" sz="1553" strike="noStrike" u="none">
                <a:solidFill>
                  <a:srgbClr val="FF0000"/>
                </a:solidFill>
                <a:latin typeface="Montaser Arabic Bold"/>
                <a:ea typeface="Montaser Arabic Bold"/>
                <a:cs typeface="Montaser Arabic Bold"/>
                <a:sym typeface="Montaser Arabic Bold"/>
              </a:rPr>
              <a:t>entas</a:t>
            </a:r>
            <a:r>
              <a:rPr lang="en-US" b="true" sz="1553" strike="noStrike" u="none">
                <a:solidFill>
                  <a:srgbClr val="FF0000"/>
                </a:solidFill>
                <a:latin typeface="Montaser Arabic Bold"/>
                <a:ea typeface="Montaser Arabic Bold"/>
                <a:cs typeface="Montaser Arabic Bold"/>
                <a:sym typeface="Montaser Arabic Bold"/>
              </a:rPr>
              <a:t>i </a:t>
            </a:r>
            <a:r>
              <a:rPr lang="en-US" b="true" sz="1553" strike="noStrike" u="none">
                <a:solidFill>
                  <a:srgbClr val="FF0000"/>
                </a:solidFill>
                <a:latin typeface="Montaser Arabic Bold"/>
                <a:ea typeface="Montaser Arabic Bold"/>
                <a:cs typeface="Montaser Arabic Bold"/>
                <a:sym typeface="Montaser Arabic Bold"/>
              </a:rPr>
              <a:t>m</a:t>
            </a:r>
            <a:r>
              <a:rPr lang="en-US" b="true" sz="1553" strike="noStrike" u="none">
                <a:solidFill>
                  <a:srgbClr val="FF0000"/>
                </a:solidFill>
                <a:latin typeface="Montaser Arabic Bold"/>
                <a:ea typeface="Montaser Arabic Bold"/>
                <a:cs typeface="Montaser Arabic Bold"/>
                <a:sym typeface="Montaser Arabic Bold"/>
              </a:rPr>
              <a:t>asi</a:t>
            </a:r>
            <a:r>
              <a:rPr lang="en-US" b="true" sz="1553" strike="noStrike" u="none">
                <a:solidFill>
                  <a:srgbClr val="FF0000"/>
                </a:solidFill>
                <a:latin typeface="Montaser Arabic Bold"/>
                <a:ea typeface="Montaser Arabic Bold"/>
                <a:cs typeface="Montaser Arabic Bold"/>
                <a:sym typeface="Montaser Arabic Bold"/>
              </a:rPr>
              <a:t>h</a:t>
            </a:r>
            <a:r>
              <a:rPr lang="en-US" b="true" sz="1553" strike="noStrike" u="none">
                <a:solidFill>
                  <a:srgbClr val="FF0000"/>
                </a:solidFill>
                <a:latin typeface="Montaser Arabic Bold"/>
                <a:ea typeface="Montaser Arabic Bold"/>
                <a:cs typeface="Montaser Arabic Bold"/>
                <a:sym typeface="Montaser Arabic Bold"/>
              </a:rPr>
              <a:t> </a:t>
            </a:r>
            <a:r>
              <a:rPr lang="en-US" b="true" sz="1553" strike="noStrike" u="none">
                <a:solidFill>
                  <a:srgbClr val="FF0000"/>
                </a:solidFill>
                <a:latin typeface="Montaser Arabic Bold"/>
                <a:ea typeface="Montaser Arabic Bold"/>
                <a:cs typeface="Montaser Arabic Bold"/>
                <a:sym typeface="Montaser Arabic Bold"/>
              </a:rPr>
              <a:t>ja</a:t>
            </a:r>
            <a:r>
              <a:rPr lang="en-US" b="true" sz="1553" strike="noStrike" u="none">
                <a:solidFill>
                  <a:srgbClr val="FF0000"/>
                </a:solidFill>
                <a:latin typeface="Montaser Arabic Bold"/>
                <a:ea typeface="Montaser Arabic Bold"/>
                <a:cs typeface="Montaser Arabic Bold"/>
                <a:sym typeface="Montaser Arabic Bold"/>
              </a:rPr>
              <a:t>u</a:t>
            </a:r>
            <a:r>
              <a:rPr lang="en-US" b="true" sz="1553" strike="noStrike" u="none">
                <a:solidFill>
                  <a:srgbClr val="FF0000"/>
                </a:solidFill>
                <a:latin typeface="Montaser Arabic Bold"/>
                <a:ea typeface="Montaser Arabic Bold"/>
                <a:cs typeface="Montaser Arabic Bold"/>
                <a:sym typeface="Montaser Arabic Bold"/>
              </a:rPr>
              <a:t>h d</a:t>
            </a:r>
            <a:r>
              <a:rPr lang="en-US" b="true" sz="1553" strike="noStrike" u="none">
                <a:solidFill>
                  <a:srgbClr val="FF0000"/>
                </a:solidFill>
                <a:latin typeface="Montaser Arabic Bold"/>
                <a:ea typeface="Montaser Arabic Bold"/>
                <a:cs typeface="Montaser Arabic Bold"/>
                <a:sym typeface="Montaser Arabic Bold"/>
              </a:rPr>
              <a:t>a</a:t>
            </a:r>
            <a:r>
              <a:rPr lang="en-US" b="true" sz="1553" strike="noStrike" u="none">
                <a:solidFill>
                  <a:srgbClr val="FF0000"/>
                </a:solidFill>
                <a:latin typeface="Montaser Arabic Bold"/>
                <a:ea typeface="Montaser Arabic Bold"/>
                <a:cs typeface="Montaser Arabic Bold"/>
                <a:sym typeface="Montaser Arabic Bold"/>
              </a:rPr>
              <a:t>ri ideal.</a:t>
            </a:r>
          </a:p>
        </p:txBody>
      </p:sp>
      <p:sp>
        <p:nvSpPr>
          <p:cNvPr name="TextBox 67" id="67"/>
          <p:cNvSpPr txBox="true"/>
          <p:nvPr/>
        </p:nvSpPr>
        <p:spPr>
          <a:xfrm rot="0">
            <a:off x="1466012" y="9126130"/>
            <a:ext cx="5569579" cy="399815"/>
          </a:xfrm>
          <a:prstGeom prst="rect">
            <a:avLst/>
          </a:prstGeom>
        </p:spPr>
        <p:txBody>
          <a:bodyPr anchor="t" rtlCol="false" tIns="0" lIns="0" bIns="0" rIns="0">
            <a:spAutoFit/>
          </a:bodyPr>
          <a:lstStyle/>
          <a:p>
            <a:pPr algn="just" marL="0" indent="0" lvl="1">
              <a:lnSpc>
                <a:spcPts val="3203"/>
              </a:lnSpc>
              <a:spcBef>
                <a:spcPct val="0"/>
              </a:spcBef>
            </a:pPr>
            <a:r>
              <a:rPr lang="en-US" sz="2355" spc="58">
                <a:solidFill>
                  <a:srgbClr val="242424"/>
                </a:solidFill>
                <a:latin typeface="Montserrat"/>
                <a:ea typeface="Montserrat"/>
                <a:cs typeface="Montserrat"/>
                <a:sym typeface="Montserrat"/>
              </a:rPr>
              <a:t>(Laporan</a:t>
            </a:r>
            <a:r>
              <a:rPr lang="en-US" sz="2355" spc="58" strike="noStrike" u="none">
                <a:solidFill>
                  <a:srgbClr val="242424"/>
                </a:solidFill>
                <a:latin typeface="Montserrat"/>
                <a:ea typeface="Montserrat"/>
                <a:cs typeface="Montserrat"/>
                <a:sym typeface="Montserrat"/>
              </a:rPr>
              <a:t> BKN, 28 Feb 2024)</a:t>
            </a:r>
          </a:p>
        </p:txBody>
      </p:sp>
      <p:sp>
        <p:nvSpPr>
          <p:cNvPr name="TextBox 68" id="68"/>
          <p:cNvSpPr txBox="true"/>
          <p:nvPr/>
        </p:nvSpPr>
        <p:spPr>
          <a:xfrm rot="0">
            <a:off x="12327086" y="2317438"/>
            <a:ext cx="5569579" cy="399815"/>
          </a:xfrm>
          <a:prstGeom prst="rect">
            <a:avLst/>
          </a:prstGeom>
        </p:spPr>
        <p:txBody>
          <a:bodyPr anchor="t" rtlCol="false" tIns="0" lIns="0" bIns="0" rIns="0">
            <a:spAutoFit/>
          </a:bodyPr>
          <a:lstStyle/>
          <a:p>
            <a:pPr algn="just" marL="0" indent="0" lvl="1">
              <a:lnSpc>
                <a:spcPts val="3203"/>
              </a:lnSpc>
              <a:spcBef>
                <a:spcPct val="0"/>
              </a:spcBef>
            </a:pPr>
            <a:r>
              <a:rPr lang="en-US" sz="2355" spc="58">
                <a:solidFill>
                  <a:srgbClr val="242424"/>
                </a:solidFill>
                <a:latin typeface="Montserrat"/>
                <a:ea typeface="Montserrat"/>
                <a:cs typeface="Montserrat"/>
                <a:sym typeface="Montserrat"/>
              </a:rPr>
              <a:t>(A</a:t>
            </a:r>
            <a:r>
              <a:rPr lang="en-US" sz="2355" spc="58" strike="noStrike" u="none">
                <a:solidFill>
                  <a:srgbClr val="242424"/>
                </a:solidFill>
                <a:latin typeface="Montserrat"/>
                <a:ea typeface="Montserrat"/>
                <a:cs typeface="Montserrat"/>
                <a:sym typeface="Montserrat"/>
              </a:rPr>
              <a:t>r</a:t>
            </a:r>
            <a:r>
              <a:rPr lang="en-US" sz="2355" spc="58" strike="noStrike" u="none">
                <a:solidFill>
                  <a:srgbClr val="242424"/>
                </a:solidFill>
                <a:latin typeface="Montserrat"/>
                <a:ea typeface="Montserrat"/>
                <a:cs typeface="Montserrat"/>
                <a:sym typeface="Montserrat"/>
              </a:rPr>
              <a:t>t</a:t>
            </a:r>
            <a:r>
              <a:rPr lang="en-US" sz="2355" spc="58" strike="noStrike" u="none">
                <a:solidFill>
                  <a:srgbClr val="242424"/>
                </a:solidFill>
                <a:latin typeface="Montserrat"/>
                <a:ea typeface="Montserrat"/>
                <a:cs typeface="Montserrat"/>
                <a:sym typeface="Montserrat"/>
              </a:rPr>
              <a:t>ikel PPA</a:t>
            </a:r>
            <a:r>
              <a:rPr lang="en-US" sz="2355" spc="58" strike="noStrike" u="none">
                <a:solidFill>
                  <a:srgbClr val="242424"/>
                </a:solidFill>
                <a:latin typeface="Montserrat"/>
                <a:ea typeface="Montserrat"/>
                <a:cs typeface="Montserrat"/>
                <a:sym typeface="Montserrat"/>
              </a:rPr>
              <a:t>TK</a:t>
            </a:r>
            <a:r>
              <a:rPr lang="en-US" sz="2355" spc="58" strike="noStrike" u="none">
                <a:solidFill>
                  <a:srgbClr val="242424"/>
                </a:solidFill>
                <a:latin typeface="Montserrat"/>
                <a:ea typeface="Montserrat"/>
                <a:cs typeface="Montserrat"/>
                <a:sym typeface="Montserrat"/>
              </a:rPr>
              <a:t>, 27 Juli 2023)</a:t>
            </a:r>
          </a:p>
        </p:txBody>
      </p:sp>
      <p:sp>
        <p:nvSpPr>
          <p:cNvPr name="TextBox 69" id="69"/>
          <p:cNvSpPr txBox="true"/>
          <p:nvPr/>
        </p:nvSpPr>
        <p:spPr>
          <a:xfrm rot="0">
            <a:off x="12718421" y="5820143"/>
            <a:ext cx="5569579" cy="399815"/>
          </a:xfrm>
          <a:prstGeom prst="rect">
            <a:avLst/>
          </a:prstGeom>
        </p:spPr>
        <p:txBody>
          <a:bodyPr anchor="t" rtlCol="false" tIns="0" lIns="0" bIns="0" rIns="0">
            <a:spAutoFit/>
          </a:bodyPr>
          <a:lstStyle/>
          <a:p>
            <a:pPr algn="just" marL="0" indent="0" lvl="1">
              <a:lnSpc>
                <a:spcPts val="3203"/>
              </a:lnSpc>
              <a:spcBef>
                <a:spcPct val="0"/>
              </a:spcBef>
            </a:pPr>
            <a:r>
              <a:rPr lang="en-US" sz="2355" spc="58">
                <a:solidFill>
                  <a:srgbClr val="242424"/>
                </a:solidFill>
                <a:latin typeface="Montserrat"/>
                <a:ea typeface="Montserrat"/>
                <a:cs typeface="Montserrat"/>
                <a:sym typeface="Montserrat"/>
              </a:rPr>
              <a:t>(Su</a:t>
            </a:r>
            <a:r>
              <a:rPr lang="en-US" sz="2355" spc="58" strike="noStrike" u="none">
                <a:solidFill>
                  <a:srgbClr val="242424"/>
                </a:solidFill>
                <a:latin typeface="Montserrat"/>
                <a:ea typeface="Montserrat"/>
                <a:cs typeface="Montserrat"/>
                <a:sym typeface="Montserrat"/>
              </a:rPr>
              <a:t>rvei K</a:t>
            </a:r>
            <a:r>
              <a:rPr lang="en-US" sz="2355" spc="58" strike="noStrike" u="none">
                <a:solidFill>
                  <a:srgbClr val="242424"/>
                </a:solidFill>
                <a:latin typeface="Montserrat"/>
                <a:ea typeface="Montserrat"/>
                <a:cs typeface="Montserrat"/>
                <a:sym typeface="Montserrat"/>
              </a:rPr>
              <a:t>ompas</a:t>
            </a:r>
            <a:r>
              <a:rPr lang="en-US" sz="2355" spc="58" strike="noStrike" u="none">
                <a:solidFill>
                  <a:srgbClr val="242424"/>
                </a:solidFill>
                <a:latin typeface="Montserrat"/>
                <a:ea typeface="Montserrat"/>
                <a:cs typeface="Montserrat"/>
                <a:sym typeface="Montserrat"/>
              </a:rPr>
              <a:t>, 30 Juni 2025)</a:t>
            </a:r>
          </a:p>
        </p:txBody>
      </p:sp>
      <p:sp>
        <p:nvSpPr>
          <p:cNvPr name="TextBox 70" id="70"/>
          <p:cNvSpPr txBox="true"/>
          <p:nvPr/>
        </p:nvSpPr>
        <p:spPr>
          <a:xfrm rot="0">
            <a:off x="12718421" y="8858485"/>
            <a:ext cx="5569579" cy="399815"/>
          </a:xfrm>
          <a:prstGeom prst="rect">
            <a:avLst/>
          </a:prstGeom>
        </p:spPr>
        <p:txBody>
          <a:bodyPr anchor="t" rtlCol="false" tIns="0" lIns="0" bIns="0" rIns="0">
            <a:spAutoFit/>
          </a:bodyPr>
          <a:lstStyle/>
          <a:p>
            <a:pPr algn="just" marL="0" indent="0" lvl="1">
              <a:lnSpc>
                <a:spcPts val="3203"/>
              </a:lnSpc>
              <a:spcBef>
                <a:spcPct val="0"/>
              </a:spcBef>
            </a:pPr>
            <a:r>
              <a:rPr lang="en-US" sz="2355" spc="58">
                <a:solidFill>
                  <a:srgbClr val="242424"/>
                </a:solidFill>
                <a:latin typeface="Montserrat"/>
                <a:ea typeface="Montserrat"/>
                <a:cs typeface="Montserrat"/>
                <a:sym typeface="Montserrat"/>
              </a:rPr>
              <a:t>(A</a:t>
            </a:r>
            <a:r>
              <a:rPr lang="en-US" sz="2355" spc="58" strike="noStrike" u="none">
                <a:solidFill>
                  <a:srgbClr val="242424"/>
                </a:solidFill>
                <a:latin typeface="Montserrat"/>
                <a:ea typeface="Montserrat"/>
                <a:cs typeface="Montserrat"/>
                <a:sym typeface="Montserrat"/>
              </a:rPr>
              <a:t>r</a:t>
            </a:r>
            <a:r>
              <a:rPr lang="en-US" sz="2355" spc="58" strike="noStrike" u="none">
                <a:solidFill>
                  <a:srgbClr val="242424"/>
                </a:solidFill>
                <a:latin typeface="Montserrat"/>
                <a:ea typeface="Montserrat"/>
                <a:cs typeface="Montserrat"/>
                <a:sym typeface="Montserrat"/>
              </a:rPr>
              <a:t>t</a:t>
            </a:r>
            <a:r>
              <a:rPr lang="en-US" sz="2355" spc="58" strike="noStrike" u="none">
                <a:solidFill>
                  <a:srgbClr val="242424"/>
                </a:solidFill>
                <a:latin typeface="Montserrat"/>
                <a:ea typeface="Montserrat"/>
                <a:cs typeface="Montserrat"/>
                <a:sym typeface="Montserrat"/>
              </a:rPr>
              <a:t>ikel PPA</a:t>
            </a:r>
            <a:r>
              <a:rPr lang="en-US" sz="2355" spc="58" strike="noStrike" u="none">
                <a:solidFill>
                  <a:srgbClr val="242424"/>
                </a:solidFill>
                <a:latin typeface="Montserrat"/>
                <a:ea typeface="Montserrat"/>
                <a:cs typeface="Montserrat"/>
                <a:sym typeface="Montserrat"/>
              </a:rPr>
              <a:t>TK</a:t>
            </a:r>
            <a:r>
              <a:rPr lang="en-US" sz="2355" spc="58" strike="noStrike" u="none">
                <a:solidFill>
                  <a:srgbClr val="242424"/>
                </a:solidFill>
                <a:latin typeface="Montserrat"/>
                <a:ea typeface="Montserrat"/>
                <a:cs typeface="Montserrat"/>
                <a:sym typeface="Montserrat"/>
              </a:rPr>
              <a:t>, 27 Juli 2023)</a:t>
            </a:r>
          </a:p>
        </p:txBody>
      </p:sp>
      <p:sp>
        <p:nvSpPr>
          <p:cNvPr name="Freeform 71" id="71"/>
          <p:cNvSpPr/>
          <p:nvPr/>
        </p:nvSpPr>
        <p:spPr>
          <a:xfrm flipH="false" flipV="false" rot="0">
            <a:off x="7615112" y="8819291"/>
            <a:ext cx="3492823" cy="1075301"/>
          </a:xfrm>
          <a:custGeom>
            <a:avLst/>
            <a:gdLst/>
            <a:ahLst/>
            <a:cxnLst/>
            <a:rect r="r" b="b" t="t" l="l"/>
            <a:pathLst>
              <a:path h="1075301" w="3492823">
                <a:moveTo>
                  <a:pt x="0" y="0"/>
                </a:moveTo>
                <a:lnTo>
                  <a:pt x="3492823" y="0"/>
                </a:lnTo>
                <a:lnTo>
                  <a:pt x="3492823" y="1075301"/>
                </a:lnTo>
                <a:lnTo>
                  <a:pt x="0" y="1075301"/>
                </a:lnTo>
                <a:lnTo>
                  <a:pt x="0" y="0"/>
                </a:lnTo>
                <a:close/>
              </a:path>
            </a:pathLst>
          </a:custGeom>
          <a:blipFill>
            <a:blip r:embed="rId2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9837954"/>
            <a:ext cx="18595517" cy="542466"/>
            <a:chOff x="0" y="0"/>
            <a:chExt cx="4897585" cy="142872"/>
          </a:xfrm>
        </p:grpSpPr>
        <p:sp>
          <p:nvSpPr>
            <p:cNvPr name="Freeform 3" id="3"/>
            <p:cNvSpPr/>
            <p:nvPr/>
          </p:nvSpPr>
          <p:spPr>
            <a:xfrm flipH="false" flipV="false" rot="0">
              <a:off x="0" y="0"/>
              <a:ext cx="4897585" cy="142872"/>
            </a:xfrm>
            <a:custGeom>
              <a:avLst/>
              <a:gdLst/>
              <a:ahLst/>
              <a:cxnLst/>
              <a:rect r="r" b="b" t="t" l="l"/>
              <a:pathLst>
                <a:path h="142872" w="4897585">
                  <a:moveTo>
                    <a:pt x="0" y="0"/>
                  </a:moveTo>
                  <a:lnTo>
                    <a:pt x="4897585" y="0"/>
                  </a:lnTo>
                  <a:lnTo>
                    <a:pt x="4897585" y="142872"/>
                  </a:lnTo>
                  <a:lnTo>
                    <a:pt x="0" y="142872"/>
                  </a:lnTo>
                  <a:close/>
                </a:path>
              </a:pathLst>
            </a:custGeom>
            <a:solidFill>
              <a:srgbClr val="017BC7"/>
            </a:solidFill>
          </p:spPr>
        </p:sp>
        <p:sp>
          <p:nvSpPr>
            <p:cNvPr name="TextBox 4" id="4"/>
            <p:cNvSpPr txBox="true"/>
            <p:nvPr/>
          </p:nvSpPr>
          <p:spPr>
            <a:xfrm>
              <a:off x="0" y="-47625"/>
              <a:ext cx="4897585" cy="190497"/>
            </a:xfrm>
            <a:prstGeom prst="rect">
              <a:avLst/>
            </a:prstGeom>
          </p:spPr>
          <p:txBody>
            <a:bodyPr anchor="ctr" rtlCol="false" tIns="50800" lIns="50800" bIns="50800" rIns="50800"/>
            <a:lstStyle/>
            <a:p>
              <a:pPr algn="ctr">
                <a:lnSpc>
                  <a:spcPts val="3511"/>
                </a:lnSpc>
              </a:pPr>
            </a:p>
          </p:txBody>
        </p:sp>
      </p:grpSp>
      <p:sp>
        <p:nvSpPr>
          <p:cNvPr name="TextBox 5" id="5"/>
          <p:cNvSpPr txBox="true"/>
          <p:nvPr/>
        </p:nvSpPr>
        <p:spPr>
          <a:xfrm rot="0">
            <a:off x="148442" y="148176"/>
            <a:ext cx="12290175" cy="1177498"/>
          </a:xfrm>
          <a:prstGeom prst="rect">
            <a:avLst/>
          </a:prstGeom>
        </p:spPr>
        <p:txBody>
          <a:bodyPr anchor="t" rtlCol="false" tIns="0" lIns="0" bIns="0" rIns="0">
            <a:spAutoFit/>
          </a:bodyPr>
          <a:lstStyle/>
          <a:p>
            <a:pPr algn="ctr">
              <a:lnSpc>
                <a:spcPts val="9648"/>
              </a:lnSpc>
            </a:pPr>
            <a:r>
              <a:rPr lang="en-US" b="true" sz="6891">
                <a:solidFill>
                  <a:srgbClr val="000000"/>
                </a:solidFill>
                <a:latin typeface="Montaser Arabic Bold"/>
                <a:ea typeface="Montaser Arabic Bold"/>
                <a:cs typeface="Montaser Arabic Bold"/>
                <a:sym typeface="Montaser Arabic Bold"/>
              </a:rPr>
              <a:t>JUJUR.AI SEBAGAI SOLUSI</a:t>
            </a:r>
          </a:p>
        </p:txBody>
      </p:sp>
      <p:sp>
        <p:nvSpPr>
          <p:cNvPr name="Freeform 6" id="6"/>
          <p:cNvSpPr/>
          <p:nvPr/>
        </p:nvSpPr>
        <p:spPr>
          <a:xfrm flipH="false" flipV="false" rot="0">
            <a:off x="148442" y="8609822"/>
            <a:ext cx="2251123" cy="1118996"/>
          </a:xfrm>
          <a:custGeom>
            <a:avLst/>
            <a:gdLst/>
            <a:ahLst/>
            <a:cxnLst/>
            <a:rect r="r" b="b" t="t" l="l"/>
            <a:pathLst>
              <a:path h="1118996" w="2251123">
                <a:moveTo>
                  <a:pt x="0" y="0"/>
                </a:moveTo>
                <a:lnTo>
                  <a:pt x="2251123" y="0"/>
                </a:lnTo>
                <a:lnTo>
                  <a:pt x="2251123" y="1118995"/>
                </a:lnTo>
                <a:lnTo>
                  <a:pt x="0" y="11189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5892206" y="-565005"/>
            <a:ext cx="3410853" cy="2737210"/>
          </a:xfrm>
          <a:custGeom>
            <a:avLst/>
            <a:gdLst/>
            <a:ahLst/>
            <a:cxnLst/>
            <a:rect r="r" b="b" t="t" l="l"/>
            <a:pathLst>
              <a:path h="2737210" w="3410853">
                <a:moveTo>
                  <a:pt x="0" y="0"/>
                </a:moveTo>
                <a:lnTo>
                  <a:pt x="3410853" y="0"/>
                </a:lnTo>
                <a:lnTo>
                  <a:pt x="3410853" y="2737209"/>
                </a:lnTo>
                <a:lnTo>
                  <a:pt x="0" y="27372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5142" y="-329006"/>
            <a:ext cx="2387684" cy="875484"/>
          </a:xfrm>
          <a:custGeom>
            <a:avLst/>
            <a:gdLst/>
            <a:ahLst/>
            <a:cxnLst/>
            <a:rect r="r" b="b" t="t" l="l"/>
            <a:pathLst>
              <a:path h="875484" w="2387684">
                <a:moveTo>
                  <a:pt x="0" y="0"/>
                </a:moveTo>
                <a:lnTo>
                  <a:pt x="2387684" y="0"/>
                </a:lnTo>
                <a:lnTo>
                  <a:pt x="2387684" y="875484"/>
                </a:lnTo>
                <a:lnTo>
                  <a:pt x="0" y="8754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828303" y="8922280"/>
            <a:ext cx="1743804" cy="1937560"/>
          </a:xfrm>
          <a:custGeom>
            <a:avLst/>
            <a:gdLst/>
            <a:ahLst/>
            <a:cxnLst/>
            <a:rect r="r" b="b" t="t" l="l"/>
            <a:pathLst>
              <a:path h="1937560" w="1743804">
                <a:moveTo>
                  <a:pt x="0" y="0"/>
                </a:moveTo>
                <a:lnTo>
                  <a:pt x="1743804" y="0"/>
                </a:lnTo>
                <a:lnTo>
                  <a:pt x="1743804" y="1937559"/>
                </a:lnTo>
                <a:lnTo>
                  <a:pt x="0" y="19375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2744925" y="-329006"/>
            <a:ext cx="2251123" cy="1876873"/>
          </a:xfrm>
          <a:custGeom>
            <a:avLst/>
            <a:gdLst/>
            <a:ahLst/>
            <a:cxnLst/>
            <a:rect r="r" b="b" t="t" l="l"/>
            <a:pathLst>
              <a:path h="1876873" w="2251123">
                <a:moveTo>
                  <a:pt x="0" y="0"/>
                </a:moveTo>
                <a:lnTo>
                  <a:pt x="2251123" y="0"/>
                </a:lnTo>
                <a:lnTo>
                  <a:pt x="2251123" y="1876873"/>
                </a:lnTo>
                <a:lnTo>
                  <a:pt x="0" y="18768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5400000">
            <a:off x="5486400" y="5093208"/>
            <a:ext cx="7315200" cy="100584"/>
          </a:xfrm>
          <a:custGeom>
            <a:avLst/>
            <a:gdLst/>
            <a:ahLst/>
            <a:cxnLst/>
            <a:rect r="r" b="b" t="t" l="l"/>
            <a:pathLst>
              <a:path h="100584" w="7315200">
                <a:moveTo>
                  <a:pt x="0" y="0"/>
                </a:moveTo>
                <a:lnTo>
                  <a:pt x="7315200" y="0"/>
                </a:lnTo>
                <a:lnTo>
                  <a:pt x="7315200" y="100584"/>
                </a:lnTo>
                <a:lnTo>
                  <a:pt x="0" y="1005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AutoShape 12" id="12"/>
          <p:cNvSpPr/>
          <p:nvPr/>
        </p:nvSpPr>
        <p:spPr>
          <a:xfrm>
            <a:off x="1373037" y="4943390"/>
            <a:ext cx="7375799" cy="48716"/>
          </a:xfrm>
          <a:prstGeom prst="line">
            <a:avLst/>
          </a:prstGeom>
          <a:ln cap="flat" w="38100">
            <a:solidFill>
              <a:srgbClr val="000000"/>
            </a:solidFill>
            <a:prstDash val="sysDot"/>
            <a:headEnd type="none" len="sm" w="sm"/>
            <a:tailEnd type="none" len="sm" w="sm"/>
          </a:ln>
        </p:spPr>
      </p:sp>
      <p:sp>
        <p:nvSpPr>
          <p:cNvPr name="Freeform 13" id="13"/>
          <p:cNvSpPr/>
          <p:nvPr/>
        </p:nvSpPr>
        <p:spPr>
          <a:xfrm flipH="false" flipV="false" rot="0">
            <a:off x="2399565" y="5287380"/>
            <a:ext cx="4345083" cy="1445728"/>
          </a:xfrm>
          <a:custGeom>
            <a:avLst/>
            <a:gdLst/>
            <a:ahLst/>
            <a:cxnLst/>
            <a:rect r="r" b="b" t="t" l="l"/>
            <a:pathLst>
              <a:path h="1445728" w="4345083">
                <a:moveTo>
                  <a:pt x="0" y="0"/>
                </a:moveTo>
                <a:lnTo>
                  <a:pt x="4345083" y="0"/>
                </a:lnTo>
                <a:lnTo>
                  <a:pt x="4345083" y="1445728"/>
                </a:lnTo>
                <a:lnTo>
                  <a:pt x="0" y="144572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1906185" y="6651054"/>
            <a:ext cx="1568696" cy="1568696"/>
          </a:xfrm>
          <a:custGeom>
            <a:avLst/>
            <a:gdLst/>
            <a:ahLst/>
            <a:cxnLst/>
            <a:rect r="r" b="b" t="t" l="l"/>
            <a:pathLst>
              <a:path h="1568696" w="1568696">
                <a:moveTo>
                  <a:pt x="0" y="0"/>
                </a:moveTo>
                <a:lnTo>
                  <a:pt x="1568696" y="0"/>
                </a:lnTo>
                <a:lnTo>
                  <a:pt x="1568696" y="1568696"/>
                </a:lnTo>
                <a:lnTo>
                  <a:pt x="0" y="1568696"/>
                </a:lnTo>
                <a:lnTo>
                  <a:pt x="0" y="0"/>
                </a:lnTo>
                <a:close/>
              </a:path>
            </a:pathLst>
          </a:custGeom>
          <a:blipFill>
            <a:blip r:embed="rId16"/>
            <a:stretch>
              <a:fillRect l="0" t="0" r="0" b="0"/>
            </a:stretch>
          </a:blipFill>
        </p:spPr>
      </p:sp>
      <p:sp>
        <p:nvSpPr>
          <p:cNvPr name="Freeform 15" id="15"/>
          <p:cNvSpPr/>
          <p:nvPr/>
        </p:nvSpPr>
        <p:spPr>
          <a:xfrm flipH="false" flipV="false" rot="0">
            <a:off x="5207535" y="6267281"/>
            <a:ext cx="2314548" cy="2314548"/>
          </a:xfrm>
          <a:custGeom>
            <a:avLst/>
            <a:gdLst/>
            <a:ahLst/>
            <a:cxnLst/>
            <a:rect r="r" b="b" t="t" l="l"/>
            <a:pathLst>
              <a:path h="2314548" w="2314548">
                <a:moveTo>
                  <a:pt x="0" y="0"/>
                </a:moveTo>
                <a:lnTo>
                  <a:pt x="2314548" y="0"/>
                </a:lnTo>
                <a:lnTo>
                  <a:pt x="2314548" y="2314548"/>
                </a:lnTo>
                <a:lnTo>
                  <a:pt x="0" y="2314548"/>
                </a:lnTo>
                <a:lnTo>
                  <a:pt x="0" y="0"/>
                </a:lnTo>
                <a:close/>
              </a:path>
            </a:pathLst>
          </a:custGeom>
          <a:blipFill>
            <a:blip r:embed="rId17"/>
            <a:stretch>
              <a:fillRect l="0" t="0" r="0" b="0"/>
            </a:stretch>
          </a:blipFill>
        </p:spPr>
      </p:sp>
      <p:sp>
        <p:nvSpPr>
          <p:cNvPr name="Freeform 16" id="16"/>
          <p:cNvSpPr/>
          <p:nvPr/>
        </p:nvSpPr>
        <p:spPr>
          <a:xfrm flipH="false" flipV="false" rot="0">
            <a:off x="4220061" y="7029002"/>
            <a:ext cx="791106" cy="791106"/>
          </a:xfrm>
          <a:custGeom>
            <a:avLst/>
            <a:gdLst/>
            <a:ahLst/>
            <a:cxnLst/>
            <a:rect r="r" b="b" t="t" l="l"/>
            <a:pathLst>
              <a:path h="791106" w="791106">
                <a:moveTo>
                  <a:pt x="0" y="0"/>
                </a:moveTo>
                <a:lnTo>
                  <a:pt x="791106" y="0"/>
                </a:lnTo>
                <a:lnTo>
                  <a:pt x="791106" y="791106"/>
                </a:lnTo>
                <a:lnTo>
                  <a:pt x="0" y="79110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730814" y="1449252"/>
            <a:ext cx="5488133" cy="912402"/>
          </a:xfrm>
          <a:custGeom>
            <a:avLst/>
            <a:gdLst/>
            <a:ahLst/>
            <a:cxnLst/>
            <a:rect r="r" b="b" t="t" l="l"/>
            <a:pathLst>
              <a:path h="912402" w="5488133">
                <a:moveTo>
                  <a:pt x="0" y="0"/>
                </a:moveTo>
                <a:lnTo>
                  <a:pt x="5488133" y="0"/>
                </a:lnTo>
                <a:lnTo>
                  <a:pt x="5488133" y="912402"/>
                </a:lnTo>
                <a:lnTo>
                  <a:pt x="0" y="91240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9379305" y="1547867"/>
            <a:ext cx="5488133" cy="912402"/>
          </a:xfrm>
          <a:custGeom>
            <a:avLst/>
            <a:gdLst/>
            <a:ahLst/>
            <a:cxnLst/>
            <a:rect r="r" b="b" t="t" l="l"/>
            <a:pathLst>
              <a:path h="912402" w="5488133">
                <a:moveTo>
                  <a:pt x="0" y="0"/>
                </a:moveTo>
                <a:lnTo>
                  <a:pt x="5488133" y="0"/>
                </a:lnTo>
                <a:lnTo>
                  <a:pt x="5488133" y="912402"/>
                </a:lnTo>
                <a:lnTo>
                  <a:pt x="0" y="91240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AutoShape 19" id="19"/>
          <p:cNvSpPr/>
          <p:nvPr/>
        </p:nvSpPr>
        <p:spPr>
          <a:xfrm>
            <a:off x="13491575" y="3178991"/>
            <a:ext cx="19050" cy="2108389"/>
          </a:xfrm>
          <a:prstGeom prst="line">
            <a:avLst/>
          </a:prstGeom>
          <a:ln cap="flat" w="38100">
            <a:solidFill>
              <a:srgbClr val="000000"/>
            </a:solidFill>
            <a:prstDash val="sysDot"/>
            <a:headEnd type="none" len="sm" w="sm"/>
            <a:tailEnd type="none" len="sm" w="sm"/>
          </a:ln>
        </p:spPr>
      </p:sp>
      <p:sp>
        <p:nvSpPr>
          <p:cNvPr name="AutoShape 20" id="20"/>
          <p:cNvSpPr/>
          <p:nvPr/>
        </p:nvSpPr>
        <p:spPr>
          <a:xfrm flipH="true">
            <a:off x="13510625" y="6617320"/>
            <a:ext cx="0" cy="2536060"/>
          </a:xfrm>
          <a:prstGeom prst="line">
            <a:avLst/>
          </a:prstGeom>
          <a:ln cap="flat" w="38100">
            <a:solidFill>
              <a:srgbClr val="000000"/>
            </a:solidFill>
            <a:prstDash val="sysDot"/>
            <a:headEnd type="none" len="sm" w="sm"/>
            <a:tailEnd type="none" len="sm" w="sm"/>
          </a:ln>
        </p:spPr>
      </p:sp>
      <p:sp>
        <p:nvSpPr>
          <p:cNvPr name="Freeform 21" id="21"/>
          <p:cNvSpPr/>
          <p:nvPr/>
        </p:nvSpPr>
        <p:spPr>
          <a:xfrm flipH="false" flipV="false" rot="0">
            <a:off x="9194292" y="3178991"/>
            <a:ext cx="1755552" cy="1755552"/>
          </a:xfrm>
          <a:custGeom>
            <a:avLst/>
            <a:gdLst/>
            <a:ahLst/>
            <a:cxnLst/>
            <a:rect r="r" b="b" t="t" l="l"/>
            <a:pathLst>
              <a:path h="1755552" w="1755552">
                <a:moveTo>
                  <a:pt x="0" y="0"/>
                </a:moveTo>
                <a:lnTo>
                  <a:pt x="1755552" y="0"/>
                </a:lnTo>
                <a:lnTo>
                  <a:pt x="1755552" y="1755552"/>
                </a:lnTo>
                <a:lnTo>
                  <a:pt x="0" y="1755552"/>
                </a:lnTo>
                <a:lnTo>
                  <a:pt x="0" y="0"/>
                </a:lnTo>
                <a:close/>
              </a:path>
            </a:pathLst>
          </a:custGeom>
          <a:blipFill>
            <a:blip r:embed="rId22"/>
            <a:stretch>
              <a:fillRect l="0" t="0" r="0" b="0"/>
            </a:stretch>
          </a:blipFill>
        </p:spPr>
      </p:sp>
      <p:sp>
        <p:nvSpPr>
          <p:cNvPr name="Freeform 22" id="22"/>
          <p:cNvSpPr/>
          <p:nvPr/>
        </p:nvSpPr>
        <p:spPr>
          <a:xfrm flipH="false" flipV="false" rot="0">
            <a:off x="13977349" y="3247564"/>
            <a:ext cx="1534098" cy="1534098"/>
          </a:xfrm>
          <a:custGeom>
            <a:avLst/>
            <a:gdLst/>
            <a:ahLst/>
            <a:cxnLst/>
            <a:rect r="r" b="b" t="t" l="l"/>
            <a:pathLst>
              <a:path h="1534098" w="1534098">
                <a:moveTo>
                  <a:pt x="0" y="0"/>
                </a:moveTo>
                <a:lnTo>
                  <a:pt x="1534098" y="0"/>
                </a:lnTo>
                <a:lnTo>
                  <a:pt x="1534098" y="1534098"/>
                </a:lnTo>
                <a:lnTo>
                  <a:pt x="0" y="1534098"/>
                </a:lnTo>
                <a:lnTo>
                  <a:pt x="0" y="0"/>
                </a:lnTo>
                <a:close/>
              </a:path>
            </a:pathLst>
          </a:custGeom>
          <a:blipFill>
            <a:blip r:embed="rId23"/>
            <a:stretch>
              <a:fillRect l="0" t="0" r="0" b="0"/>
            </a:stretch>
          </a:blipFill>
        </p:spPr>
      </p:sp>
      <p:sp>
        <p:nvSpPr>
          <p:cNvPr name="Freeform 23" id="23"/>
          <p:cNvSpPr/>
          <p:nvPr/>
        </p:nvSpPr>
        <p:spPr>
          <a:xfrm flipH="false" flipV="false" rot="0">
            <a:off x="416475" y="2922803"/>
            <a:ext cx="1638102" cy="1554688"/>
          </a:xfrm>
          <a:custGeom>
            <a:avLst/>
            <a:gdLst/>
            <a:ahLst/>
            <a:cxnLst/>
            <a:rect r="r" b="b" t="t" l="l"/>
            <a:pathLst>
              <a:path h="1554688" w="1638102">
                <a:moveTo>
                  <a:pt x="0" y="0"/>
                </a:moveTo>
                <a:lnTo>
                  <a:pt x="1638102" y="0"/>
                </a:lnTo>
                <a:lnTo>
                  <a:pt x="1638102" y="1554688"/>
                </a:lnTo>
                <a:lnTo>
                  <a:pt x="0" y="1554688"/>
                </a:lnTo>
                <a:lnTo>
                  <a:pt x="0" y="0"/>
                </a:lnTo>
                <a:close/>
              </a:path>
            </a:pathLst>
          </a:custGeom>
          <a:blipFill>
            <a:blip r:embed="rId24"/>
            <a:stretch>
              <a:fillRect l="-106968" t="-50444" r="-105793" b="-113189"/>
            </a:stretch>
          </a:blipFill>
        </p:spPr>
      </p:sp>
      <p:sp>
        <p:nvSpPr>
          <p:cNvPr name="TextBox 24" id="24"/>
          <p:cNvSpPr txBox="true"/>
          <p:nvPr/>
        </p:nvSpPr>
        <p:spPr>
          <a:xfrm rot="0">
            <a:off x="2245077" y="2704554"/>
            <a:ext cx="6503759" cy="1943561"/>
          </a:xfrm>
          <a:prstGeom prst="rect">
            <a:avLst/>
          </a:prstGeom>
        </p:spPr>
        <p:txBody>
          <a:bodyPr anchor="t" rtlCol="false" tIns="0" lIns="0" bIns="0" rIns="0">
            <a:spAutoFit/>
          </a:bodyPr>
          <a:lstStyle/>
          <a:p>
            <a:pPr algn="just">
              <a:lnSpc>
                <a:spcPts val="3124"/>
              </a:lnSpc>
            </a:pPr>
            <a:r>
              <a:rPr lang="en-US" sz="2231" b="true">
                <a:solidFill>
                  <a:srgbClr val="000000"/>
                </a:solidFill>
                <a:latin typeface="Montserrat Bold"/>
                <a:ea typeface="Montserrat Bold"/>
                <a:cs typeface="Montserrat Bold"/>
                <a:sym typeface="Montserrat Bold"/>
              </a:rPr>
              <a:t>JUJUR.a</a:t>
            </a:r>
            <a:r>
              <a:rPr lang="en-US" sz="2231" b="true">
                <a:solidFill>
                  <a:srgbClr val="000000"/>
                </a:solidFill>
                <a:latin typeface="Montserrat Bold"/>
                <a:ea typeface="Montserrat Bold"/>
                <a:cs typeface="Montserrat Bold"/>
                <a:sym typeface="Montserrat Bold"/>
              </a:rPr>
              <a:t>i</a:t>
            </a:r>
            <a:r>
              <a:rPr lang="en-US" sz="2231">
                <a:solidFill>
                  <a:srgbClr val="000000"/>
                </a:solidFill>
                <a:latin typeface="Montserrat"/>
                <a:ea typeface="Montserrat"/>
                <a:cs typeface="Montserrat"/>
                <a:sym typeface="Montserrat"/>
              </a:rPr>
              <a:t> hadir sebagai solusi inovatif untuk mewujudkan </a:t>
            </a:r>
            <a:r>
              <a:rPr lang="en-US" sz="2231" b="true">
                <a:solidFill>
                  <a:srgbClr val="000000"/>
                </a:solidFill>
                <a:latin typeface="Montserrat Bold"/>
                <a:ea typeface="Montserrat Bold"/>
                <a:cs typeface="Montserrat Bold"/>
                <a:sym typeface="Montserrat Bold"/>
              </a:rPr>
              <a:t>sistem merit</a:t>
            </a:r>
            <a:r>
              <a:rPr lang="en-US" sz="2231">
                <a:solidFill>
                  <a:srgbClr val="000000"/>
                </a:solidFill>
                <a:latin typeface="Montserrat"/>
                <a:ea typeface="Montserrat"/>
                <a:cs typeface="Montserrat"/>
                <a:sym typeface="Montserrat"/>
              </a:rPr>
              <a:t> ASN yang jujur, transparan, dan berbasis data dengan memanfaatkan kombinasi </a:t>
            </a:r>
            <a:r>
              <a:rPr lang="en-US" sz="2231" b="true">
                <a:solidFill>
                  <a:srgbClr val="000000"/>
                </a:solidFill>
                <a:latin typeface="Montserrat Bold"/>
                <a:ea typeface="Montserrat Bold"/>
                <a:cs typeface="Montserrat Bold"/>
                <a:sym typeface="Montserrat Bold"/>
              </a:rPr>
              <a:t>Artificial Intelligence (AI) dan Blockchain</a:t>
            </a:r>
          </a:p>
        </p:txBody>
      </p:sp>
      <p:sp>
        <p:nvSpPr>
          <p:cNvPr name="TextBox 25" id="25"/>
          <p:cNvSpPr txBox="true"/>
          <p:nvPr/>
        </p:nvSpPr>
        <p:spPr>
          <a:xfrm rot="0">
            <a:off x="2647026" y="5795701"/>
            <a:ext cx="4263305" cy="381461"/>
          </a:xfrm>
          <a:prstGeom prst="rect">
            <a:avLst/>
          </a:prstGeom>
        </p:spPr>
        <p:txBody>
          <a:bodyPr anchor="t" rtlCol="false" tIns="0" lIns="0" bIns="0" rIns="0">
            <a:spAutoFit/>
          </a:bodyPr>
          <a:lstStyle/>
          <a:p>
            <a:pPr algn="just">
              <a:lnSpc>
                <a:spcPts val="3124"/>
              </a:lnSpc>
            </a:pPr>
            <a:r>
              <a:rPr lang="en-US" sz="2231" b="true">
                <a:solidFill>
                  <a:srgbClr val="000000"/>
                </a:solidFill>
                <a:latin typeface="Montserrat Bold"/>
                <a:ea typeface="Montserrat Bold"/>
                <a:cs typeface="Montserrat Bold"/>
                <a:sym typeface="Montserrat Bold"/>
              </a:rPr>
              <a:t>Teknolog</a:t>
            </a:r>
            <a:r>
              <a:rPr lang="en-US" sz="2231" b="true">
                <a:solidFill>
                  <a:srgbClr val="000000"/>
                </a:solidFill>
                <a:latin typeface="Montserrat Bold"/>
                <a:ea typeface="Montserrat Bold"/>
                <a:cs typeface="Montserrat Bold"/>
                <a:sym typeface="Montserrat Bold"/>
              </a:rPr>
              <a:t>i yang Digunakan</a:t>
            </a:r>
          </a:p>
        </p:txBody>
      </p:sp>
      <p:sp>
        <p:nvSpPr>
          <p:cNvPr name="TextBox 26" id="26"/>
          <p:cNvSpPr txBox="true"/>
          <p:nvPr/>
        </p:nvSpPr>
        <p:spPr>
          <a:xfrm rot="0">
            <a:off x="1274004" y="1732543"/>
            <a:ext cx="4263305" cy="381461"/>
          </a:xfrm>
          <a:prstGeom prst="rect">
            <a:avLst/>
          </a:prstGeom>
        </p:spPr>
        <p:txBody>
          <a:bodyPr anchor="t" rtlCol="false" tIns="0" lIns="0" bIns="0" rIns="0">
            <a:spAutoFit/>
          </a:bodyPr>
          <a:lstStyle/>
          <a:p>
            <a:pPr algn="just">
              <a:lnSpc>
                <a:spcPts val="3124"/>
              </a:lnSpc>
            </a:pPr>
            <a:r>
              <a:rPr lang="en-US" sz="2231" b="true">
                <a:solidFill>
                  <a:srgbClr val="000000"/>
                </a:solidFill>
                <a:latin typeface="Montserrat Bold"/>
                <a:ea typeface="Montserrat Bold"/>
                <a:cs typeface="Montserrat Bold"/>
                <a:sym typeface="Montserrat Bold"/>
              </a:rPr>
              <a:t>Solusi Kami</a:t>
            </a:r>
          </a:p>
        </p:txBody>
      </p:sp>
      <p:sp>
        <p:nvSpPr>
          <p:cNvPr name="TextBox 27" id="27"/>
          <p:cNvSpPr txBox="true"/>
          <p:nvPr/>
        </p:nvSpPr>
        <p:spPr>
          <a:xfrm rot="0">
            <a:off x="9922494" y="1831158"/>
            <a:ext cx="4263305" cy="381461"/>
          </a:xfrm>
          <a:prstGeom prst="rect">
            <a:avLst/>
          </a:prstGeom>
        </p:spPr>
        <p:txBody>
          <a:bodyPr anchor="t" rtlCol="false" tIns="0" lIns="0" bIns="0" rIns="0">
            <a:spAutoFit/>
          </a:bodyPr>
          <a:lstStyle/>
          <a:p>
            <a:pPr algn="just" marL="0" indent="0" lvl="0">
              <a:lnSpc>
                <a:spcPts val="3124"/>
              </a:lnSpc>
              <a:spcBef>
                <a:spcPct val="0"/>
              </a:spcBef>
            </a:pPr>
            <a:r>
              <a:rPr lang="en-US" b="true" sz="2231" strike="noStrike" u="none">
                <a:solidFill>
                  <a:srgbClr val="000000"/>
                </a:solidFill>
                <a:latin typeface="Montserrat Bold"/>
                <a:ea typeface="Montserrat Bold"/>
                <a:cs typeface="Montserrat Bold"/>
                <a:sym typeface="Montserrat Bold"/>
              </a:rPr>
              <a:t>Fitur Utama</a:t>
            </a:r>
          </a:p>
        </p:txBody>
      </p:sp>
      <p:sp>
        <p:nvSpPr>
          <p:cNvPr name="TextBox 28" id="28"/>
          <p:cNvSpPr txBox="true"/>
          <p:nvPr/>
        </p:nvSpPr>
        <p:spPr>
          <a:xfrm rot="0">
            <a:off x="11378972" y="2605087"/>
            <a:ext cx="4263305" cy="381461"/>
          </a:xfrm>
          <a:prstGeom prst="rect">
            <a:avLst/>
          </a:prstGeom>
        </p:spPr>
        <p:txBody>
          <a:bodyPr anchor="t" rtlCol="false" tIns="0" lIns="0" bIns="0" rIns="0">
            <a:spAutoFit/>
          </a:bodyPr>
          <a:lstStyle/>
          <a:p>
            <a:pPr algn="ctr" marL="0" indent="0" lvl="0">
              <a:lnSpc>
                <a:spcPts val="3124"/>
              </a:lnSpc>
              <a:spcBef>
                <a:spcPct val="0"/>
              </a:spcBef>
            </a:pPr>
            <a:r>
              <a:rPr lang="en-US" b="true" sz="2231">
                <a:solidFill>
                  <a:srgbClr val="FF0000"/>
                </a:solidFill>
                <a:latin typeface="Montserrat Bold"/>
                <a:ea typeface="Montserrat Bold"/>
                <a:cs typeface="Montserrat Bold"/>
                <a:sym typeface="Montserrat Bold"/>
              </a:rPr>
              <a:t>Masyarakat</a:t>
            </a:r>
          </a:p>
        </p:txBody>
      </p:sp>
      <p:sp>
        <p:nvSpPr>
          <p:cNvPr name="TextBox 29" id="29"/>
          <p:cNvSpPr txBox="true"/>
          <p:nvPr/>
        </p:nvSpPr>
        <p:spPr>
          <a:xfrm rot="0">
            <a:off x="11359922" y="5795701"/>
            <a:ext cx="4263305" cy="381461"/>
          </a:xfrm>
          <a:prstGeom prst="rect">
            <a:avLst/>
          </a:prstGeom>
        </p:spPr>
        <p:txBody>
          <a:bodyPr anchor="t" rtlCol="false" tIns="0" lIns="0" bIns="0" rIns="0">
            <a:spAutoFit/>
          </a:bodyPr>
          <a:lstStyle/>
          <a:p>
            <a:pPr algn="ctr" marL="0" indent="0" lvl="0">
              <a:lnSpc>
                <a:spcPts val="3124"/>
              </a:lnSpc>
              <a:spcBef>
                <a:spcPct val="0"/>
              </a:spcBef>
            </a:pPr>
            <a:r>
              <a:rPr lang="en-US" b="true" sz="2231">
                <a:solidFill>
                  <a:srgbClr val="FF0000"/>
                </a:solidFill>
                <a:latin typeface="Montserrat Bold"/>
                <a:ea typeface="Montserrat Bold"/>
                <a:cs typeface="Montserrat Bold"/>
                <a:sym typeface="Montserrat Bold"/>
              </a:rPr>
              <a:t>Pemerintah</a:t>
            </a:r>
          </a:p>
        </p:txBody>
      </p:sp>
      <p:sp>
        <p:nvSpPr>
          <p:cNvPr name="TextBox 30" id="30"/>
          <p:cNvSpPr txBox="true"/>
          <p:nvPr/>
        </p:nvSpPr>
        <p:spPr>
          <a:xfrm rot="0">
            <a:off x="10830698" y="3272298"/>
            <a:ext cx="2446899" cy="1553036"/>
          </a:xfrm>
          <a:prstGeom prst="rect">
            <a:avLst/>
          </a:prstGeom>
        </p:spPr>
        <p:txBody>
          <a:bodyPr anchor="t" rtlCol="false" tIns="0" lIns="0" bIns="0" rIns="0">
            <a:spAutoFit/>
          </a:bodyPr>
          <a:lstStyle/>
          <a:p>
            <a:pPr algn="l" marL="0" indent="0" lvl="0">
              <a:lnSpc>
                <a:spcPts val="3124"/>
              </a:lnSpc>
              <a:spcBef>
                <a:spcPct val="0"/>
              </a:spcBef>
            </a:pPr>
            <a:r>
              <a:rPr lang="en-US" b="true" sz="2231">
                <a:solidFill>
                  <a:srgbClr val="000000"/>
                </a:solidFill>
                <a:latin typeface="Montserrat Bold"/>
                <a:ea typeface="Montserrat Bold"/>
                <a:cs typeface="Montserrat Bold"/>
                <a:sym typeface="Montserrat Bold"/>
              </a:rPr>
              <a:t>Penilaian K</a:t>
            </a:r>
            <a:r>
              <a:rPr lang="en-US" b="true" sz="2231" strike="noStrike" u="none">
                <a:solidFill>
                  <a:srgbClr val="000000"/>
                </a:solidFill>
                <a:latin typeface="Montserrat Bold"/>
                <a:ea typeface="Montserrat Bold"/>
                <a:cs typeface="Montserrat Bold"/>
                <a:sym typeface="Montserrat Bold"/>
              </a:rPr>
              <a:t>i</a:t>
            </a:r>
            <a:r>
              <a:rPr lang="en-US" b="true" sz="2231" strike="noStrike" u="none">
                <a:solidFill>
                  <a:srgbClr val="000000"/>
                </a:solidFill>
                <a:latin typeface="Montserrat Bold"/>
                <a:ea typeface="Montserrat Bold"/>
                <a:cs typeface="Montserrat Bold"/>
                <a:sym typeface="Montserrat Bold"/>
              </a:rPr>
              <a:t>ne</a:t>
            </a:r>
            <a:r>
              <a:rPr lang="en-US" b="true" sz="2231" strike="noStrike" u="none">
                <a:solidFill>
                  <a:srgbClr val="000000"/>
                </a:solidFill>
                <a:latin typeface="Montserrat Bold"/>
                <a:ea typeface="Montserrat Bold"/>
                <a:cs typeface="Montserrat Bold"/>
                <a:sym typeface="Montserrat Bold"/>
              </a:rPr>
              <a:t>r</a:t>
            </a:r>
            <a:r>
              <a:rPr lang="en-US" b="true" sz="2231" strike="noStrike" u="none">
                <a:solidFill>
                  <a:srgbClr val="000000"/>
                </a:solidFill>
                <a:latin typeface="Montserrat Bold"/>
                <a:ea typeface="Montserrat Bold"/>
                <a:cs typeface="Montserrat Bold"/>
                <a:sym typeface="Montserrat Bold"/>
              </a:rPr>
              <a:t>ja</a:t>
            </a:r>
            <a:r>
              <a:rPr lang="en-US" b="true" sz="2231" strike="noStrike" u="none">
                <a:solidFill>
                  <a:srgbClr val="000000"/>
                </a:solidFill>
                <a:latin typeface="Montserrat Bold"/>
                <a:ea typeface="Montserrat Bold"/>
                <a:cs typeface="Montserrat Bold"/>
                <a:sym typeface="Montserrat Bold"/>
              </a:rPr>
              <a:t> </a:t>
            </a:r>
            <a:r>
              <a:rPr lang="en-US" b="true" sz="2231" strike="noStrike" u="none">
                <a:solidFill>
                  <a:srgbClr val="000000"/>
                </a:solidFill>
                <a:latin typeface="Montserrat Bold"/>
                <a:ea typeface="Montserrat Bold"/>
                <a:cs typeface="Montserrat Bold"/>
                <a:sym typeface="Montserrat Bold"/>
              </a:rPr>
              <a:t>O</a:t>
            </a:r>
            <a:r>
              <a:rPr lang="en-US" b="true" sz="2231" strike="noStrike" u="none">
                <a:solidFill>
                  <a:srgbClr val="000000"/>
                </a:solidFill>
                <a:latin typeface="Montserrat Bold"/>
                <a:ea typeface="Montserrat Bold"/>
                <a:cs typeface="Montserrat Bold"/>
                <a:sym typeface="Montserrat Bold"/>
              </a:rPr>
              <a:t>t</a:t>
            </a:r>
            <a:r>
              <a:rPr lang="en-US" b="true" sz="2231" strike="noStrike" u="none">
                <a:solidFill>
                  <a:srgbClr val="000000"/>
                </a:solidFill>
                <a:latin typeface="Montserrat Bold"/>
                <a:ea typeface="Montserrat Bold"/>
                <a:cs typeface="Montserrat Bold"/>
                <a:sym typeface="Montserrat Bold"/>
              </a:rPr>
              <a:t>o</a:t>
            </a:r>
            <a:r>
              <a:rPr lang="en-US" b="true" sz="2231" strike="noStrike" u="none">
                <a:solidFill>
                  <a:srgbClr val="000000"/>
                </a:solidFill>
                <a:latin typeface="Montserrat Bold"/>
                <a:ea typeface="Montserrat Bold"/>
                <a:cs typeface="Montserrat Bold"/>
                <a:sym typeface="Montserrat Bold"/>
              </a:rPr>
              <a:t>ma</a:t>
            </a:r>
            <a:r>
              <a:rPr lang="en-US" b="true" sz="2231" strike="noStrike" u="none">
                <a:solidFill>
                  <a:srgbClr val="000000"/>
                </a:solidFill>
                <a:latin typeface="Montserrat Bold"/>
                <a:ea typeface="Montserrat Bold"/>
                <a:cs typeface="Montserrat Bold"/>
                <a:sym typeface="Montserrat Bold"/>
              </a:rPr>
              <a:t>tis Berbasis AI</a:t>
            </a:r>
          </a:p>
        </p:txBody>
      </p:sp>
      <p:sp>
        <p:nvSpPr>
          <p:cNvPr name="TextBox 31" id="31"/>
          <p:cNvSpPr txBox="true"/>
          <p:nvPr/>
        </p:nvSpPr>
        <p:spPr>
          <a:xfrm rot="0">
            <a:off x="15892206" y="3199939"/>
            <a:ext cx="2005119" cy="1943561"/>
          </a:xfrm>
          <a:prstGeom prst="rect">
            <a:avLst/>
          </a:prstGeom>
        </p:spPr>
        <p:txBody>
          <a:bodyPr anchor="t" rtlCol="false" tIns="0" lIns="0" bIns="0" rIns="0">
            <a:spAutoFit/>
          </a:bodyPr>
          <a:lstStyle/>
          <a:p>
            <a:pPr algn="l" marL="0" indent="0" lvl="0">
              <a:lnSpc>
                <a:spcPts val="3124"/>
              </a:lnSpc>
              <a:spcBef>
                <a:spcPct val="0"/>
              </a:spcBef>
            </a:pPr>
            <a:r>
              <a:rPr lang="en-US" b="true" sz="2231" strike="noStrike" u="none">
                <a:solidFill>
                  <a:srgbClr val="000000"/>
                </a:solidFill>
                <a:latin typeface="Montserrat Bold"/>
                <a:ea typeface="Montserrat Bold"/>
                <a:cs typeface="Montserrat Bold"/>
                <a:sym typeface="Montserrat Bold"/>
              </a:rPr>
              <a:t>Narasi Penilaian Transparan (Explainable AI)</a:t>
            </a:r>
          </a:p>
        </p:txBody>
      </p:sp>
      <p:sp>
        <p:nvSpPr>
          <p:cNvPr name="TextBox 32" id="32"/>
          <p:cNvSpPr txBox="true"/>
          <p:nvPr/>
        </p:nvSpPr>
        <p:spPr>
          <a:xfrm rot="0">
            <a:off x="9621685" y="6685483"/>
            <a:ext cx="3526990" cy="771986"/>
          </a:xfrm>
          <a:prstGeom prst="rect">
            <a:avLst/>
          </a:prstGeom>
        </p:spPr>
        <p:txBody>
          <a:bodyPr anchor="t" rtlCol="false" tIns="0" lIns="0" bIns="0" rIns="0">
            <a:spAutoFit/>
          </a:bodyPr>
          <a:lstStyle/>
          <a:p>
            <a:pPr algn="l" marL="0" indent="0" lvl="0">
              <a:lnSpc>
                <a:spcPts val="3124"/>
              </a:lnSpc>
              <a:spcBef>
                <a:spcPct val="0"/>
              </a:spcBef>
            </a:pPr>
            <a:r>
              <a:rPr lang="en-US" b="true" sz="2231">
                <a:solidFill>
                  <a:srgbClr val="000000"/>
                </a:solidFill>
                <a:latin typeface="Montserrat Bold"/>
                <a:ea typeface="Montserrat Bold"/>
                <a:cs typeface="Montserrat Bold"/>
                <a:sym typeface="Montserrat Bold"/>
              </a:rPr>
              <a:t>Dashboa</a:t>
            </a:r>
            <a:r>
              <a:rPr lang="en-US" b="true" sz="2231" strike="noStrike" u="none">
                <a:solidFill>
                  <a:srgbClr val="000000"/>
                </a:solidFill>
                <a:latin typeface="Montserrat Bold"/>
                <a:ea typeface="Montserrat Bold"/>
                <a:cs typeface="Montserrat Bold"/>
                <a:sym typeface="Montserrat Bold"/>
              </a:rPr>
              <a:t>rd Analitik Merit Instansi</a:t>
            </a:r>
          </a:p>
        </p:txBody>
      </p:sp>
      <p:sp>
        <p:nvSpPr>
          <p:cNvPr name="TextBox 33" id="33"/>
          <p:cNvSpPr txBox="true"/>
          <p:nvPr/>
        </p:nvSpPr>
        <p:spPr>
          <a:xfrm rot="0">
            <a:off x="13870487" y="6569695"/>
            <a:ext cx="4016982" cy="771986"/>
          </a:xfrm>
          <a:prstGeom prst="rect">
            <a:avLst/>
          </a:prstGeom>
        </p:spPr>
        <p:txBody>
          <a:bodyPr anchor="t" rtlCol="false" tIns="0" lIns="0" bIns="0" rIns="0">
            <a:spAutoFit/>
          </a:bodyPr>
          <a:lstStyle/>
          <a:p>
            <a:pPr algn="l" marL="0" indent="0" lvl="0">
              <a:lnSpc>
                <a:spcPts val="3124"/>
              </a:lnSpc>
              <a:spcBef>
                <a:spcPct val="0"/>
              </a:spcBef>
            </a:pPr>
            <a:r>
              <a:rPr lang="en-US" b="true" sz="2231">
                <a:solidFill>
                  <a:srgbClr val="000000"/>
                </a:solidFill>
                <a:latin typeface="Montserrat Bold"/>
                <a:ea typeface="Montserrat Bold"/>
                <a:cs typeface="Montserrat Bold"/>
                <a:sym typeface="Montserrat Bold"/>
              </a:rPr>
              <a:t>Aud</a:t>
            </a:r>
            <a:r>
              <a:rPr lang="en-US" b="true" sz="2231" strike="noStrike" u="none">
                <a:solidFill>
                  <a:srgbClr val="000000"/>
                </a:solidFill>
                <a:latin typeface="Montserrat Bold"/>
                <a:ea typeface="Montserrat Bold"/>
                <a:cs typeface="Montserrat Bold"/>
                <a:sym typeface="Montserrat Bold"/>
              </a:rPr>
              <a:t>i</a:t>
            </a:r>
            <a:r>
              <a:rPr lang="en-US" b="true" sz="2231" strike="noStrike" u="none">
                <a:solidFill>
                  <a:srgbClr val="000000"/>
                </a:solidFill>
                <a:latin typeface="Montserrat Bold"/>
                <a:ea typeface="Montserrat Bold"/>
                <a:cs typeface="Montserrat Bold"/>
                <a:sym typeface="Montserrat Bold"/>
              </a:rPr>
              <a:t>t &amp; I</a:t>
            </a:r>
            <a:r>
              <a:rPr lang="en-US" b="true" sz="2231" strike="noStrike" u="none">
                <a:solidFill>
                  <a:srgbClr val="000000"/>
                </a:solidFill>
                <a:latin typeface="Montserrat Bold"/>
                <a:ea typeface="Montserrat Bold"/>
                <a:cs typeface="Montserrat Bold"/>
                <a:sym typeface="Montserrat Bold"/>
              </a:rPr>
              <a:t>n</a:t>
            </a:r>
            <a:r>
              <a:rPr lang="en-US" b="true" sz="2231" strike="noStrike" u="none">
                <a:solidFill>
                  <a:srgbClr val="000000"/>
                </a:solidFill>
                <a:latin typeface="Montserrat Bold"/>
                <a:ea typeface="Montserrat Bold"/>
                <a:cs typeface="Montserrat Bold"/>
                <a:sym typeface="Montserrat Bold"/>
              </a:rPr>
              <a:t>tegr</a:t>
            </a:r>
            <a:r>
              <a:rPr lang="en-US" b="true" sz="2231" strike="noStrike" u="none">
                <a:solidFill>
                  <a:srgbClr val="000000"/>
                </a:solidFill>
                <a:latin typeface="Montserrat Bold"/>
                <a:ea typeface="Montserrat Bold"/>
                <a:cs typeface="Montserrat Bold"/>
                <a:sym typeface="Montserrat Bold"/>
              </a:rPr>
              <a:t>i</a:t>
            </a:r>
            <a:r>
              <a:rPr lang="en-US" b="true" sz="2231" strike="noStrike" u="none">
                <a:solidFill>
                  <a:srgbClr val="000000"/>
                </a:solidFill>
                <a:latin typeface="Montserrat Bold"/>
                <a:ea typeface="Montserrat Bold"/>
                <a:cs typeface="Montserrat Bold"/>
                <a:sym typeface="Montserrat Bold"/>
              </a:rPr>
              <a:t>t</a:t>
            </a:r>
            <a:r>
              <a:rPr lang="en-US" b="true" sz="2231" strike="noStrike" u="none">
                <a:solidFill>
                  <a:srgbClr val="000000"/>
                </a:solidFill>
                <a:latin typeface="Montserrat Bold"/>
                <a:ea typeface="Montserrat Bold"/>
                <a:cs typeface="Montserrat Bold"/>
                <a:sym typeface="Montserrat Bold"/>
              </a:rPr>
              <a:t>a</a:t>
            </a:r>
            <a:r>
              <a:rPr lang="en-US" b="true" sz="2231" strike="noStrike" u="none">
                <a:solidFill>
                  <a:srgbClr val="000000"/>
                </a:solidFill>
                <a:latin typeface="Montserrat Bold"/>
                <a:ea typeface="Montserrat Bold"/>
                <a:cs typeface="Montserrat Bold"/>
                <a:sym typeface="Montserrat Bold"/>
              </a:rPr>
              <a:t>s D</a:t>
            </a:r>
            <a:r>
              <a:rPr lang="en-US" b="true" sz="2231" strike="noStrike" u="none">
                <a:solidFill>
                  <a:srgbClr val="000000"/>
                </a:solidFill>
                <a:latin typeface="Montserrat Bold"/>
                <a:ea typeface="Montserrat Bold"/>
                <a:cs typeface="Montserrat Bold"/>
                <a:sym typeface="Montserrat Bold"/>
              </a:rPr>
              <a:t>a</a:t>
            </a:r>
            <a:r>
              <a:rPr lang="en-US" b="true" sz="2231" strike="noStrike" u="none">
                <a:solidFill>
                  <a:srgbClr val="000000"/>
                </a:solidFill>
                <a:latin typeface="Montserrat Bold"/>
                <a:ea typeface="Montserrat Bold"/>
                <a:cs typeface="Montserrat Bold"/>
                <a:sym typeface="Montserrat Bold"/>
              </a:rPr>
              <a:t>ta</a:t>
            </a:r>
            <a:r>
              <a:rPr lang="en-US" b="true" sz="2231" strike="noStrike" u="none">
                <a:solidFill>
                  <a:srgbClr val="000000"/>
                </a:solidFill>
                <a:latin typeface="Montserrat Bold"/>
                <a:ea typeface="Montserrat Bold"/>
                <a:cs typeface="Montserrat Bold"/>
                <a:sym typeface="Montserrat Bold"/>
              </a:rPr>
              <a:t> </a:t>
            </a:r>
            <a:r>
              <a:rPr lang="en-US" b="true" sz="2231" strike="noStrike" u="none">
                <a:solidFill>
                  <a:srgbClr val="000000"/>
                </a:solidFill>
                <a:latin typeface="Montserrat Bold"/>
                <a:ea typeface="Montserrat Bold"/>
                <a:cs typeface="Montserrat Bold"/>
                <a:sym typeface="Montserrat Bold"/>
              </a:rPr>
              <a:t>Be</a:t>
            </a:r>
            <a:r>
              <a:rPr lang="en-US" b="true" sz="2231" strike="noStrike" u="none">
                <a:solidFill>
                  <a:srgbClr val="000000"/>
                </a:solidFill>
                <a:latin typeface="Montserrat Bold"/>
                <a:ea typeface="Montserrat Bold"/>
                <a:cs typeface="Montserrat Bold"/>
                <a:sym typeface="Montserrat Bold"/>
              </a:rPr>
              <a:t>r</a:t>
            </a:r>
            <a:r>
              <a:rPr lang="en-US" b="true" sz="2231" strike="noStrike" u="none">
                <a:solidFill>
                  <a:srgbClr val="000000"/>
                </a:solidFill>
                <a:latin typeface="Montserrat Bold"/>
                <a:ea typeface="Montserrat Bold"/>
                <a:cs typeface="Montserrat Bold"/>
                <a:sym typeface="Montserrat Bold"/>
              </a:rPr>
              <a:t>b</a:t>
            </a:r>
            <a:r>
              <a:rPr lang="en-US" b="true" sz="2231" strike="noStrike" u="none">
                <a:solidFill>
                  <a:srgbClr val="000000"/>
                </a:solidFill>
                <a:latin typeface="Montserrat Bold"/>
                <a:ea typeface="Montserrat Bold"/>
                <a:cs typeface="Montserrat Bold"/>
                <a:sym typeface="Montserrat Bold"/>
              </a:rPr>
              <a:t>a</a:t>
            </a:r>
            <a:r>
              <a:rPr lang="en-US" b="true" sz="2231" strike="noStrike" u="none">
                <a:solidFill>
                  <a:srgbClr val="000000"/>
                </a:solidFill>
                <a:latin typeface="Montserrat Bold"/>
                <a:ea typeface="Montserrat Bold"/>
                <a:cs typeface="Montserrat Bold"/>
                <a:sym typeface="Montserrat Bold"/>
              </a:rPr>
              <a:t>sis Blockchai</a:t>
            </a:r>
            <a:r>
              <a:rPr lang="en-US" b="true" sz="2231" strike="noStrike" u="none">
                <a:solidFill>
                  <a:srgbClr val="000000"/>
                </a:solidFill>
                <a:latin typeface="Montserrat Bold"/>
                <a:ea typeface="Montserrat Bold"/>
                <a:cs typeface="Montserrat Bold"/>
                <a:sym typeface="Montserrat Bold"/>
              </a:rPr>
              <a:t>n</a:t>
            </a:r>
          </a:p>
        </p:txBody>
      </p:sp>
      <p:sp>
        <p:nvSpPr>
          <p:cNvPr name="TextBox 34" id="34"/>
          <p:cNvSpPr txBox="true"/>
          <p:nvPr/>
        </p:nvSpPr>
        <p:spPr>
          <a:xfrm rot="0">
            <a:off x="9621685" y="7600344"/>
            <a:ext cx="3123240" cy="1162511"/>
          </a:xfrm>
          <a:prstGeom prst="rect">
            <a:avLst/>
          </a:prstGeom>
        </p:spPr>
        <p:txBody>
          <a:bodyPr anchor="t" rtlCol="false" tIns="0" lIns="0" bIns="0" rIns="0">
            <a:spAutoFit/>
          </a:bodyPr>
          <a:lstStyle/>
          <a:p>
            <a:pPr algn="just">
              <a:lnSpc>
                <a:spcPts val="3124"/>
              </a:lnSpc>
            </a:pPr>
            <a:r>
              <a:rPr lang="en-US" sz="2231">
                <a:solidFill>
                  <a:srgbClr val="000000"/>
                </a:solidFill>
                <a:latin typeface="Montserrat"/>
                <a:ea typeface="Montserrat"/>
                <a:cs typeface="Montserrat"/>
                <a:sym typeface="Montserrat"/>
              </a:rPr>
              <a:t>Pemerintah</a:t>
            </a:r>
            <a:r>
              <a:rPr lang="en-US" sz="2231">
                <a:solidFill>
                  <a:srgbClr val="000000"/>
                </a:solidFill>
                <a:latin typeface="Montserrat"/>
                <a:ea typeface="Montserrat"/>
                <a:cs typeface="Montserrat"/>
                <a:sym typeface="Montserrat"/>
              </a:rPr>
              <a:t> dapat melihat peta kinerja ASN secara real-time</a:t>
            </a:r>
          </a:p>
        </p:txBody>
      </p:sp>
      <p:sp>
        <p:nvSpPr>
          <p:cNvPr name="TextBox 35" id="35"/>
          <p:cNvSpPr txBox="true"/>
          <p:nvPr/>
        </p:nvSpPr>
        <p:spPr>
          <a:xfrm rot="0">
            <a:off x="13870487" y="7551231"/>
            <a:ext cx="3727145" cy="1553036"/>
          </a:xfrm>
          <a:prstGeom prst="rect">
            <a:avLst/>
          </a:prstGeom>
        </p:spPr>
        <p:txBody>
          <a:bodyPr anchor="t" rtlCol="false" tIns="0" lIns="0" bIns="0" rIns="0">
            <a:spAutoFit/>
          </a:bodyPr>
          <a:lstStyle/>
          <a:p>
            <a:pPr algn="just">
              <a:lnSpc>
                <a:spcPts val="3124"/>
              </a:lnSpc>
            </a:pPr>
            <a:r>
              <a:rPr lang="en-US" sz="2231">
                <a:solidFill>
                  <a:srgbClr val="000000"/>
                </a:solidFill>
                <a:latin typeface="Montserrat"/>
                <a:ea typeface="Montserrat"/>
                <a:cs typeface="Montserrat"/>
                <a:sym typeface="Montserrat"/>
              </a:rPr>
              <a:t>Semua</a:t>
            </a:r>
            <a:r>
              <a:rPr lang="en-US" sz="2231">
                <a:solidFill>
                  <a:srgbClr val="000000"/>
                </a:solidFill>
                <a:latin typeface="Montserrat"/>
                <a:ea typeface="Montserrat"/>
                <a:cs typeface="Montserrat"/>
                <a:sym typeface="Montserrat"/>
              </a:rPr>
              <a:t> aktivitas penilaian dan perubahan data tercatat otomatis di Hyperledger Fabri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9837954"/>
            <a:ext cx="18595517" cy="542466"/>
            <a:chOff x="0" y="0"/>
            <a:chExt cx="4897585" cy="142872"/>
          </a:xfrm>
        </p:grpSpPr>
        <p:sp>
          <p:nvSpPr>
            <p:cNvPr name="Freeform 3" id="3"/>
            <p:cNvSpPr/>
            <p:nvPr/>
          </p:nvSpPr>
          <p:spPr>
            <a:xfrm flipH="false" flipV="false" rot="0">
              <a:off x="0" y="0"/>
              <a:ext cx="4897585" cy="142872"/>
            </a:xfrm>
            <a:custGeom>
              <a:avLst/>
              <a:gdLst/>
              <a:ahLst/>
              <a:cxnLst/>
              <a:rect r="r" b="b" t="t" l="l"/>
              <a:pathLst>
                <a:path h="142872" w="4897585">
                  <a:moveTo>
                    <a:pt x="0" y="0"/>
                  </a:moveTo>
                  <a:lnTo>
                    <a:pt x="4897585" y="0"/>
                  </a:lnTo>
                  <a:lnTo>
                    <a:pt x="4897585" y="142872"/>
                  </a:lnTo>
                  <a:lnTo>
                    <a:pt x="0" y="142872"/>
                  </a:lnTo>
                  <a:close/>
                </a:path>
              </a:pathLst>
            </a:custGeom>
            <a:solidFill>
              <a:srgbClr val="017BC7"/>
            </a:solidFill>
          </p:spPr>
        </p:sp>
        <p:sp>
          <p:nvSpPr>
            <p:cNvPr name="TextBox 4" id="4"/>
            <p:cNvSpPr txBox="true"/>
            <p:nvPr/>
          </p:nvSpPr>
          <p:spPr>
            <a:xfrm>
              <a:off x="0" y="-47625"/>
              <a:ext cx="4897585" cy="190497"/>
            </a:xfrm>
            <a:prstGeom prst="rect">
              <a:avLst/>
            </a:prstGeom>
          </p:spPr>
          <p:txBody>
            <a:bodyPr anchor="ctr" rtlCol="false" tIns="50800" lIns="50800" bIns="50800" rIns="50800"/>
            <a:lstStyle/>
            <a:p>
              <a:pPr algn="ctr">
                <a:lnSpc>
                  <a:spcPts val="3511"/>
                </a:lnSpc>
              </a:pPr>
            </a:p>
          </p:txBody>
        </p:sp>
      </p:grpSp>
      <p:sp>
        <p:nvSpPr>
          <p:cNvPr name="Freeform 5" id="5"/>
          <p:cNvSpPr/>
          <p:nvPr/>
        </p:nvSpPr>
        <p:spPr>
          <a:xfrm flipH="false" flipV="false" rot="0">
            <a:off x="15892206" y="-565005"/>
            <a:ext cx="3410853" cy="2737210"/>
          </a:xfrm>
          <a:custGeom>
            <a:avLst/>
            <a:gdLst/>
            <a:ahLst/>
            <a:cxnLst/>
            <a:rect r="r" b="b" t="t" l="l"/>
            <a:pathLst>
              <a:path h="2737210" w="3410853">
                <a:moveTo>
                  <a:pt x="0" y="0"/>
                </a:moveTo>
                <a:lnTo>
                  <a:pt x="3410853" y="0"/>
                </a:lnTo>
                <a:lnTo>
                  <a:pt x="3410853" y="2737209"/>
                </a:lnTo>
                <a:lnTo>
                  <a:pt x="0" y="27372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5142" y="-329006"/>
            <a:ext cx="2387684" cy="875484"/>
          </a:xfrm>
          <a:custGeom>
            <a:avLst/>
            <a:gdLst/>
            <a:ahLst/>
            <a:cxnLst/>
            <a:rect r="r" b="b" t="t" l="l"/>
            <a:pathLst>
              <a:path h="875484" w="2387684">
                <a:moveTo>
                  <a:pt x="0" y="0"/>
                </a:moveTo>
                <a:lnTo>
                  <a:pt x="2387684" y="0"/>
                </a:lnTo>
                <a:lnTo>
                  <a:pt x="2387684" y="875484"/>
                </a:lnTo>
                <a:lnTo>
                  <a:pt x="0" y="8754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744925" y="-329006"/>
            <a:ext cx="2251123" cy="1876873"/>
          </a:xfrm>
          <a:custGeom>
            <a:avLst/>
            <a:gdLst/>
            <a:ahLst/>
            <a:cxnLst/>
            <a:rect r="r" b="b" t="t" l="l"/>
            <a:pathLst>
              <a:path h="1876873" w="2251123">
                <a:moveTo>
                  <a:pt x="0" y="0"/>
                </a:moveTo>
                <a:lnTo>
                  <a:pt x="2251123" y="0"/>
                </a:lnTo>
                <a:lnTo>
                  <a:pt x="2251123" y="1876873"/>
                </a:lnTo>
                <a:lnTo>
                  <a:pt x="0" y="18768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46795" y="2585670"/>
            <a:ext cx="15113413" cy="6838819"/>
          </a:xfrm>
          <a:custGeom>
            <a:avLst/>
            <a:gdLst/>
            <a:ahLst/>
            <a:cxnLst/>
            <a:rect r="r" b="b" t="t" l="l"/>
            <a:pathLst>
              <a:path h="6838819" w="15113413">
                <a:moveTo>
                  <a:pt x="0" y="0"/>
                </a:moveTo>
                <a:lnTo>
                  <a:pt x="15113413" y="0"/>
                </a:lnTo>
                <a:lnTo>
                  <a:pt x="15113413" y="6838819"/>
                </a:lnTo>
                <a:lnTo>
                  <a:pt x="0" y="68388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825481" y="670250"/>
            <a:ext cx="5488133" cy="1177498"/>
          </a:xfrm>
          <a:prstGeom prst="rect">
            <a:avLst/>
          </a:prstGeom>
        </p:spPr>
        <p:txBody>
          <a:bodyPr anchor="t" rtlCol="false" tIns="0" lIns="0" bIns="0" rIns="0">
            <a:spAutoFit/>
          </a:bodyPr>
          <a:lstStyle/>
          <a:p>
            <a:pPr algn="l">
              <a:lnSpc>
                <a:spcPts val="9648"/>
              </a:lnSpc>
            </a:pPr>
            <a:r>
              <a:rPr lang="en-US" sz="6891" b="true">
                <a:solidFill>
                  <a:srgbClr val="000000"/>
                </a:solidFill>
                <a:latin typeface="Montaser Arabic Bold"/>
                <a:ea typeface="Montaser Arabic Bold"/>
                <a:cs typeface="Montaser Arabic Bold"/>
                <a:sym typeface="Montaser Arabic Bold"/>
              </a:rPr>
              <a:t>METODE</a:t>
            </a:r>
          </a:p>
        </p:txBody>
      </p:sp>
      <p:sp>
        <p:nvSpPr>
          <p:cNvPr name="TextBox 10" id="10"/>
          <p:cNvSpPr txBox="true"/>
          <p:nvPr/>
        </p:nvSpPr>
        <p:spPr>
          <a:xfrm rot="0">
            <a:off x="1632258" y="2939504"/>
            <a:ext cx="3401244" cy="381461"/>
          </a:xfrm>
          <a:prstGeom prst="rect">
            <a:avLst/>
          </a:prstGeom>
        </p:spPr>
        <p:txBody>
          <a:bodyPr anchor="t" rtlCol="false" tIns="0" lIns="0" bIns="0" rIns="0">
            <a:spAutoFit/>
          </a:bodyPr>
          <a:lstStyle/>
          <a:p>
            <a:pPr algn="ctr">
              <a:lnSpc>
                <a:spcPts val="3124"/>
              </a:lnSpc>
              <a:spcBef>
                <a:spcPct val="0"/>
              </a:spcBef>
            </a:pPr>
            <a:r>
              <a:rPr lang="en-US" b="true" sz="2231">
                <a:solidFill>
                  <a:srgbClr val="000000"/>
                </a:solidFill>
                <a:latin typeface="Montserrat Bold"/>
                <a:ea typeface="Montserrat Bold"/>
                <a:cs typeface="Montserrat Bold"/>
                <a:sym typeface="Montserrat Bold"/>
              </a:rPr>
              <a:t>Data Collection</a:t>
            </a:r>
          </a:p>
        </p:txBody>
      </p:sp>
      <p:sp>
        <p:nvSpPr>
          <p:cNvPr name="TextBox 11" id="11"/>
          <p:cNvSpPr txBox="true"/>
          <p:nvPr/>
        </p:nvSpPr>
        <p:spPr>
          <a:xfrm rot="0">
            <a:off x="1632258" y="3530515"/>
            <a:ext cx="3401244" cy="1553036"/>
          </a:xfrm>
          <a:prstGeom prst="rect">
            <a:avLst/>
          </a:prstGeom>
        </p:spPr>
        <p:txBody>
          <a:bodyPr anchor="t" rtlCol="false" tIns="0" lIns="0" bIns="0" rIns="0">
            <a:spAutoFit/>
          </a:bodyPr>
          <a:lstStyle/>
          <a:p>
            <a:pPr algn="just">
              <a:lnSpc>
                <a:spcPts val="3124"/>
              </a:lnSpc>
              <a:spcBef>
                <a:spcPct val="0"/>
              </a:spcBef>
            </a:pPr>
            <a:r>
              <a:rPr lang="en-US" sz="2231">
                <a:solidFill>
                  <a:srgbClr val="000000"/>
                </a:solidFill>
                <a:latin typeface="Montserrat"/>
                <a:ea typeface="Montserrat"/>
                <a:cs typeface="Montserrat"/>
                <a:sym typeface="Montserrat"/>
              </a:rPr>
              <a:t>Sistem mengambil d</a:t>
            </a:r>
            <a:r>
              <a:rPr lang="en-US" sz="2231">
                <a:solidFill>
                  <a:srgbClr val="000000"/>
                </a:solidFill>
                <a:latin typeface="Montserrat"/>
                <a:ea typeface="Montserrat"/>
                <a:cs typeface="Montserrat"/>
                <a:sym typeface="Montserrat"/>
              </a:rPr>
              <a:t>ata ( SKP, laporan aktivitas harian)</a:t>
            </a:r>
          </a:p>
          <a:p>
            <a:pPr algn="just">
              <a:lnSpc>
                <a:spcPts val="3124"/>
              </a:lnSpc>
              <a:spcBef>
                <a:spcPct val="0"/>
              </a:spcBef>
            </a:pPr>
            <a:r>
              <a:rPr lang="en-US" sz="2231">
                <a:solidFill>
                  <a:srgbClr val="000000"/>
                </a:solidFill>
                <a:latin typeface="Montserrat"/>
                <a:ea typeface="Montserrat"/>
                <a:cs typeface="Montserrat"/>
                <a:sym typeface="Montserrat"/>
              </a:rPr>
              <a:t> </a:t>
            </a:r>
          </a:p>
        </p:txBody>
      </p:sp>
      <p:sp>
        <p:nvSpPr>
          <p:cNvPr name="TextBox 12" id="12"/>
          <p:cNvSpPr txBox="true"/>
          <p:nvPr/>
        </p:nvSpPr>
        <p:spPr>
          <a:xfrm rot="0">
            <a:off x="4340669" y="6569450"/>
            <a:ext cx="3401244" cy="381461"/>
          </a:xfrm>
          <a:prstGeom prst="rect">
            <a:avLst/>
          </a:prstGeom>
        </p:spPr>
        <p:txBody>
          <a:bodyPr anchor="t" rtlCol="false" tIns="0" lIns="0" bIns="0" rIns="0">
            <a:spAutoFit/>
          </a:bodyPr>
          <a:lstStyle/>
          <a:p>
            <a:pPr algn="ctr">
              <a:lnSpc>
                <a:spcPts val="3124"/>
              </a:lnSpc>
              <a:spcBef>
                <a:spcPct val="0"/>
              </a:spcBef>
            </a:pPr>
            <a:r>
              <a:rPr lang="en-US" b="true" sz="2231">
                <a:solidFill>
                  <a:srgbClr val="000000"/>
                </a:solidFill>
                <a:latin typeface="Montserrat Bold"/>
                <a:ea typeface="Montserrat Bold"/>
                <a:cs typeface="Montserrat Bold"/>
                <a:sym typeface="Montserrat Bold"/>
              </a:rPr>
              <a:t>Data Preprocessing</a:t>
            </a:r>
          </a:p>
        </p:txBody>
      </p:sp>
      <p:sp>
        <p:nvSpPr>
          <p:cNvPr name="TextBox 13" id="13"/>
          <p:cNvSpPr txBox="true"/>
          <p:nvPr/>
        </p:nvSpPr>
        <p:spPr>
          <a:xfrm rot="0">
            <a:off x="4340669" y="7314739"/>
            <a:ext cx="3401244" cy="1553036"/>
          </a:xfrm>
          <a:prstGeom prst="rect">
            <a:avLst/>
          </a:prstGeom>
        </p:spPr>
        <p:txBody>
          <a:bodyPr anchor="t" rtlCol="false" tIns="0" lIns="0" bIns="0" rIns="0">
            <a:spAutoFit/>
          </a:bodyPr>
          <a:lstStyle/>
          <a:p>
            <a:pPr algn="just">
              <a:lnSpc>
                <a:spcPts val="3124"/>
              </a:lnSpc>
              <a:spcBef>
                <a:spcPct val="0"/>
              </a:spcBef>
            </a:pPr>
            <a:r>
              <a:rPr lang="en-US" sz="2231">
                <a:solidFill>
                  <a:srgbClr val="000000"/>
                </a:solidFill>
                <a:latin typeface="Montserrat"/>
                <a:ea typeface="Montserrat"/>
                <a:cs typeface="Montserrat"/>
                <a:sym typeface="Montserrat"/>
              </a:rPr>
              <a:t>Teks dibersihk</a:t>
            </a:r>
            <a:r>
              <a:rPr lang="en-US" sz="2231">
                <a:solidFill>
                  <a:srgbClr val="000000"/>
                </a:solidFill>
                <a:latin typeface="Montserrat"/>
                <a:ea typeface="Montserrat"/>
                <a:cs typeface="Montserrat"/>
                <a:sym typeface="Montserrat"/>
              </a:rPr>
              <a:t>an dari noise (tanda baca, typo, stopwords) dan diubah ke bentuk baku.</a:t>
            </a:r>
          </a:p>
        </p:txBody>
      </p:sp>
      <p:sp>
        <p:nvSpPr>
          <p:cNvPr name="TextBox 14" id="14"/>
          <p:cNvSpPr txBox="true"/>
          <p:nvPr/>
        </p:nvSpPr>
        <p:spPr>
          <a:xfrm rot="0">
            <a:off x="7011041" y="2806154"/>
            <a:ext cx="3784921" cy="771986"/>
          </a:xfrm>
          <a:prstGeom prst="rect">
            <a:avLst/>
          </a:prstGeom>
        </p:spPr>
        <p:txBody>
          <a:bodyPr anchor="t" rtlCol="false" tIns="0" lIns="0" bIns="0" rIns="0">
            <a:spAutoFit/>
          </a:bodyPr>
          <a:lstStyle/>
          <a:p>
            <a:pPr algn="ctr">
              <a:lnSpc>
                <a:spcPts val="3124"/>
              </a:lnSpc>
              <a:spcBef>
                <a:spcPct val="0"/>
              </a:spcBef>
            </a:pPr>
            <a:r>
              <a:rPr lang="en-US" b="true" sz="2231">
                <a:solidFill>
                  <a:srgbClr val="000000"/>
                </a:solidFill>
                <a:latin typeface="Montserrat Bold"/>
                <a:ea typeface="Montserrat Bold"/>
                <a:cs typeface="Montserrat Bold"/>
                <a:sym typeface="Montserrat Bold"/>
              </a:rPr>
              <a:t>NLP Processing &amp; Feature Extraction</a:t>
            </a:r>
          </a:p>
        </p:txBody>
      </p:sp>
      <p:sp>
        <p:nvSpPr>
          <p:cNvPr name="TextBox 15" id="15"/>
          <p:cNvSpPr txBox="true"/>
          <p:nvPr/>
        </p:nvSpPr>
        <p:spPr>
          <a:xfrm rot="0">
            <a:off x="7202879" y="3725777"/>
            <a:ext cx="3401244" cy="1553036"/>
          </a:xfrm>
          <a:prstGeom prst="rect">
            <a:avLst/>
          </a:prstGeom>
        </p:spPr>
        <p:txBody>
          <a:bodyPr anchor="t" rtlCol="false" tIns="0" lIns="0" bIns="0" rIns="0">
            <a:spAutoFit/>
          </a:bodyPr>
          <a:lstStyle/>
          <a:p>
            <a:pPr algn="just">
              <a:lnSpc>
                <a:spcPts val="3124"/>
              </a:lnSpc>
              <a:spcBef>
                <a:spcPct val="0"/>
              </a:spcBef>
            </a:pPr>
            <a:r>
              <a:rPr lang="en-US" sz="2231">
                <a:solidFill>
                  <a:srgbClr val="000000"/>
                </a:solidFill>
                <a:latin typeface="Montserrat"/>
                <a:ea typeface="Montserrat"/>
                <a:cs typeface="Montserrat"/>
                <a:sym typeface="Montserrat"/>
              </a:rPr>
              <a:t>Teks dibersihk</a:t>
            </a:r>
            <a:r>
              <a:rPr lang="en-US" sz="2231">
                <a:solidFill>
                  <a:srgbClr val="000000"/>
                </a:solidFill>
                <a:latin typeface="Montserrat"/>
                <a:ea typeface="Montserrat"/>
                <a:cs typeface="Montserrat"/>
                <a:sym typeface="Montserrat"/>
              </a:rPr>
              <a:t>an dari noise (tanda baca, typo, stopwords) dan diubah ke bentuk baku.</a:t>
            </a:r>
          </a:p>
        </p:txBody>
      </p:sp>
      <p:sp>
        <p:nvSpPr>
          <p:cNvPr name="TextBox 16" id="16"/>
          <p:cNvSpPr txBox="true"/>
          <p:nvPr/>
        </p:nvSpPr>
        <p:spPr>
          <a:xfrm rot="0">
            <a:off x="9866831" y="6590378"/>
            <a:ext cx="3721810" cy="771986"/>
          </a:xfrm>
          <a:prstGeom prst="rect">
            <a:avLst/>
          </a:prstGeom>
        </p:spPr>
        <p:txBody>
          <a:bodyPr anchor="t" rtlCol="false" tIns="0" lIns="0" bIns="0" rIns="0">
            <a:spAutoFit/>
          </a:bodyPr>
          <a:lstStyle/>
          <a:p>
            <a:pPr algn="ctr">
              <a:lnSpc>
                <a:spcPts val="3124"/>
              </a:lnSpc>
              <a:spcBef>
                <a:spcPct val="0"/>
              </a:spcBef>
            </a:pPr>
            <a:r>
              <a:rPr lang="en-US" b="true" sz="2231">
                <a:solidFill>
                  <a:srgbClr val="000000"/>
                </a:solidFill>
                <a:latin typeface="Montserrat Bold"/>
                <a:ea typeface="Montserrat Bold"/>
                <a:cs typeface="Montserrat Bold"/>
                <a:sym typeface="Montserrat Bold"/>
              </a:rPr>
              <a:t>AI Merit Scoring &amp; Explainability</a:t>
            </a:r>
          </a:p>
        </p:txBody>
      </p:sp>
      <p:sp>
        <p:nvSpPr>
          <p:cNvPr name="TextBox 17" id="17"/>
          <p:cNvSpPr txBox="true"/>
          <p:nvPr/>
        </p:nvSpPr>
        <p:spPr>
          <a:xfrm rot="0">
            <a:off x="10027114" y="7314739"/>
            <a:ext cx="3401244" cy="1943561"/>
          </a:xfrm>
          <a:prstGeom prst="rect">
            <a:avLst/>
          </a:prstGeom>
        </p:spPr>
        <p:txBody>
          <a:bodyPr anchor="t" rtlCol="false" tIns="0" lIns="0" bIns="0" rIns="0">
            <a:spAutoFit/>
          </a:bodyPr>
          <a:lstStyle/>
          <a:p>
            <a:pPr algn="just">
              <a:lnSpc>
                <a:spcPts val="3124"/>
              </a:lnSpc>
              <a:spcBef>
                <a:spcPct val="0"/>
              </a:spcBef>
            </a:pPr>
            <a:r>
              <a:rPr lang="en-US" sz="2231">
                <a:solidFill>
                  <a:srgbClr val="000000"/>
                </a:solidFill>
                <a:latin typeface="Montserrat"/>
                <a:ea typeface="Montserrat"/>
                <a:cs typeface="Montserrat"/>
                <a:sym typeface="Montserrat"/>
              </a:rPr>
              <a:t>AI menghitung skor merit menggunak</a:t>
            </a:r>
            <a:r>
              <a:rPr lang="en-US" sz="2231">
                <a:solidFill>
                  <a:srgbClr val="000000"/>
                </a:solidFill>
                <a:latin typeface="Montserrat"/>
                <a:ea typeface="Montserrat"/>
                <a:cs typeface="Montserrat"/>
                <a:sym typeface="Montserrat"/>
              </a:rPr>
              <a:t>an kombinasi hasil SKP_auto dan Behavior_AI</a:t>
            </a:r>
          </a:p>
        </p:txBody>
      </p:sp>
      <p:sp>
        <p:nvSpPr>
          <p:cNvPr name="TextBox 18" id="18"/>
          <p:cNvSpPr txBox="true"/>
          <p:nvPr/>
        </p:nvSpPr>
        <p:spPr>
          <a:xfrm rot="0">
            <a:off x="12801510" y="2911159"/>
            <a:ext cx="3090696" cy="771986"/>
          </a:xfrm>
          <a:prstGeom prst="rect">
            <a:avLst/>
          </a:prstGeom>
        </p:spPr>
        <p:txBody>
          <a:bodyPr anchor="t" rtlCol="false" tIns="0" lIns="0" bIns="0" rIns="0">
            <a:spAutoFit/>
          </a:bodyPr>
          <a:lstStyle/>
          <a:p>
            <a:pPr algn="ctr">
              <a:lnSpc>
                <a:spcPts val="3124"/>
              </a:lnSpc>
              <a:spcBef>
                <a:spcPct val="0"/>
              </a:spcBef>
            </a:pPr>
            <a:r>
              <a:rPr lang="en-US" b="true" sz="2231">
                <a:solidFill>
                  <a:srgbClr val="000000"/>
                </a:solidFill>
                <a:latin typeface="Montserrat Bold"/>
                <a:ea typeface="Montserrat Bold"/>
                <a:cs typeface="Montserrat Bold"/>
                <a:sym typeface="Montserrat Bold"/>
              </a:rPr>
              <a:t>Blockchain Storage &amp; Verification</a:t>
            </a:r>
          </a:p>
        </p:txBody>
      </p:sp>
      <p:sp>
        <p:nvSpPr>
          <p:cNvPr name="TextBox 19" id="19"/>
          <p:cNvSpPr txBox="true"/>
          <p:nvPr/>
        </p:nvSpPr>
        <p:spPr>
          <a:xfrm rot="0">
            <a:off x="12801510" y="3771691"/>
            <a:ext cx="3311586" cy="1943561"/>
          </a:xfrm>
          <a:prstGeom prst="rect">
            <a:avLst/>
          </a:prstGeom>
        </p:spPr>
        <p:txBody>
          <a:bodyPr anchor="t" rtlCol="false" tIns="0" lIns="0" bIns="0" rIns="0">
            <a:spAutoFit/>
          </a:bodyPr>
          <a:lstStyle/>
          <a:p>
            <a:pPr algn="just">
              <a:lnSpc>
                <a:spcPts val="3124"/>
              </a:lnSpc>
              <a:spcBef>
                <a:spcPct val="0"/>
              </a:spcBef>
            </a:pPr>
            <a:r>
              <a:rPr lang="en-US" sz="2231">
                <a:solidFill>
                  <a:srgbClr val="000000"/>
                </a:solidFill>
                <a:latin typeface="Montserrat"/>
                <a:ea typeface="Montserrat"/>
                <a:cs typeface="Montserrat"/>
                <a:sym typeface="Montserrat"/>
              </a:rPr>
              <a:t>Semua hasil penilaian dan bukti digital disimpan ke blockchain (Hyperledger Fabric).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9837954"/>
            <a:ext cx="18595517" cy="542466"/>
            <a:chOff x="0" y="0"/>
            <a:chExt cx="4897585" cy="142872"/>
          </a:xfrm>
        </p:grpSpPr>
        <p:sp>
          <p:nvSpPr>
            <p:cNvPr name="Freeform 3" id="3"/>
            <p:cNvSpPr/>
            <p:nvPr/>
          </p:nvSpPr>
          <p:spPr>
            <a:xfrm flipH="false" flipV="false" rot="0">
              <a:off x="0" y="0"/>
              <a:ext cx="4897585" cy="142872"/>
            </a:xfrm>
            <a:custGeom>
              <a:avLst/>
              <a:gdLst/>
              <a:ahLst/>
              <a:cxnLst/>
              <a:rect r="r" b="b" t="t" l="l"/>
              <a:pathLst>
                <a:path h="142872" w="4897585">
                  <a:moveTo>
                    <a:pt x="0" y="0"/>
                  </a:moveTo>
                  <a:lnTo>
                    <a:pt x="4897585" y="0"/>
                  </a:lnTo>
                  <a:lnTo>
                    <a:pt x="4897585" y="142872"/>
                  </a:lnTo>
                  <a:lnTo>
                    <a:pt x="0" y="142872"/>
                  </a:lnTo>
                  <a:close/>
                </a:path>
              </a:pathLst>
            </a:custGeom>
            <a:solidFill>
              <a:srgbClr val="017BC7"/>
            </a:solidFill>
          </p:spPr>
        </p:sp>
        <p:sp>
          <p:nvSpPr>
            <p:cNvPr name="TextBox 4" id="4"/>
            <p:cNvSpPr txBox="true"/>
            <p:nvPr/>
          </p:nvSpPr>
          <p:spPr>
            <a:xfrm>
              <a:off x="0" y="-47625"/>
              <a:ext cx="4897585" cy="190497"/>
            </a:xfrm>
            <a:prstGeom prst="rect">
              <a:avLst/>
            </a:prstGeom>
          </p:spPr>
          <p:txBody>
            <a:bodyPr anchor="ctr" rtlCol="false" tIns="50800" lIns="50800" bIns="50800" rIns="50800"/>
            <a:lstStyle/>
            <a:p>
              <a:pPr algn="ctr">
                <a:lnSpc>
                  <a:spcPts val="3511"/>
                </a:lnSpc>
              </a:pPr>
            </a:p>
          </p:txBody>
        </p:sp>
      </p:grpSp>
      <p:sp>
        <p:nvSpPr>
          <p:cNvPr name="Freeform 5" id="5"/>
          <p:cNvSpPr/>
          <p:nvPr/>
        </p:nvSpPr>
        <p:spPr>
          <a:xfrm flipH="false" flipV="false" rot="0">
            <a:off x="0" y="42958"/>
            <a:ext cx="2251123" cy="1876873"/>
          </a:xfrm>
          <a:custGeom>
            <a:avLst/>
            <a:gdLst/>
            <a:ahLst/>
            <a:cxnLst/>
            <a:rect r="r" b="b" t="t" l="l"/>
            <a:pathLst>
              <a:path h="1876873" w="2251123">
                <a:moveTo>
                  <a:pt x="0" y="0"/>
                </a:moveTo>
                <a:lnTo>
                  <a:pt x="2251123" y="0"/>
                </a:lnTo>
                <a:lnTo>
                  <a:pt x="2251123" y="1876874"/>
                </a:lnTo>
                <a:lnTo>
                  <a:pt x="0" y="1876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45084" y="-139112"/>
            <a:ext cx="2245704" cy="2487166"/>
          </a:xfrm>
          <a:custGeom>
            <a:avLst/>
            <a:gdLst/>
            <a:ahLst/>
            <a:cxnLst/>
            <a:rect r="r" b="b" t="t" l="l"/>
            <a:pathLst>
              <a:path h="2487166" w="2245704">
                <a:moveTo>
                  <a:pt x="0" y="0"/>
                </a:moveTo>
                <a:lnTo>
                  <a:pt x="2245703" y="0"/>
                </a:lnTo>
                <a:lnTo>
                  <a:pt x="2245703" y="2487166"/>
                </a:lnTo>
                <a:lnTo>
                  <a:pt x="0" y="2487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96284" y="9018855"/>
            <a:ext cx="2376746" cy="1090332"/>
          </a:xfrm>
          <a:custGeom>
            <a:avLst/>
            <a:gdLst/>
            <a:ahLst/>
            <a:cxnLst/>
            <a:rect r="r" b="b" t="t" l="l"/>
            <a:pathLst>
              <a:path h="1090332" w="2376746">
                <a:moveTo>
                  <a:pt x="0" y="0"/>
                </a:moveTo>
                <a:lnTo>
                  <a:pt x="2376746" y="0"/>
                </a:lnTo>
                <a:lnTo>
                  <a:pt x="2376746" y="1090332"/>
                </a:lnTo>
                <a:lnTo>
                  <a:pt x="0" y="109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988372" y="7626191"/>
            <a:ext cx="3102415" cy="2211763"/>
          </a:xfrm>
          <a:custGeom>
            <a:avLst/>
            <a:gdLst/>
            <a:ahLst/>
            <a:cxnLst/>
            <a:rect r="r" b="b" t="t" l="l"/>
            <a:pathLst>
              <a:path h="2211763" w="3102415">
                <a:moveTo>
                  <a:pt x="0" y="0"/>
                </a:moveTo>
                <a:lnTo>
                  <a:pt x="3102415" y="0"/>
                </a:lnTo>
                <a:lnTo>
                  <a:pt x="3102415" y="2211763"/>
                </a:lnTo>
                <a:lnTo>
                  <a:pt x="0" y="22117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125561" y="133726"/>
            <a:ext cx="7226521" cy="970745"/>
          </a:xfrm>
          <a:prstGeom prst="rect">
            <a:avLst/>
          </a:prstGeom>
        </p:spPr>
        <p:txBody>
          <a:bodyPr anchor="t" rtlCol="false" tIns="0" lIns="0" bIns="0" rIns="0">
            <a:spAutoFit/>
          </a:bodyPr>
          <a:lstStyle/>
          <a:p>
            <a:pPr algn="ctr">
              <a:lnSpc>
                <a:spcPts val="7914"/>
              </a:lnSpc>
            </a:pPr>
            <a:r>
              <a:rPr lang="en-US" b="true" sz="5652">
                <a:solidFill>
                  <a:srgbClr val="000000"/>
                </a:solidFill>
                <a:latin typeface="Montaser Arabic Bold"/>
                <a:ea typeface="Montaser Arabic Bold"/>
                <a:cs typeface="Montaser Arabic Bold"/>
                <a:sym typeface="Montaser Arabic Bold"/>
              </a:rPr>
              <a:t>NILAI BISNIS</a:t>
            </a:r>
          </a:p>
        </p:txBody>
      </p:sp>
      <p:sp>
        <p:nvSpPr>
          <p:cNvPr name="TextBox 10" id="10"/>
          <p:cNvSpPr txBox="true"/>
          <p:nvPr/>
        </p:nvSpPr>
        <p:spPr>
          <a:xfrm rot="0">
            <a:off x="5004978" y="1624155"/>
            <a:ext cx="1022057" cy="723899"/>
          </a:xfrm>
          <a:prstGeom prst="rect">
            <a:avLst/>
          </a:prstGeom>
        </p:spPr>
        <p:txBody>
          <a:bodyPr anchor="t" rtlCol="false" tIns="0" lIns="0" bIns="0" rIns="0">
            <a:spAutoFit/>
          </a:bodyPr>
          <a:lstStyle/>
          <a:p>
            <a:pPr algn="l">
              <a:lnSpc>
                <a:spcPts val="5850"/>
              </a:lnSpc>
            </a:pPr>
            <a:r>
              <a:rPr lang="en-US" b="true" sz="4500">
                <a:solidFill>
                  <a:srgbClr val="FFFFFF"/>
                </a:solidFill>
                <a:latin typeface="Montserrat Bold"/>
                <a:ea typeface="Montserrat Bold"/>
                <a:cs typeface="Montserrat Bold"/>
                <a:sym typeface="Montserrat Bold"/>
              </a:rPr>
              <a:t>01 </a:t>
            </a:r>
          </a:p>
        </p:txBody>
      </p:sp>
      <p:sp>
        <p:nvSpPr>
          <p:cNvPr name="TextBox 11" id="11"/>
          <p:cNvSpPr txBox="true"/>
          <p:nvPr/>
        </p:nvSpPr>
        <p:spPr>
          <a:xfrm rot="0">
            <a:off x="762600" y="6902291"/>
            <a:ext cx="1022057" cy="723899"/>
          </a:xfrm>
          <a:prstGeom prst="rect">
            <a:avLst/>
          </a:prstGeom>
        </p:spPr>
        <p:txBody>
          <a:bodyPr anchor="t" rtlCol="false" tIns="0" lIns="0" bIns="0" rIns="0">
            <a:spAutoFit/>
          </a:bodyPr>
          <a:lstStyle/>
          <a:p>
            <a:pPr algn="l">
              <a:lnSpc>
                <a:spcPts val="5850"/>
              </a:lnSpc>
            </a:pPr>
            <a:r>
              <a:rPr lang="en-US" b="true" sz="4500">
                <a:solidFill>
                  <a:srgbClr val="FFFFFF"/>
                </a:solidFill>
                <a:latin typeface="Montserrat Bold"/>
                <a:ea typeface="Montserrat Bold"/>
                <a:cs typeface="Montserrat Bold"/>
                <a:sym typeface="Montserrat Bold"/>
              </a:rPr>
              <a:t>02</a:t>
            </a:r>
          </a:p>
        </p:txBody>
      </p:sp>
      <p:sp>
        <p:nvSpPr>
          <p:cNvPr name="TextBox 12" id="12"/>
          <p:cNvSpPr txBox="true"/>
          <p:nvPr/>
        </p:nvSpPr>
        <p:spPr>
          <a:xfrm rot="0">
            <a:off x="226021" y="1199942"/>
            <a:ext cx="9557915" cy="3957505"/>
          </a:xfrm>
          <a:prstGeom prst="rect">
            <a:avLst/>
          </a:prstGeom>
        </p:spPr>
        <p:txBody>
          <a:bodyPr anchor="t" rtlCol="false" tIns="0" lIns="0" bIns="0" rIns="0">
            <a:spAutoFit/>
          </a:bodyPr>
          <a:lstStyle/>
          <a:p>
            <a:pPr algn="just" marL="0" indent="0" lvl="0">
              <a:lnSpc>
                <a:spcPts val="2894"/>
              </a:lnSpc>
            </a:pPr>
            <a:r>
              <a:rPr lang="en-US" sz="2067">
                <a:solidFill>
                  <a:srgbClr val="000000"/>
                </a:solidFill>
                <a:latin typeface="Montserrat"/>
                <a:ea typeface="Montserrat"/>
                <a:cs typeface="Montserrat"/>
                <a:sym typeface="Montserrat"/>
              </a:rPr>
              <a:t>                          </a:t>
            </a:r>
            <a:r>
              <a:rPr lang="en-US" b="true" sz="2067">
                <a:solidFill>
                  <a:srgbClr val="000000"/>
                </a:solidFill>
                <a:latin typeface="Montserrat Bold"/>
                <a:ea typeface="Montserrat Bold"/>
                <a:cs typeface="Montserrat Bold"/>
                <a:sym typeface="Montserrat Bold"/>
              </a:rPr>
              <a:t>JUJUR.ai s</a:t>
            </a:r>
            <a:r>
              <a:rPr lang="en-US" b="true" sz="2067">
                <a:solidFill>
                  <a:srgbClr val="000000"/>
                </a:solidFill>
                <a:latin typeface="Montserrat Bold"/>
                <a:ea typeface="Montserrat Bold"/>
                <a:cs typeface="Montserrat Bold"/>
                <a:sym typeface="Montserrat Bold"/>
              </a:rPr>
              <a:t>ebagai Solusi Tepat untuk Sistem Merit ASN</a:t>
            </a:r>
          </a:p>
          <a:p>
            <a:pPr algn="just" marL="0" indent="0" lvl="0">
              <a:lnSpc>
                <a:spcPts val="2894"/>
              </a:lnSpc>
            </a:pPr>
          </a:p>
          <a:p>
            <a:pPr algn="just" marL="0" indent="0" lvl="0">
              <a:lnSpc>
                <a:spcPts val="2894"/>
              </a:lnSpc>
            </a:pPr>
            <a:r>
              <a:rPr lang="en-US" sz="2067">
                <a:solidFill>
                  <a:srgbClr val="000000"/>
                </a:solidFill>
                <a:latin typeface="Montserrat"/>
                <a:ea typeface="Montserrat"/>
                <a:cs typeface="Montserrat"/>
                <a:sym typeface="Montserrat"/>
              </a:rPr>
              <a:t>Increases Efficiency</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Automated Merit Scoring</a:t>
            </a:r>
          </a:p>
          <a:p>
            <a:pPr algn="just">
              <a:lnSpc>
                <a:spcPts val="2894"/>
              </a:lnSpc>
            </a:pPr>
            <a:r>
              <a:rPr lang="en-US" sz="2067">
                <a:solidFill>
                  <a:srgbClr val="000000"/>
                </a:solidFill>
                <a:latin typeface="Montserrat"/>
                <a:ea typeface="Montserrat"/>
                <a:cs typeface="Montserrat"/>
                <a:sym typeface="Montserrat"/>
              </a:rPr>
              <a:t>AI menghitung nilai kinerja ASN otomatis dari data SKP &amp; perilaku kerja.</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Explainable Evaluation</a:t>
            </a:r>
          </a:p>
          <a:p>
            <a:pPr algn="just">
              <a:lnSpc>
                <a:spcPts val="2894"/>
              </a:lnSpc>
            </a:pPr>
            <a:r>
              <a:rPr lang="en-US" sz="2067">
                <a:solidFill>
                  <a:srgbClr val="000000"/>
                </a:solidFill>
                <a:latin typeface="Montserrat"/>
                <a:ea typeface="Montserrat"/>
                <a:cs typeface="Montserrat"/>
                <a:sym typeface="Montserrat"/>
              </a:rPr>
              <a:t> Narasi penjelas skor dari AI membantu atasan dan ASN memahami hasil penilaian.</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Blockchain Audit Trail</a:t>
            </a:r>
          </a:p>
          <a:p>
            <a:pPr algn="just">
              <a:lnSpc>
                <a:spcPts val="2894"/>
              </a:lnSpc>
            </a:pPr>
            <a:r>
              <a:rPr lang="en-US" sz="2067">
                <a:solidFill>
                  <a:srgbClr val="000000"/>
                </a:solidFill>
                <a:latin typeface="Montserrat"/>
                <a:ea typeface="Montserrat"/>
                <a:cs typeface="Montserrat"/>
                <a:sym typeface="Montserrat"/>
              </a:rPr>
              <a:t>Setiap evaluasi terekam permanen, transparan, dan dapat diverifikasi.</a:t>
            </a:r>
          </a:p>
          <a:p>
            <a:pPr algn="just" marL="0" indent="0" lvl="0">
              <a:lnSpc>
                <a:spcPts val="2894"/>
              </a:lnSpc>
            </a:pPr>
          </a:p>
        </p:txBody>
      </p:sp>
      <p:sp>
        <p:nvSpPr>
          <p:cNvPr name="TextBox 13" id="13"/>
          <p:cNvSpPr txBox="true"/>
          <p:nvPr/>
        </p:nvSpPr>
        <p:spPr>
          <a:xfrm rot="0">
            <a:off x="1957561" y="5976598"/>
            <a:ext cx="7197694" cy="2871655"/>
          </a:xfrm>
          <a:prstGeom prst="rect">
            <a:avLst/>
          </a:prstGeom>
        </p:spPr>
        <p:txBody>
          <a:bodyPr anchor="t" rtlCol="false" tIns="0" lIns="0" bIns="0" rIns="0">
            <a:spAutoFit/>
          </a:bodyPr>
          <a:lstStyle/>
          <a:p>
            <a:pPr algn="just" marL="0" indent="0" lvl="0">
              <a:lnSpc>
                <a:spcPts val="2894"/>
              </a:lnSpc>
            </a:pPr>
            <a:r>
              <a:rPr lang="en-US" sz="2067">
                <a:solidFill>
                  <a:srgbClr val="000000"/>
                </a:solidFill>
                <a:latin typeface="Montserrat"/>
                <a:ea typeface="Montserrat"/>
                <a:cs typeface="Montserrat"/>
                <a:sym typeface="Montserrat"/>
              </a:rPr>
              <a:t>Res</a:t>
            </a:r>
            <a:r>
              <a:rPr lang="en-US" sz="2067">
                <a:solidFill>
                  <a:srgbClr val="000000"/>
                </a:solidFill>
                <a:latin typeface="Montserrat"/>
                <a:ea typeface="Montserrat"/>
                <a:cs typeface="Montserrat"/>
                <a:sym typeface="Montserrat"/>
              </a:rPr>
              <a:t>ource Optimization</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Mengurangi waktu penilaian manual dari hari ke menit.</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Menghemat tenaga penilai dan biaya administrasi lintas instansi.</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Meningkatkan pemanfaatan data kompetensi untuk mutasi dan promosi berbasis kinerja.</a:t>
            </a:r>
          </a:p>
          <a:p>
            <a:pPr algn="just" marL="0" indent="0" lvl="0">
              <a:lnSpc>
                <a:spcPts val="2894"/>
              </a:lnSpc>
            </a:pPr>
          </a:p>
        </p:txBody>
      </p:sp>
      <p:sp>
        <p:nvSpPr>
          <p:cNvPr name="TextBox 14" id="14"/>
          <p:cNvSpPr txBox="true"/>
          <p:nvPr/>
        </p:nvSpPr>
        <p:spPr>
          <a:xfrm rot="1736260">
            <a:off x="13680227" y="1197431"/>
            <a:ext cx="1022057" cy="723899"/>
          </a:xfrm>
          <a:prstGeom prst="rect">
            <a:avLst/>
          </a:prstGeom>
        </p:spPr>
        <p:txBody>
          <a:bodyPr anchor="t" rtlCol="false" tIns="0" lIns="0" bIns="0" rIns="0">
            <a:spAutoFit/>
          </a:bodyPr>
          <a:lstStyle/>
          <a:p>
            <a:pPr algn="l">
              <a:lnSpc>
                <a:spcPts val="5850"/>
              </a:lnSpc>
            </a:pPr>
            <a:r>
              <a:rPr lang="en-US" b="true" sz="4500">
                <a:solidFill>
                  <a:srgbClr val="FFFFFF"/>
                </a:solidFill>
                <a:latin typeface="Montserrat Bold"/>
                <a:ea typeface="Montserrat Bold"/>
                <a:cs typeface="Montserrat Bold"/>
                <a:sym typeface="Montserrat Bold"/>
              </a:rPr>
              <a:t>03</a:t>
            </a:r>
          </a:p>
        </p:txBody>
      </p:sp>
      <p:sp>
        <p:nvSpPr>
          <p:cNvPr name="TextBox 15" id="15"/>
          <p:cNvSpPr txBox="true"/>
          <p:nvPr/>
        </p:nvSpPr>
        <p:spPr>
          <a:xfrm rot="0">
            <a:off x="11260142" y="1891257"/>
            <a:ext cx="6319666" cy="3595555"/>
          </a:xfrm>
          <a:prstGeom prst="rect">
            <a:avLst/>
          </a:prstGeom>
        </p:spPr>
        <p:txBody>
          <a:bodyPr anchor="t" rtlCol="false" tIns="0" lIns="0" bIns="0" rIns="0">
            <a:spAutoFit/>
          </a:bodyPr>
          <a:lstStyle/>
          <a:p>
            <a:pPr algn="just">
              <a:lnSpc>
                <a:spcPts val="2894"/>
              </a:lnSpc>
            </a:pPr>
            <a:r>
              <a:rPr lang="en-US" sz="2067">
                <a:solidFill>
                  <a:srgbClr val="000000"/>
                </a:solidFill>
                <a:latin typeface="Montserrat"/>
                <a:ea typeface="Montserrat"/>
                <a:cs typeface="Montserrat"/>
                <a:sym typeface="Montserrat"/>
              </a:rPr>
              <a:t>Proyeksi Efisiensi:</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 Berdasarkan estimasi BKN dan KASN (2024), biaya proses penilaian manual ± Rp 2,3 triliun/tahun.</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 Dengan otomatisasi JUJUR.ai, potensi penghematan 25–30% dari total biaya administratif ASN.</a:t>
            </a:r>
          </a:p>
          <a:p>
            <a:pPr algn="just" marL="446416" indent="-223208" lvl="1">
              <a:lnSpc>
                <a:spcPts val="2894"/>
              </a:lnSpc>
              <a:buFont typeface="Arial"/>
              <a:buChar char="•"/>
            </a:pPr>
            <a:r>
              <a:rPr lang="en-US" sz="2067">
                <a:solidFill>
                  <a:srgbClr val="000000"/>
                </a:solidFill>
                <a:latin typeface="Montserrat"/>
                <a:ea typeface="Montserrat"/>
                <a:cs typeface="Montserrat"/>
                <a:sym typeface="Montserrat"/>
              </a:rPr>
              <a:t>Waktu Penilaian Berkurang 80%, dan akurasi audit data meningkat 95%.</a:t>
            </a:r>
          </a:p>
          <a:p>
            <a:pPr algn="just" marL="0" indent="0" lvl="0">
              <a:lnSpc>
                <a:spcPts val="2894"/>
              </a:lnSpc>
            </a:pPr>
          </a:p>
        </p:txBody>
      </p:sp>
      <p:sp>
        <p:nvSpPr>
          <p:cNvPr name="Freeform 16" id="16"/>
          <p:cNvSpPr/>
          <p:nvPr/>
        </p:nvSpPr>
        <p:spPr>
          <a:xfrm flipH="false" flipV="false" rot="0">
            <a:off x="14795177" y="153216"/>
            <a:ext cx="3492823" cy="1075301"/>
          </a:xfrm>
          <a:custGeom>
            <a:avLst/>
            <a:gdLst/>
            <a:ahLst/>
            <a:cxnLst/>
            <a:rect r="r" b="b" t="t" l="l"/>
            <a:pathLst>
              <a:path h="1075301" w="3492823">
                <a:moveTo>
                  <a:pt x="0" y="0"/>
                </a:moveTo>
                <a:lnTo>
                  <a:pt x="3492823" y="0"/>
                </a:lnTo>
                <a:lnTo>
                  <a:pt x="3492823" y="1075301"/>
                </a:lnTo>
                <a:lnTo>
                  <a:pt x="0" y="1075301"/>
                </a:lnTo>
                <a:lnTo>
                  <a:pt x="0" y="0"/>
                </a:lnTo>
                <a:close/>
              </a:path>
            </a:pathLst>
          </a:custGeom>
          <a:blipFill>
            <a:blip r:embed="rId10"/>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531350" y="4329113"/>
            <a:ext cx="7340600" cy="3816350"/>
          </a:xfrm>
          <a:prstGeom prst="rect">
            <a:avLst/>
          </a:prstGeom>
          <a:solidFill>
            <a:srgbClr val="083698"/>
          </a:solidFill>
        </p:spPr>
      </p:sp>
      <p:sp>
        <p:nvSpPr>
          <p:cNvPr name="Freeform 3" id="3"/>
          <p:cNvSpPr/>
          <p:nvPr/>
        </p:nvSpPr>
        <p:spPr>
          <a:xfrm flipH="false" flipV="false" rot="0">
            <a:off x="8987680" y="4938481"/>
            <a:ext cx="312641" cy="2670240"/>
          </a:xfrm>
          <a:custGeom>
            <a:avLst/>
            <a:gdLst/>
            <a:ahLst/>
            <a:cxnLst/>
            <a:rect r="r" b="b" t="t" l="l"/>
            <a:pathLst>
              <a:path h="2670240" w="312641">
                <a:moveTo>
                  <a:pt x="0" y="0"/>
                </a:moveTo>
                <a:lnTo>
                  <a:pt x="312640" y="0"/>
                </a:lnTo>
                <a:lnTo>
                  <a:pt x="312640" y="2670240"/>
                </a:lnTo>
                <a:lnTo>
                  <a:pt x="0" y="2670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304850" y="4818229"/>
            <a:ext cx="5793600" cy="2790493"/>
          </a:xfrm>
          <a:prstGeom prst="rect">
            <a:avLst/>
          </a:prstGeom>
        </p:spPr>
        <p:txBody>
          <a:bodyPr anchor="t" rtlCol="false" tIns="0" lIns="0" bIns="0" rIns="0">
            <a:spAutoFit/>
          </a:bodyPr>
          <a:lstStyle/>
          <a:p>
            <a:pPr algn="ctr" marL="0" indent="0" lvl="0">
              <a:lnSpc>
                <a:spcPts val="3168"/>
              </a:lnSpc>
            </a:pPr>
            <a:r>
              <a:rPr lang="en-US" sz="2263">
                <a:solidFill>
                  <a:srgbClr val="FFFFFF"/>
                </a:solidFill>
                <a:latin typeface="Montserrat"/>
                <a:ea typeface="Montserrat"/>
                <a:cs typeface="Montserrat"/>
                <a:sym typeface="Montserrat"/>
              </a:rPr>
              <a:t>Lorem ipsum dolor sit amet, consectetur adipiscing elit. Proin vel erat tempor, imperdiet urna sed, dictum tellus. Suspendisse pellentesque commodo sapien, suscipit eleifend leo volutpat nec. Morbi blandit sem eget velit pharetra eleifend.</a:t>
            </a:r>
          </a:p>
        </p:txBody>
      </p:sp>
      <p:sp>
        <p:nvSpPr>
          <p:cNvPr name="Freeform 5" id="5"/>
          <p:cNvSpPr/>
          <p:nvPr/>
        </p:nvSpPr>
        <p:spPr>
          <a:xfrm flipH="false" flipV="false" rot="0">
            <a:off x="16871950" y="2651738"/>
            <a:ext cx="776668" cy="4114800"/>
          </a:xfrm>
          <a:custGeom>
            <a:avLst/>
            <a:gdLst/>
            <a:ahLst/>
            <a:cxnLst/>
            <a:rect r="r" b="b" t="t" l="l"/>
            <a:pathLst>
              <a:path h="4114800" w="776668">
                <a:moveTo>
                  <a:pt x="0" y="0"/>
                </a:moveTo>
                <a:lnTo>
                  <a:pt x="776668" y="0"/>
                </a:lnTo>
                <a:lnTo>
                  <a:pt x="7766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330822" y="-508269"/>
            <a:ext cx="2251123" cy="1876873"/>
          </a:xfrm>
          <a:custGeom>
            <a:avLst/>
            <a:gdLst/>
            <a:ahLst/>
            <a:cxnLst/>
            <a:rect r="r" b="b" t="t" l="l"/>
            <a:pathLst>
              <a:path h="1876873" w="2251123">
                <a:moveTo>
                  <a:pt x="0" y="0"/>
                </a:moveTo>
                <a:lnTo>
                  <a:pt x="2251123" y="0"/>
                </a:lnTo>
                <a:lnTo>
                  <a:pt x="2251123" y="1876874"/>
                </a:lnTo>
                <a:lnTo>
                  <a:pt x="0" y="18768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4016" y="-582648"/>
            <a:ext cx="15885284" cy="10583571"/>
          </a:xfrm>
          <a:custGeom>
            <a:avLst/>
            <a:gdLst/>
            <a:ahLst/>
            <a:cxnLst/>
            <a:rect r="r" b="b" t="t" l="l"/>
            <a:pathLst>
              <a:path h="10583571" w="15885284">
                <a:moveTo>
                  <a:pt x="0" y="0"/>
                </a:moveTo>
                <a:lnTo>
                  <a:pt x="15885284" y="0"/>
                </a:lnTo>
                <a:lnTo>
                  <a:pt x="15885284" y="10583571"/>
                </a:lnTo>
                <a:lnTo>
                  <a:pt x="0" y="10583571"/>
                </a:lnTo>
                <a:lnTo>
                  <a:pt x="0" y="0"/>
                </a:lnTo>
                <a:close/>
              </a:path>
            </a:pathLst>
          </a:custGeom>
          <a:blipFill>
            <a:blip r:embed="rId8"/>
            <a:stretch>
              <a:fillRect l="0" t="0" r="0" b="0"/>
            </a:stretch>
          </a:blipFill>
        </p:spPr>
      </p:sp>
      <p:sp>
        <p:nvSpPr>
          <p:cNvPr name="Freeform 8" id="8"/>
          <p:cNvSpPr/>
          <p:nvPr/>
        </p:nvSpPr>
        <p:spPr>
          <a:xfrm flipH="false" flipV="false" rot="0">
            <a:off x="-174178" y="6411268"/>
            <a:ext cx="776668" cy="4114800"/>
          </a:xfrm>
          <a:custGeom>
            <a:avLst/>
            <a:gdLst/>
            <a:ahLst/>
            <a:cxnLst/>
            <a:rect r="r" b="b" t="t" l="l"/>
            <a:pathLst>
              <a:path h="4114800" w="776668">
                <a:moveTo>
                  <a:pt x="0" y="0"/>
                </a:moveTo>
                <a:lnTo>
                  <a:pt x="776669" y="0"/>
                </a:lnTo>
                <a:lnTo>
                  <a:pt x="77666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9837954"/>
            <a:ext cx="18595517" cy="542466"/>
            <a:chOff x="0" y="0"/>
            <a:chExt cx="4897585" cy="142872"/>
          </a:xfrm>
        </p:grpSpPr>
        <p:sp>
          <p:nvSpPr>
            <p:cNvPr name="Freeform 3" id="3"/>
            <p:cNvSpPr/>
            <p:nvPr/>
          </p:nvSpPr>
          <p:spPr>
            <a:xfrm flipH="false" flipV="false" rot="0">
              <a:off x="0" y="0"/>
              <a:ext cx="4897585" cy="142872"/>
            </a:xfrm>
            <a:custGeom>
              <a:avLst/>
              <a:gdLst/>
              <a:ahLst/>
              <a:cxnLst/>
              <a:rect r="r" b="b" t="t" l="l"/>
              <a:pathLst>
                <a:path h="142872" w="4897585">
                  <a:moveTo>
                    <a:pt x="0" y="0"/>
                  </a:moveTo>
                  <a:lnTo>
                    <a:pt x="4897585" y="0"/>
                  </a:lnTo>
                  <a:lnTo>
                    <a:pt x="4897585" y="142872"/>
                  </a:lnTo>
                  <a:lnTo>
                    <a:pt x="0" y="142872"/>
                  </a:lnTo>
                  <a:close/>
                </a:path>
              </a:pathLst>
            </a:custGeom>
            <a:solidFill>
              <a:srgbClr val="017BC7"/>
            </a:solidFill>
          </p:spPr>
        </p:sp>
        <p:sp>
          <p:nvSpPr>
            <p:cNvPr name="TextBox 4" id="4"/>
            <p:cNvSpPr txBox="true"/>
            <p:nvPr/>
          </p:nvSpPr>
          <p:spPr>
            <a:xfrm>
              <a:off x="0" y="-47625"/>
              <a:ext cx="4897585" cy="190497"/>
            </a:xfrm>
            <a:prstGeom prst="rect">
              <a:avLst/>
            </a:prstGeom>
          </p:spPr>
          <p:txBody>
            <a:bodyPr anchor="ctr" rtlCol="false" tIns="50800" lIns="50800" bIns="50800" rIns="50800"/>
            <a:lstStyle/>
            <a:p>
              <a:pPr algn="ctr">
                <a:lnSpc>
                  <a:spcPts val="3511"/>
                </a:lnSpc>
              </a:pPr>
            </a:p>
          </p:txBody>
        </p:sp>
      </p:grpSp>
      <p:grpSp>
        <p:nvGrpSpPr>
          <p:cNvPr name="Group 5" id="5"/>
          <p:cNvGrpSpPr/>
          <p:nvPr/>
        </p:nvGrpSpPr>
        <p:grpSpPr>
          <a:xfrm rot="0">
            <a:off x="12795192" y="4739014"/>
            <a:ext cx="5492808" cy="2177146"/>
            <a:chOff x="0" y="0"/>
            <a:chExt cx="1446666" cy="573405"/>
          </a:xfrm>
        </p:grpSpPr>
        <p:sp>
          <p:nvSpPr>
            <p:cNvPr name="Freeform 6" id="6"/>
            <p:cNvSpPr/>
            <p:nvPr/>
          </p:nvSpPr>
          <p:spPr>
            <a:xfrm flipH="false" flipV="false" rot="0">
              <a:off x="0" y="0"/>
              <a:ext cx="1446666" cy="573405"/>
            </a:xfrm>
            <a:custGeom>
              <a:avLst/>
              <a:gdLst/>
              <a:ahLst/>
              <a:cxnLst/>
              <a:rect r="r" b="b" t="t" l="l"/>
              <a:pathLst>
                <a:path h="573405" w="1446666">
                  <a:moveTo>
                    <a:pt x="71883" y="0"/>
                  </a:moveTo>
                  <a:lnTo>
                    <a:pt x="1374783" y="0"/>
                  </a:lnTo>
                  <a:cubicBezTo>
                    <a:pt x="1414483" y="0"/>
                    <a:pt x="1446666" y="32183"/>
                    <a:pt x="1446666" y="71883"/>
                  </a:cubicBezTo>
                  <a:lnTo>
                    <a:pt x="1446666" y="501522"/>
                  </a:lnTo>
                  <a:cubicBezTo>
                    <a:pt x="1446666" y="541222"/>
                    <a:pt x="1414483" y="573405"/>
                    <a:pt x="1374783" y="573405"/>
                  </a:cubicBezTo>
                  <a:lnTo>
                    <a:pt x="71883" y="573405"/>
                  </a:lnTo>
                  <a:cubicBezTo>
                    <a:pt x="52818" y="573405"/>
                    <a:pt x="34535" y="565831"/>
                    <a:pt x="21054" y="552351"/>
                  </a:cubicBezTo>
                  <a:cubicBezTo>
                    <a:pt x="7573" y="538870"/>
                    <a:pt x="0" y="520586"/>
                    <a:pt x="0" y="501522"/>
                  </a:cubicBezTo>
                  <a:lnTo>
                    <a:pt x="0" y="71883"/>
                  </a:lnTo>
                  <a:cubicBezTo>
                    <a:pt x="0" y="32183"/>
                    <a:pt x="32183" y="0"/>
                    <a:pt x="71883" y="0"/>
                  </a:cubicBezTo>
                  <a:close/>
                </a:path>
              </a:pathLst>
            </a:custGeom>
            <a:solidFill>
              <a:srgbClr val="083698"/>
            </a:solidFill>
          </p:spPr>
        </p:sp>
        <p:sp>
          <p:nvSpPr>
            <p:cNvPr name="TextBox 7" id="7"/>
            <p:cNvSpPr txBox="true"/>
            <p:nvPr/>
          </p:nvSpPr>
          <p:spPr>
            <a:xfrm>
              <a:off x="0" y="-47625"/>
              <a:ext cx="1446666" cy="621030"/>
            </a:xfrm>
            <a:prstGeom prst="rect">
              <a:avLst/>
            </a:prstGeom>
          </p:spPr>
          <p:txBody>
            <a:bodyPr anchor="ctr" rtlCol="false" tIns="50800" lIns="50800" bIns="50800" rIns="50800"/>
            <a:lstStyle/>
            <a:p>
              <a:pPr algn="ctr">
                <a:lnSpc>
                  <a:spcPts val="3511"/>
                </a:lnSpc>
              </a:pPr>
            </a:p>
          </p:txBody>
        </p:sp>
      </p:grpSp>
      <p:sp>
        <p:nvSpPr>
          <p:cNvPr name="Freeform 8" id="8"/>
          <p:cNvSpPr/>
          <p:nvPr/>
        </p:nvSpPr>
        <p:spPr>
          <a:xfrm flipH="false" flipV="false" rot="0">
            <a:off x="0" y="8549262"/>
            <a:ext cx="2798999" cy="1284041"/>
          </a:xfrm>
          <a:custGeom>
            <a:avLst/>
            <a:gdLst/>
            <a:ahLst/>
            <a:cxnLst/>
            <a:rect r="r" b="b" t="t" l="l"/>
            <a:pathLst>
              <a:path h="1284041" w="2798999">
                <a:moveTo>
                  <a:pt x="0" y="0"/>
                </a:moveTo>
                <a:lnTo>
                  <a:pt x="2798999" y="0"/>
                </a:lnTo>
                <a:lnTo>
                  <a:pt x="2798999" y="1284040"/>
                </a:lnTo>
                <a:lnTo>
                  <a:pt x="0" y="12840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042296" y="-214883"/>
            <a:ext cx="2245704" cy="2487166"/>
          </a:xfrm>
          <a:custGeom>
            <a:avLst/>
            <a:gdLst/>
            <a:ahLst/>
            <a:cxnLst/>
            <a:rect r="r" b="b" t="t" l="l"/>
            <a:pathLst>
              <a:path h="2487166" w="2245704">
                <a:moveTo>
                  <a:pt x="0" y="0"/>
                </a:moveTo>
                <a:lnTo>
                  <a:pt x="2245704" y="0"/>
                </a:lnTo>
                <a:lnTo>
                  <a:pt x="2245704" y="2487166"/>
                </a:lnTo>
                <a:lnTo>
                  <a:pt x="0" y="2487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156450" y="8475763"/>
            <a:ext cx="2251123" cy="1118996"/>
          </a:xfrm>
          <a:custGeom>
            <a:avLst/>
            <a:gdLst/>
            <a:ahLst/>
            <a:cxnLst/>
            <a:rect r="r" b="b" t="t" l="l"/>
            <a:pathLst>
              <a:path h="1118996" w="2251123">
                <a:moveTo>
                  <a:pt x="0" y="0"/>
                </a:moveTo>
                <a:lnTo>
                  <a:pt x="2251122" y="0"/>
                </a:lnTo>
                <a:lnTo>
                  <a:pt x="2251122" y="1118995"/>
                </a:lnTo>
                <a:lnTo>
                  <a:pt x="0" y="11189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378409" y="3699889"/>
            <a:ext cx="312641" cy="2670240"/>
          </a:xfrm>
          <a:custGeom>
            <a:avLst/>
            <a:gdLst/>
            <a:ahLst/>
            <a:cxnLst/>
            <a:rect r="r" b="b" t="t" l="l"/>
            <a:pathLst>
              <a:path h="2670240" w="312641">
                <a:moveTo>
                  <a:pt x="0" y="0"/>
                </a:moveTo>
                <a:lnTo>
                  <a:pt x="312640" y="0"/>
                </a:lnTo>
                <a:lnTo>
                  <a:pt x="312640" y="2670240"/>
                </a:lnTo>
                <a:lnTo>
                  <a:pt x="0" y="2670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2798999" y="-214883"/>
            <a:ext cx="3340663" cy="972968"/>
          </a:xfrm>
          <a:custGeom>
            <a:avLst/>
            <a:gdLst/>
            <a:ahLst/>
            <a:cxnLst/>
            <a:rect r="r" b="b" t="t" l="l"/>
            <a:pathLst>
              <a:path h="972968" w="3340663">
                <a:moveTo>
                  <a:pt x="0" y="0"/>
                </a:moveTo>
                <a:lnTo>
                  <a:pt x="3340662" y="0"/>
                </a:lnTo>
                <a:lnTo>
                  <a:pt x="3340662" y="972968"/>
                </a:lnTo>
                <a:lnTo>
                  <a:pt x="0" y="9729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5604360" y="2515479"/>
            <a:ext cx="7079279" cy="7079279"/>
          </a:xfrm>
          <a:custGeom>
            <a:avLst/>
            <a:gdLst/>
            <a:ahLst/>
            <a:cxnLst/>
            <a:rect r="r" b="b" t="t" l="l"/>
            <a:pathLst>
              <a:path h="7079279" w="7079279">
                <a:moveTo>
                  <a:pt x="0" y="0"/>
                </a:moveTo>
                <a:lnTo>
                  <a:pt x="7079280" y="0"/>
                </a:lnTo>
                <a:lnTo>
                  <a:pt x="7079280" y="7079279"/>
                </a:lnTo>
                <a:lnTo>
                  <a:pt x="0" y="7079279"/>
                </a:lnTo>
                <a:lnTo>
                  <a:pt x="0" y="0"/>
                </a:lnTo>
                <a:close/>
              </a:path>
            </a:pathLst>
          </a:custGeom>
          <a:blipFill>
            <a:blip r:embed="rId12"/>
            <a:stretch>
              <a:fillRect l="0" t="0" r="0" b="0"/>
            </a:stretch>
          </a:blipFill>
        </p:spPr>
      </p:sp>
      <p:sp>
        <p:nvSpPr>
          <p:cNvPr name="TextBox 14" id="14"/>
          <p:cNvSpPr txBox="true"/>
          <p:nvPr/>
        </p:nvSpPr>
        <p:spPr>
          <a:xfrm rot="0">
            <a:off x="6879566" y="1094785"/>
            <a:ext cx="4528867" cy="1177498"/>
          </a:xfrm>
          <a:prstGeom prst="rect">
            <a:avLst/>
          </a:prstGeom>
        </p:spPr>
        <p:txBody>
          <a:bodyPr anchor="t" rtlCol="false" tIns="0" lIns="0" bIns="0" rIns="0">
            <a:spAutoFit/>
          </a:bodyPr>
          <a:lstStyle/>
          <a:p>
            <a:pPr algn="l">
              <a:lnSpc>
                <a:spcPts val="9648"/>
              </a:lnSpc>
            </a:pPr>
            <a:r>
              <a:rPr lang="en-US" sz="6891" b="true">
                <a:solidFill>
                  <a:srgbClr val="000000"/>
                </a:solidFill>
                <a:latin typeface="Montaser Arabic Bold"/>
                <a:ea typeface="Montaser Arabic Bold"/>
                <a:cs typeface="Montaser Arabic Bold"/>
                <a:sym typeface="Montaser Arabic Bold"/>
              </a:rPr>
              <a:t>MOCK UP</a:t>
            </a:r>
          </a:p>
        </p:txBody>
      </p:sp>
      <p:sp>
        <p:nvSpPr>
          <p:cNvPr name="TextBox 15" id="15"/>
          <p:cNvSpPr txBox="true"/>
          <p:nvPr/>
        </p:nvSpPr>
        <p:spPr>
          <a:xfrm rot="0">
            <a:off x="13156450" y="5302638"/>
            <a:ext cx="5131550" cy="752481"/>
          </a:xfrm>
          <a:prstGeom prst="rect">
            <a:avLst/>
          </a:prstGeom>
        </p:spPr>
        <p:txBody>
          <a:bodyPr anchor="t" rtlCol="false" tIns="0" lIns="0" bIns="0" rIns="0">
            <a:spAutoFit/>
          </a:bodyPr>
          <a:lstStyle/>
          <a:p>
            <a:pPr algn="just">
              <a:lnSpc>
                <a:spcPts val="6299"/>
              </a:lnSpc>
            </a:pPr>
            <a:r>
              <a:rPr lang="en-US" sz="4499" u="sng">
                <a:solidFill>
                  <a:srgbClr val="FFFFFF"/>
                </a:solidFill>
                <a:latin typeface="Montserrat"/>
                <a:ea typeface="Montserrat"/>
                <a:cs typeface="Montserrat"/>
                <a:sym typeface="Montserrat"/>
                <a:hlinkClick r:id="rId13" tooltip="https://drive.google.com/drive/folders/1quat257pIsJ2lbEgywBAZh5QzsUQFIPp"/>
              </a:rPr>
              <a:t> atau KLIK DISINI</a:t>
            </a:r>
          </a:p>
        </p:txBody>
      </p:sp>
      <p:grpSp>
        <p:nvGrpSpPr>
          <p:cNvPr name="Group 16" id="16"/>
          <p:cNvGrpSpPr/>
          <p:nvPr/>
        </p:nvGrpSpPr>
        <p:grpSpPr>
          <a:xfrm rot="0">
            <a:off x="378409" y="4739014"/>
            <a:ext cx="5492808" cy="2177146"/>
            <a:chOff x="0" y="0"/>
            <a:chExt cx="1446666" cy="573405"/>
          </a:xfrm>
        </p:grpSpPr>
        <p:sp>
          <p:nvSpPr>
            <p:cNvPr name="Freeform 17" id="17"/>
            <p:cNvSpPr/>
            <p:nvPr/>
          </p:nvSpPr>
          <p:spPr>
            <a:xfrm flipH="false" flipV="false" rot="0">
              <a:off x="0" y="0"/>
              <a:ext cx="1446666" cy="573405"/>
            </a:xfrm>
            <a:custGeom>
              <a:avLst/>
              <a:gdLst/>
              <a:ahLst/>
              <a:cxnLst/>
              <a:rect r="r" b="b" t="t" l="l"/>
              <a:pathLst>
                <a:path h="573405" w="1446666">
                  <a:moveTo>
                    <a:pt x="71883" y="0"/>
                  </a:moveTo>
                  <a:lnTo>
                    <a:pt x="1374783" y="0"/>
                  </a:lnTo>
                  <a:cubicBezTo>
                    <a:pt x="1414483" y="0"/>
                    <a:pt x="1446666" y="32183"/>
                    <a:pt x="1446666" y="71883"/>
                  </a:cubicBezTo>
                  <a:lnTo>
                    <a:pt x="1446666" y="501522"/>
                  </a:lnTo>
                  <a:cubicBezTo>
                    <a:pt x="1446666" y="541222"/>
                    <a:pt x="1414483" y="573405"/>
                    <a:pt x="1374783" y="573405"/>
                  </a:cubicBezTo>
                  <a:lnTo>
                    <a:pt x="71883" y="573405"/>
                  </a:lnTo>
                  <a:cubicBezTo>
                    <a:pt x="52818" y="573405"/>
                    <a:pt x="34535" y="565831"/>
                    <a:pt x="21054" y="552351"/>
                  </a:cubicBezTo>
                  <a:cubicBezTo>
                    <a:pt x="7573" y="538870"/>
                    <a:pt x="0" y="520586"/>
                    <a:pt x="0" y="501522"/>
                  </a:cubicBezTo>
                  <a:lnTo>
                    <a:pt x="0" y="71883"/>
                  </a:lnTo>
                  <a:cubicBezTo>
                    <a:pt x="0" y="32183"/>
                    <a:pt x="32183" y="0"/>
                    <a:pt x="71883" y="0"/>
                  </a:cubicBezTo>
                  <a:close/>
                </a:path>
              </a:pathLst>
            </a:custGeom>
            <a:solidFill>
              <a:srgbClr val="083698"/>
            </a:solidFill>
          </p:spPr>
        </p:sp>
        <p:sp>
          <p:nvSpPr>
            <p:cNvPr name="TextBox 18" id="18"/>
            <p:cNvSpPr txBox="true"/>
            <p:nvPr/>
          </p:nvSpPr>
          <p:spPr>
            <a:xfrm>
              <a:off x="0" y="-47625"/>
              <a:ext cx="1446666" cy="621030"/>
            </a:xfrm>
            <a:prstGeom prst="rect">
              <a:avLst/>
            </a:prstGeom>
          </p:spPr>
          <p:txBody>
            <a:bodyPr anchor="ctr" rtlCol="false" tIns="50800" lIns="50800" bIns="50800" rIns="50800"/>
            <a:lstStyle/>
            <a:p>
              <a:pPr algn="ctr">
                <a:lnSpc>
                  <a:spcPts val="3511"/>
                </a:lnSpc>
              </a:pPr>
            </a:p>
          </p:txBody>
        </p:sp>
      </p:grpSp>
      <p:sp>
        <p:nvSpPr>
          <p:cNvPr name="TextBox 19" id="19"/>
          <p:cNvSpPr txBox="true"/>
          <p:nvPr/>
        </p:nvSpPr>
        <p:spPr>
          <a:xfrm rot="0">
            <a:off x="691049" y="5302638"/>
            <a:ext cx="5131550" cy="752481"/>
          </a:xfrm>
          <a:prstGeom prst="rect">
            <a:avLst/>
          </a:prstGeom>
        </p:spPr>
        <p:txBody>
          <a:bodyPr anchor="t" rtlCol="false" tIns="0" lIns="0" bIns="0" rIns="0">
            <a:spAutoFit/>
          </a:bodyPr>
          <a:lstStyle/>
          <a:p>
            <a:pPr algn="just">
              <a:lnSpc>
                <a:spcPts val="6299"/>
              </a:lnSpc>
            </a:pPr>
            <a:r>
              <a:rPr lang="en-US" sz="4499">
                <a:solidFill>
                  <a:srgbClr val="FFFFFF"/>
                </a:solidFill>
                <a:latin typeface="Montserrat"/>
                <a:ea typeface="Montserrat"/>
                <a:cs typeface="Montserrat"/>
                <a:sym typeface="Montserrat"/>
              </a:rPr>
              <a:t>SCAN QR CODE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00720" y="6332458"/>
            <a:ext cx="1193666" cy="834330"/>
          </a:xfrm>
          <a:custGeom>
            <a:avLst/>
            <a:gdLst/>
            <a:ahLst/>
            <a:cxnLst/>
            <a:rect r="r" b="b" t="t" l="l"/>
            <a:pathLst>
              <a:path h="834330" w="1193666">
                <a:moveTo>
                  <a:pt x="0" y="0"/>
                </a:moveTo>
                <a:lnTo>
                  <a:pt x="1193666" y="0"/>
                </a:lnTo>
                <a:lnTo>
                  <a:pt x="1193666" y="834330"/>
                </a:lnTo>
                <a:lnTo>
                  <a:pt x="0" y="834330"/>
                </a:lnTo>
                <a:lnTo>
                  <a:pt x="0" y="0"/>
                </a:lnTo>
                <a:close/>
              </a:path>
            </a:pathLst>
          </a:custGeom>
          <a:blipFill>
            <a:blip r:embed="rId2">
              <a:alphaModFix amt="75000"/>
            </a:blip>
            <a:stretch>
              <a:fillRect l="0" t="-34531" r="0" b="-34531"/>
            </a:stretch>
          </a:blipFill>
        </p:spPr>
      </p:sp>
      <p:grpSp>
        <p:nvGrpSpPr>
          <p:cNvPr name="Group 3" id="3"/>
          <p:cNvGrpSpPr/>
          <p:nvPr/>
        </p:nvGrpSpPr>
        <p:grpSpPr>
          <a:xfrm rot="0">
            <a:off x="10245861" y="1028700"/>
            <a:ext cx="7594815" cy="8020246"/>
            <a:chOff x="0" y="0"/>
            <a:chExt cx="5960491" cy="6294374"/>
          </a:xfrm>
        </p:grpSpPr>
        <p:sp>
          <p:nvSpPr>
            <p:cNvPr name="Freeform 4" id="4"/>
            <p:cNvSpPr/>
            <p:nvPr/>
          </p:nvSpPr>
          <p:spPr>
            <a:xfrm flipH="false" flipV="false" rot="0">
              <a:off x="0" y="-44"/>
              <a:ext cx="5960480" cy="6294418"/>
            </a:xfrm>
            <a:custGeom>
              <a:avLst/>
              <a:gdLst/>
              <a:ahLst/>
              <a:cxnLst/>
              <a:rect r="r" b="b" t="t" l="l"/>
              <a:pathLst>
                <a:path h="6294418" w="5960480">
                  <a:moveTo>
                    <a:pt x="4226814" y="1119549"/>
                  </a:moveTo>
                  <a:cubicBezTo>
                    <a:pt x="4173601" y="967911"/>
                    <a:pt x="4001770" y="815892"/>
                    <a:pt x="3844798" y="781729"/>
                  </a:cubicBezTo>
                  <a:lnTo>
                    <a:pt x="285369" y="6521"/>
                  </a:lnTo>
                  <a:cubicBezTo>
                    <a:pt x="128397" y="-27642"/>
                    <a:pt x="0" y="75863"/>
                    <a:pt x="0" y="236518"/>
                  </a:cubicBezTo>
                  <a:lnTo>
                    <a:pt x="0" y="6002318"/>
                  </a:lnTo>
                  <a:cubicBezTo>
                    <a:pt x="0" y="6162973"/>
                    <a:pt x="131445" y="6294418"/>
                    <a:pt x="292100" y="6294418"/>
                  </a:cubicBezTo>
                  <a:lnTo>
                    <a:pt x="5749544" y="6294418"/>
                  </a:lnTo>
                  <a:cubicBezTo>
                    <a:pt x="5910199" y="6294418"/>
                    <a:pt x="5998083" y="6170339"/>
                    <a:pt x="5944997" y="6018828"/>
                  </a:cubicBezTo>
                  <a:lnTo>
                    <a:pt x="4226814" y="1119549"/>
                  </a:lnTo>
                  <a:close/>
                </a:path>
              </a:pathLst>
            </a:custGeom>
            <a:blipFill>
              <a:blip r:embed="rId3"/>
              <a:stretch>
                <a:fillRect l="-43868" t="0" r="-43868" b="0"/>
              </a:stretch>
            </a:blipFill>
            <a:ln w="38100" cap="sq">
              <a:solidFill>
                <a:srgbClr val="000000"/>
              </a:solidFill>
              <a:prstDash val="solid"/>
              <a:miter/>
            </a:ln>
          </p:spPr>
        </p:sp>
      </p:grpSp>
      <p:grpSp>
        <p:nvGrpSpPr>
          <p:cNvPr name="Group 5" id="5"/>
          <p:cNvGrpSpPr/>
          <p:nvPr/>
        </p:nvGrpSpPr>
        <p:grpSpPr>
          <a:xfrm rot="0">
            <a:off x="-142503" y="9837954"/>
            <a:ext cx="18595517" cy="542466"/>
            <a:chOff x="0" y="0"/>
            <a:chExt cx="4897585" cy="142872"/>
          </a:xfrm>
        </p:grpSpPr>
        <p:sp>
          <p:nvSpPr>
            <p:cNvPr name="Freeform 6" id="6"/>
            <p:cNvSpPr/>
            <p:nvPr/>
          </p:nvSpPr>
          <p:spPr>
            <a:xfrm flipH="false" flipV="false" rot="0">
              <a:off x="0" y="0"/>
              <a:ext cx="4897585" cy="142872"/>
            </a:xfrm>
            <a:custGeom>
              <a:avLst/>
              <a:gdLst/>
              <a:ahLst/>
              <a:cxnLst/>
              <a:rect r="r" b="b" t="t" l="l"/>
              <a:pathLst>
                <a:path h="142872" w="4897585">
                  <a:moveTo>
                    <a:pt x="0" y="0"/>
                  </a:moveTo>
                  <a:lnTo>
                    <a:pt x="4897585" y="0"/>
                  </a:lnTo>
                  <a:lnTo>
                    <a:pt x="4897585" y="142872"/>
                  </a:lnTo>
                  <a:lnTo>
                    <a:pt x="0" y="142872"/>
                  </a:lnTo>
                  <a:close/>
                </a:path>
              </a:pathLst>
            </a:custGeom>
            <a:solidFill>
              <a:srgbClr val="017BC7"/>
            </a:solidFill>
          </p:spPr>
        </p:sp>
        <p:sp>
          <p:nvSpPr>
            <p:cNvPr name="TextBox 7" id="7"/>
            <p:cNvSpPr txBox="true"/>
            <p:nvPr/>
          </p:nvSpPr>
          <p:spPr>
            <a:xfrm>
              <a:off x="0" y="-47625"/>
              <a:ext cx="4897585" cy="190497"/>
            </a:xfrm>
            <a:prstGeom prst="rect">
              <a:avLst/>
            </a:prstGeom>
          </p:spPr>
          <p:txBody>
            <a:bodyPr anchor="ctr" rtlCol="false" tIns="50800" lIns="50800" bIns="50800" rIns="50800"/>
            <a:lstStyle/>
            <a:p>
              <a:pPr algn="ctr">
                <a:lnSpc>
                  <a:spcPts val="3511"/>
                </a:lnSpc>
              </a:pPr>
            </a:p>
          </p:txBody>
        </p:sp>
      </p:grpSp>
      <p:sp>
        <p:nvSpPr>
          <p:cNvPr name="Freeform 8" id="8"/>
          <p:cNvSpPr/>
          <p:nvPr/>
        </p:nvSpPr>
        <p:spPr>
          <a:xfrm flipH="false" flipV="false" rot="0">
            <a:off x="0" y="-35981"/>
            <a:ext cx="2251123" cy="1876873"/>
          </a:xfrm>
          <a:custGeom>
            <a:avLst/>
            <a:gdLst/>
            <a:ahLst/>
            <a:cxnLst/>
            <a:rect r="r" b="b" t="t" l="l"/>
            <a:pathLst>
              <a:path h="1876873" w="2251123">
                <a:moveTo>
                  <a:pt x="0" y="0"/>
                </a:moveTo>
                <a:lnTo>
                  <a:pt x="2251123" y="0"/>
                </a:lnTo>
                <a:lnTo>
                  <a:pt x="2251123" y="1876873"/>
                </a:lnTo>
                <a:lnTo>
                  <a:pt x="0" y="18768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995103" y="1487915"/>
            <a:ext cx="3102415" cy="2211763"/>
          </a:xfrm>
          <a:custGeom>
            <a:avLst/>
            <a:gdLst/>
            <a:ahLst/>
            <a:cxnLst/>
            <a:rect r="r" b="b" t="t" l="l"/>
            <a:pathLst>
              <a:path h="2211763" w="3102415">
                <a:moveTo>
                  <a:pt x="0" y="0"/>
                </a:moveTo>
                <a:lnTo>
                  <a:pt x="3102415" y="0"/>
                </a:lnTo>
                <a:lnTo>
                  <a:pt x="3102415" y="2211763"/>
                </a:lnTo>
                <a:lnTo>
                  <a:pt x="0" y="22117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024682" y="7166788"/>
            <a:ext cx="3410853" cy="2737210"/>
          </a:xfrm>
          <a:custGeom>
            <a:avLst/>
            <a:gdLst/>
            <a:ahLst/>
            <a:cxnLst/>
            <a:rect r="r" b="b" t="t" l="l"/>
            <a:pathLst>
              <a:path h="2737210" w="3410853">
                <a:moveTo>
                  <a:pt x="0" y="0"/>
                </a:moveTo>
                <a:lnTo>
                  <a:pt x="3410853" y="0"/>
                </a:lnTo>
                <a:lnTo>
                  <a:pt x="3410853" y="2737209"/>
                </a:lnTo>
                <a:lnTo>
                  <a:pt x="0" y="27372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995103" y="8698802"/>
            <a:ext cx="2251123" cy="1118996"/>
          </a:xfrm>
          <a:custGeom>
            <a:avLst/>
            <a:gdLst/>
            <a:ahLst/>
            <a:cxnLst/>
            <a:rect r="r" b="b" t="t" l="l"/>
            <a:pathLst>
              <a:path h="1118996" w="2251123">
                <a:moveTo>
                  <a:pt x="0" y="0"/>
                </a:moveTo>
                <a:lnTo>
                  <a:pt x="2251122" y="0"/>
                </a:lnTo>
                <a:lnTo>
                  <a:pt x="2251122" y="1118996"/>
                </a:lnTo>
                <a:lnTo>
                  <a:pt x="0" y="11189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8272098" y="-449645"/>
            <a:ext cx="1743804" cy="1937560"/>
          </a:xfrm>
          <a:custGeom>
            <a:avLst/>
            <a:gdLst/>
            <a:ahLst/>
            <a:cxnLst/>
            <a:rect r="r" b="b" t="t" l="l"/>
            <a:pathLst>
              <a:path h="1937560" w="1743804">
                <a:moveTo>
                  <a:pt x="0" y="0"/>
                </a:moveTo>
                <a:lnTo>
                  <a:pt x="1743804" y="0"/>
                </a:lnTo>
                <a:lnTo>
                  <a:pt x="1743804" y="1937560"/>
                </a:lnTo>
                <a:lnTo>
                  <a:pt x="0" y="19375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716059" y="3928220"/>
            <a:ext cx="312641" cy="2670240"/>
          </a:xfrm>
          <a:custGeom>
            <a:avLst/>
            <a:gdLst/>
            <a:ahLst/>
            <a:cxnLst/>
            <a:rect r="r" b="b" t="t" l="l"/>
            <a:pathLst>
              <a:path h="2670240" w="312641">
                <a:moveTo>
                  <a:pt x="0" y="0"/>
                </a:moveTo>
                <a:lnTo>
                  <a:pt x="312641" y="0"/>
                </a:lnTo>
                <a:lnTo>
                  <a:pt x="312641" y="2670240"/>
                </a:lnTo>
                <a:lnTo>
                  <a:pt x="0" y="267024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AutoShape 14" id="14"/>
          <p:cNvSpPr/>
          <p:nvPr/>
        </p:nvSpPr>
        <p:spPr>
          <a:xfrm flipH="true">
            <a:off x="9713555" y="1840892"/>
            <a:ext cx="0" cy="6599536"/>
          </a:xfrm>
          <a:prstGeom prst="line">
            <a:avLst/>
          </a:prstGeom>
          <a:ln cap="flat" w="38100">
            <a:solidFill>
              <a:srgbClr val="083698"/>
            </a:solidFill>
            <a:prstDash val="solid"/>
            <a:headEnd type="none" len="sm" w="sm"/>
            <a:tailEnd type="none" len="sm" w="sm"/>
          </a:ln>
        </p:spPr>
      </p:sp>
      <p:sp>
        <p:nvSpPr>
          <p:cNvPr name="TextBox 15" id="15"/>
          <p:cNvSpPr txBox="true"/>
          <p:nvPr/>
        </p:nvSpPr>
        <p:spPr>
          <a:xfrm rot="0">
            <a:off x="1512069" y="3799132"/>
            <a:ext cx="8250424" cy="1723701"/>
          </a:xfrm>
          <a:prstGeom prst="rect">
            <a:avLst/>
          </a:prstGeom>
        </p:spPr>
        <p:txBody>
          <a:bodyPr anchor="t" rtlCol="false" tIns="0" lIns="0" bIns="0" rIns="0">
            <a:spAutoFit/>
          </a:bodyPr>
          <a:lstStyle/>
          <a:p>
            <a:pPr algn="l">
              <a:lnSpc>
                <a:spcPts val="14123"/>
              </a:lnSpc>
            </a:pPr>
            <a:r>
              <a:rPr lang="en-US" sz="10088" b="true">
                <a:solidFill>
                  <a:srgbClr val="133662"/>
                </a:solidFill>
                <a:latin typeface="Montaser Arabic Bold"/>
                <a:ea typeface="Montaser Arabic Bold"/>
                <a:cs typeface="Montaser Arabic Bold"/>
                <a:sym typeface="Montaser Arabic Bold"/>
              </a:rPr>
              <a:t>THANK YOU</a:t>
            </a:r>
          </a:p>
        </p:txBody>
      </p:sp>
      <p:sp>
        <p:nvSpPr>
          <p:cNvPr name="Freeform 16" id="16"/>
          <p:cNvSpPr/>
          <p:nvPr/>
        </p:nvSpPr>
        <p:spPr>
          <a:xfrm flipH="false" flipV="false" rot="0">
            <a:off x="4027461" y="-327736"/>
            <a:ext cx="1732727" cy="1693741"/>
          </a:xfrm>
          <a:custGeom>
            <a:avLst/>
            <a:gdLst/>
            <a:ahLst/>
            <a:cxnLst/>
            <a:rect r="r" b="b" t="t" l="l"/>
            <a:pathLst>
              <a:path h="1693741" w="1732727">
                <a:moveTo>
                  <a:pt x="0" y="0"/>
                </a:moveTo>
                <a:lnTo>
                  <a:pt x="1732727" y="0"/>
                </a:lnTo>
                <a:lnTo>
                  <a:pt x="1732727" y="1693741"/>
                </a:lnTo>
                <a:lnTo>
                  <a:pt x="0" y="169374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1900521" y="7227645"/>
            <a:ext cx="5986608" cy="571801"/>
          </a:xfrm>
          <a:prstGeom prst="rect">
            <a:avLst/>
          </a:prstGeom>
        </p:spPr>
        <p:txBody>
          <a:bodyPr anchor="t" rtlCol="false" tIns="0" lIns="0" bIns="0" rIns="0">
            <a:spAutoFit/>
          </a:bodyPr>
          <a:lstStyle/>
          <a:p>
            <a:pPr algn="l" marL="0" indent="0" lvl="0">
              <a:lnSpc>
                <a:spcPts val="4708"/>
              </a:lnSpc>
              <a:spcBef>
                <a:spcPct val="0"/>
              </a:spcBef>
            </a:pPr>
            <a:r>
              <a:rPr lang="en-US" b="true" sz="3363">
                <a:solidFill>
                  <a:srgbClr val="FFFFFF"/>
                </a:solidFill>
                <a:latin typeface="Montserrat Bold"/>
                <a:ea typeface="Montserrat Bold"/>
                <a:cs typeface="Montserrat Bold"/>
                <a:sym typeface="Montserrat Bold"/>
              </a:rPr>
              <a:t>Trojan Team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8445341"/>
            <a:ext cx="18595517" cy="1935079"/>
            <a:chOff x="0" y="0"/>
            <a:chExt cx="4897585" cy="509650"/>
          </a:xfrm>
        </p:grpSpPr>
        <p:sp>
          <p:nvSpPr>
            <p:cNvPr name="Freeform 3" id="3"/>
            <p:cNvSpPr/>
            <p:nvPr/>
          </p:nvSpPr>
          <p:spPr>
            <a:xfrm flipH="false" flipV="false" rot="0">
              <a:off x="0" y="0"/>
              <a:ext cx="4897585" cy="509650"/>
            </a:xfrm>
            <a:custGeom>
              <a:avLst/>
              <a:gdLst/>
              <a:ahLst/>
              <a:cxnLst/>
              <a:rect r="r" b="b" t="t" l="l"/>
              <a:pathLst>
                <a:path h="509650" w="4897585">
                  <a:moveTo>
                    <a:pt x="0" y="0"/>
                  </a:moveTo>
                  <a:lnTo>
                    <a:pt x="4897585" y="0"/>
                  </a:lnTo>
                  <a:lnTo>
                    <a:pt x="4897585" y="509650"/>
                  </a:lnTo>
                  <a:lnTo>
                    <a:pt x="0" y="509650"/>
                  </a:lnTo>
                  <a:close/>
                </a:path>
              </a:pathLst>
            </a:custGeom>
            <a:solidFill>
              <a:srgbClr val="017BC7"/>
            </a:solidFill>
          </p:spPr>
        </p:sp>
        <p:sp>
          <p:nvSpPr>
            <p:cNvPr name="TextBox 4" id="4"/>
            <p:cNvSpPr txBox="true"/>
            <p:nvPr/>
          </p:nvSpPr>
          <p:spPr>
            <a:xfrm>
              <a:off x="0" y="-47625"/>
              <a:ext cx="4897585" cy="557275"/>
            </a:xfrm>
            <a:prstGeom prst="rect">
              <a:avLst/>
            </a:prstGeom>
          </p:spPr>
          <p:txBody>
            <a:bodyPr anchor="ctr" rtlCol="false" tIns="50800" lIns="50800" bIns="50800" rIns="50800"/>
            <a:lstStyle/>
            <a:p>
              <a:pPr algn="ctr">
                <a:lnSpc>
                  <a:spcPts val="3511"/>
                </a:lnSpc>
              </a:pPr>
            </a:p>
          </p:txBody>
        </p:sp>
      </p:grpSp>
      <p:sp>
        <p:nvSpPr>
          <p:cNvPr name="Freeform 5" id="5"/>
          <p:cNvSpPr/>
          <p:nvPr/>
        </p:nvSpPr>
        <p:spPr>
          <a:xfrm flipH="false" flipV="false" rot="0">
            <a:off x="0" y="42958"/>
            <a:ext cx="2251123" cy="1876873"/>
          </a:xfrm>
          <a:custGeom>
            <a:avLst/>
            <a:gdLst/>
            <a:ahLst/>
            <a:cxnLst/>
            <a:rect r="r" b="b" t="t" l="l"/>
            <a:pathLst>
              <a:path h="1876873" w="2251123">
                <a:moveTo>
                  <a:pt x="0" y="0"/>
                </a:moveTo>
                <a:lnTo>
                  <a:pt x="2251123" y="0"/>
                </a:lnTo>
                <a:lnTo>
                  <a:pt x="2251123" y="1876874"/>
                </a:lnTo>
                <a:lnTo>
                  <a:pt x="0" y="1876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45084" y="-139112"/>
            <a:ext cx="2245704" cy="2487166"/>
          </a:xfrm>
          <a:custGeom>
            <a:avLst/>
            <a:gdLst/>
            <a:ahLst/>
            <a:cxnLst/>
            <a:rect r="r" b="b" t="t" l="l"/>
            <a:pathLst>
              <a:path h="2487166" w="2245704">
                <a:moveTo>
                  <a:pt x="0" y="0"/>
                </a:moveTo>
                <a:lnTo>
                  <a:pt x="2245703" y="0"/>
                </a:lnTo>
                <a:lnTo>
                  <a:pt x="2245703" y="2487166"/>
                </a:lnTo>
                <a:lnTo>
                  <a:pt x="0" y="2487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96284" y="9018855"/>
            <a:ext cx="2376746" cy="1090332"/>
          </a:xfrm>
          <a:custGeom>
            <a:avLst/>
            <a:gdLst/>
            <a:ahLst/>
            <a:cxnLst/>
            <a:rect r="r" b="b" t="t" l="l"/>
            <a:pathLst>
              <a:path h="1090332" w="2376746">
                <a:moveTo>
                  <a:pt x="0" y="0"/>
                </a:moveTo>
                <a:lnTo>
                  <a:pt x="2376746" y="0"/>
                </a:lnTo>
                <a:lnTo>
                  <a:pt x="2376746" y="1090332"/>
                </a:lnTo>
                <a:lnTo>
                  <a:pt x="0" y="109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988372" y="7626191"/>
            <a:ext cx="3102415" cy="2211763"/>
          </a:xfrm>
          <a:custGeom>
            <a:avLst/>
            <a:gdLst/>
            <a:ahLst/>
            <a:cxnLst/>
            <a:rect r="r" b="b" t="t" l="l"/>
            <a:pathLst>
              <a:path h="2211763" w="3102415">
                <a:moveTo>
                  <a:pt x="0" y="0"/>
                </a:moveTo>
                <a:lnTo>
                  <a:pt x="3102415" y="0"/>
                </a:lnTo>
                <a:lnTo>
                  <a:pt x="3102415" y="2211763"/>
                </a:lnTo>
                <a:lnTo>
                  <a:pt x="0" y="22117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795177" y="153216"/>
            <a:ext cx="3492823" cy="1075301"/>
          </a:xfrm>
          <a:custGeom>
            <a:avLst/>
            <a:gdLst/>
            <a:ahLst/>
            <a:cxnLst/>
            <a:rect r="r" b="b" t="t" l="l"/>
            <a:pathLst>
              <a:path h="1075301" w="3492823">
                <a:moveTo>
                  <a:pt x="0" y="0"/>
                </a:moveTo>
                <a:lnTo>
                  <a:pt x="3492823" y="0"/>
                </a:lnTo>
                <a:lnTo>
                  <a:pt x="3492823" y="1075301"/>
                </a:lnTo>
                <a:lnTo>
                  <a:pt x="0" y="1075301"/>
                </a:lnTo>
                <a:lnTo>
                  <a:pt x="0" y="0"/>
                </a:lnTo>
                <a:close/>
              </a:path>
            </a:pathLst>
          </a:custGeom>
          <a:blipFill>
            <a:blip r:embed="rId10"/>
            <a:stretch>
              <a:fillRect l="0" t="0" r="0" b="0"/>
            </a:stretch>
          </a:blipFill>
        </p:spPr>
      </p:sp>
      <p:sp>
        <p:nvSpPr>
          <p:cNvPr name="TextBox 10" id="10"/>
          <p:cNvSpPr txBox="true"/>
          <p:nvPr/>
        </p:nvSpPr>
        <p:spPr>
          <a:xfrm rot="0">
            <a:off x="1997530" y="1241869"/>
            <a:ext cx="15970405" cy="1321593"/>
          </a:xfrm>
          <a:prstGeom prst="rect">
            <a:avLst/>
          </a:prstGeom>
        </p:spPr>
        <p:txBody>
          <a:bodyPr anchor="t" rtlCol="false" tIns="0" lIns="0" bIns="0" rIns="0">
            <a:spAutoFit/>
          </a:bodyPr>
          <a:lstStyle/>
          <a:p>
            <a:pPr algn="just" marL="0" indent="0" lvl="0">
              <a:lnSpc>
                <a:spcPts val="3568"/>
              </a:lnSpc>
              <a:spcBef>
                <a:spcPct val="0"/>
              </a:spcBef>
            </a:pPr>
            <a:r>
              <a:rPr lang="en-US" sz="2549">
                <a:solidFill>
                  <a:srgbClr val="000000"/>
                </a:solidFill>
                <a:latin typeface="Montserrat"/>
                <a:ea typeface="Montserrat"/>
                <a:cs typeface="Montserrat"/>
                <a:sym typeface="Montserrat"/>
              </a:rPr>
              <a:t>Do</a:t>
            </a:r>
            <a:r>
              <a:rPr lang="en-US" sz="2549" strike="noStrike" u="none">
                <a:solidFill>
                  <a:srgbClr val="000000"/>
                </a:solidFill>
                <a:latin typeface="Montserrat"/>
                <a:ea typeface="Montserrat"/>
                <a:cs typeface="Montserrat"/>
                <a:sym typeface="Montserrat"/>
              </a:rPr>
              <a:t>kumen SKP </a:t>
            </a:r>
            <a:r>
              <a:rPr lang="en-US" sz="2549" strike="noStrike" u="none">
                <a:solidFill>
                  <a:srgbClr val="000000"/>
                </a:solidFill>
                <a:latin typeface="Montserrat"/>
                <a:ea typeface="Montserrat"/>
                <a:cs typeface="Montserrat"/>
                <a:sym typeface="Montserrat"/>
              </a:rPr>
              <a:t>(</a:t>
            </a:r>
            <a:r>
              <a:rPr lang="en-US" sz="2549" strike="noStrike" u="none">
                <a:solidFill>
                  <a:srgbClr val="000000"/>
                </a:solidFill>
                <a:latin typeface="Montserrat"/>
                <a:ea typeface="Montserrat"/>
                <a:cs typeface="Montserrat"/>
                <a:sym typeface="Montserrat"/>
              </a:rPr>
              <a:t>Sasaran Kinerja Pegawai)</a:t>
            </a:r>
          </a:p>
          <a:p>
            <a:pPr algn="just" marL="0" indent="0" lvl="0">
              <a:lnSpc>
                <a:spcPts val="3568"/>
              </a:lnSpc>
              <a:spcBef>
                <a:spcPct val="0"/>
              </a:spcBef>
            </a:pPr>
          </a:p>
          <a:p>
            <a:pPr algn="just" marL="0" indent="0" lvl="0">
              <a:lnSpc>
                <a:spcPts val="3568"/>
              </a:lnSpc>
              <a:spcBef>
                <a:spcPct val="0"/>
              </a:spcBef>
            </a:pPr>
          </a:p>
        </p:txBody>
      </p:sp>
      <p:sp>
        <p:nvSpPr>
          <p:cNvPr name="TextBox 11" id="11"/>
          <p:cNvSpPr txBox="true"/>
          <p:nvPr/>
        </p:nvSpPr>
        <p:spPr>
          <a:xfrm rot="0">
            <a:off x="260195" y="1878853"/>
            <a:ext cx="15217807" cy="6698000"/>
          </a:xfrm>
          <a:prstGeom prst="rect">
            <a:avLst/>
          </a:prstGeom>
        </p:spPr>
        <p:txBody>
          <a:bodyPr anchor="t" rtlCol="false" tIns="0" lIns="0" bIns="0" rIns="0">
            <a:spAutoFit/>
          </a:bodyPr>
          <a:lstStyle/>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1. Isi Data: Identitas pegawai (nama, NIP, jabatan, unit kerja) ;  Target dan realisasi kinerja (output, outcome, indikator keberhasilan); Nilai perilaku kerja (disiplin, integritas, kerja sama, orientasi pelayanan); Hasil evaluasi dan penilaian oleh atasan langsung; Catatan pengembangan kompetensi</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2. Sumber Data:</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Sistem Informasi ASN (BKN)</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Aplikasi e-Kinerja di instansi masing-masing (contoh: Kemenkeu, Kemendagri, BKN)</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Laporan dan dokumen SKP tahunan pegawai</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Data internal dari unit SDM/kepegawaian instansi</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3. Akses Data:</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Akses internal melalui portal e-Kinerja ASN (memerlukan login ASN)</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Ringkasan agregat atau data anonim bisa diminta resmi ke BKN/KemenpanRB</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Publikasi terbatas dalam laporan tahunan instansi (tanpa data pribadi)</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Tidak tersedia di publik repository karena termasuk data pribadi ASN sesuai UU No. 14/2008 (KIP) dan PP No. 30/2019 tentang Penilaian Kinerja PNS</a:t>
            </a:r>
          </a:p>
        </p:txBody>
      </p:sp>
      <p:sp>
        <p:nvSpPr>
          <p:cNvPr name="Freeform 12" id="12"/>
          <p:cNvSpPr/>
          <p:nvPr/>
        </p:nvSpPr>
        <p:spPr>
          <a:xfrm flipH="false" flipV="false" rot="0">
            <a:off x="14216534" y="3451748"/>
            <a:ext cx="3751401" cy="3286157"/>
          </a:xfrm>
          <a:custGeom>
            <a:avLst/>
            <a:gdLst/>
            <a:ahLst/>
            <a:cxnLst/>
            <a:rect r="r" b="b" t="t" l="l"/>
            <a:pathLst>
              <a:path h="3286157" w="3751401">
                <a:moveTo>
                  <a:pt x="0" y="0"/>
                </a:moveTo>
                <a:lnTo>
                  <a:pt x="3751401" y="0"/>
                </a:lnTo>
                <a:lnTo>
                  <a:pt x="3751401" y="3286157"/>
                </a:lnTo>
                <a:lnTo>
                  <a:pt x="0" y="3286157"/>
                </a:lnTo>
                <a:lnTo>
                  <a:pt x="0" y="0"/>
                </a:lnTo>
                <a:close/>
              </a:path>
            </a:pathLst>
          </a:custGeom>
          <a:blipFill>
            <a:blip r:embed="rId11"/>
            <a:stretch>
              <a:fillRect l="0" t="0" r="0" b="0"/>
            </a:stretch>
          </a:blipFill>
        </p:spPr>
      </p:sp>
      <p:sp>
        <p:nvSpPr>
          <p:cNvPr name="TextBox 13" id="13"/>
          <p:cNvSpPr txBox="true"/>
          <p:nvPr/>
        </p:nvSpPr>
        <p:spPr>
          <a:xfrm rot="0">
            <a:off x="6170675" y="148344"/>
            <a:ext cx="7226521" cy="970745"/>
          </a:xfrm>
          <a:prstGeom prst="rect">
            <a:avLst/>
          </a:prstGeom>
        </p:spPr>
        <p:txBody>
          <a:bodyPr anchor="t" rtlCol="false" tIns="0" lIns="0" bIns="0" rIns="0">
            <a:spAutoFit/>
          </a:bodyPr>
          <a:lstStyle/>
          <a:p>
            <a:pPr algn="ctr">
              <a:lnSpc>
                <a:spcPts val="7914"/>
              </a:lnSpc>
            </a:pPr>
            <a:r>
              <a:rPr lang="en-US" b="true" sz="5652">
                <a:solidFill>
                  <a:srgbClr val="000000"/>
                </a:solidFill>
                <a:latin typeface="Montaser Arabic Bold"/>
                <a:ea typeface="Montaser Arabic Bold"/>
                <a:cs typeface="Montaser Arabic Bold"/>
                <a:sym typeface="Montaser Arabic Bold"/>
              </a:rPr>
              <a:t>DATASET</a:t>
            </a:r>
          </a:p>
        </p:txBody>
      </p:sp>
      <p:sp>
        <p:nvSpPr>
          <p:cNvPr name="TextBox 14" id="14"/>
          <p:cNvSpPr txBox="true"/>
          <p:nvPr/>
        </p:nvSpPr>
        <p:spPr>
          <a:xfrm rot="0">
            <a:off x="6170675" y="8715778"/>
            <a:ext cx="7226521" cy="970745"/>
          </a:xfrm>
          <a:prstGeom prst="rect">
            <a:avLst/>
          </a:prstGeom>
        </p:spPr>
        <p:txBody>
          <a:bodyPr anchor="t" rtlCol="false" tIns="0" lIns="0" bIns="0" rIns="0">
            <a:spAutoFit/>
          </a:bodyPr>
          <a:lstStyle/>
          <a:p>
            <a:pPr algn="ctr">
              <a:lnSpc>
                <a:spcPts val="7914"/>
              </a:lnSpc>
            </a:pPr>
            <a:r>
              <a:rPr lang="en-US" b="true" sz="5652">
                <a:solidFill>
                  <a:srgbClr val="000000"/>
                </a:solidFill>
                <a:latin typeface="Montaser Arabic Bold"/>
                <a:ea typeface="Montaser Arabic Bold"/>
                <a:cs typeface="Montaser Arabic Bold"/>
                <a:sym typeface="Montaser Arabic Bold"/>
              </a:rPr>
              <a:t>LAMPIRAN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8445341"/>
            <a:ext cx="18595517" cy="1935079"/>
            <a:chOff x="0" y="0"/>
            <a:chExt cx="4897585" cy="509650"/>
          </a:xfrm>
        </p:grpSpPr>
        <p:sp>
          <p:nvSpPr>
            <p:cNvPr name="Freeform 3" id="3"/>
            <p:cNvSpPr/>
            <p:nvPr/>
          </p:nvSpPr>
          <p:spPr>
            <a:xfrm flipH="false" flipV="false" rot="0">
              <a:off x="0" y="0"/>
              <a:ext cx="4897585" cy="509650"/>
            </a:xfrm>
            <a:custGeom>
              <a:avLst/>
              <a:gdLst/>
              <a:ahLst/>
              <a:cxnLst/>
              <a:rect r="r" b="b" t="t" l="l"/>
              <a:pathLst>
                <a:path h="509650" w="4897585">
                  <a:moveTo>
                    <a:pt x="0" y="0"/>
                  </a:moveTo>
                  <a:lnTo>
                    <a:pt x="4897585" y="0"/>
                  </a:lnTo>
                  <a:lnTo>
                    <a:pt x="4897585" y="509650"/>
                  </a:lnTo>
                  <a:lnTo>
                    <a:pt x="0" y="509650"/>
                  </a:lnTo>
                  <a:close/>
                </a:path>
              </a:pathLst>
            </a:custGeom>
            <a:solidFill>
              <a:srgbClr val="017BC7"/>
            </a:solidFill>
          </p:spPr>
        </p:sp>
        <p:sp>
          <p:nvSpPr>
            <p:cNvPr name="TextBox 4" id="4"/>
            <p:cNvSpPr txBox="true"/>
            <p:nvPr/>
          </p:nvSpPr>
          <p:spPr>
            <a:xfrm>
              <a:off x="0" y="-47625"/>
              <a:ext cx="4897585" cy="557275"/>
            </a:xfrm>
            <a:prstGeom prst="rect">
              <a:avLst/>
            </a:prstGeom>
          </p:spPr>
          <p:txBody>
            <a:bodyPr anchor="ctr" rtlCol="false" tIns="50800" lIns="50800" bIns="50800" rIns="50800"/>
            <a:lstStyle/>
            <a:p>
              <a:pPr algn="ctr">
                <a:lnSpc>
                  <a:spcPts val="3511"/>
                </a:lnSpc>
              </a:pPr>
            </a:p>
          </p:txBody>
        </p:sp>
      </p:grpSp>
      <p:sp>
        <p:nvSpPr>
          <p:cNvPr name="Freeform 5" id="5"/>
          <p:cNvSpPr/>
          <p:nvPr/>
        </p:nvSpPr>
        <p:spPr>
          <a:xfrm flipH="false" flipV="false" rot="0">
            <a:off x="0" y="42958"/>
            <a:ext cx="2251123" cy="1876873"/>
          </a:xfrm>
          <a:custGeom>
            <a:avLst/>
            <a:gdLst/>
            <a:ahLst/>
            <a:cxnLst/>
            <a:rect r="r" b="b" t="t" l="l"/>
            <a:pathLst>
              <a:path h="1876873" w="2251123">
                <a:moveTo>
                  <a:pt x="0" y="0"/>
                </a:moveTo>
                <a:lnTo>
                  <a:pt x="2251123" y="0"/>
                </a:lnTo>
                <a:lnTo>
                  <a:pt x="2251123" y="1876874"/>
                </a:lnTo>
                <a:lnTo>
                  <a:pt x="0" y="1876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45084" y="-139112"/>
            <a:ext cx="2245704" cy="2487166"/>
          </a:xfrm>
          <a:custGeom>
            <a:avLst/>
            <a:gdLst/>
            <a:ahLst/>
            <a:cxnLst/>
            <a:rect r="r" b="b" t="t" l="l"/>
            <a:pathLst>
              <a:path h="2487166" w="2245704">
                <a:moveTo>
                  <a:pt x="0" y="0"/>
                </a:moveTo>
                <a:lnTo>
                  <a:pt x="2245703" y="0"/>
                </a:lnTo>
                <a:lnTo>
                  <a:pt x="2245703" y="2487166"/>
                </a:lnTo>
                <a:lnTo>
                  <a:pt x="0" y="2487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96284" y="9018855"/>
            <a:ext cx="2376746" cy="1090332"/>
          </a:xfrm>
          <a:custGeom>
            <a:avLst/>
            <a:gdLst/>
            <a:ahLst/>
            <a:cxnLst/>
            <a:rect r="r" b="b" t="t" l="l"/>
            <a:pathLst>
              <a:path h="1090332" w="2376746">
                <a:moveTo>
                  <a:pt x="0" y="0"/>
                </a:moveTo>
                <a:lnTo>
                  <a:pt x="2376746" y="0"/>
                </a:lnTo>
                <a:lnTo>
                  <a:pt x="2376746" y="1090332"/>
                </a:lnTo>
                <a:lnTo>
                  <a:pt x="0" y="109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988372" y="7626191"/>
            <a:ext cx="3102415" cy="2211763"/>
          </a:xfrm>
          <a:custGeom>
            <a:avLst/>
            <a:gdLst/>
            <a:ahLst/>
            <a:cxnLst/>
            <a:rect r="r" b="b" t="t" l="l"/>
            <a:pathLst>
              <a:path h="2211763" w="3102415">
                <a:moveTo>
                  <a:pt x="0" y="0"/>
                </a:moveTo>
                <a:lnTo>
                  <a:pt x="3102415" y="0"/>
                </a:lnTo>
                <a:lnTo>
                  <a:pt x="3102415" y="2211763"/>
                </a:lnTo>
                <a:lnTo>
                  <a:pt x="0" y="22117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795177" y="153216"/>
            <a:ext cx="3492823" cy="1075301"/>
          </a:xfrm>
          <a:custGeom>
            <a:avLst/>
            <a:gdLst/>
            <a:ahLst/>
            <a:cxnLst/>
            <a:rect r="r" b="b" t="t" l="l"/>
            <a:pathLst>
              <a:path h="1075301" w="3492823">
                <a:moveTo>
                  <a:pt x="0" y="0"/>
                </a:moveTo>
                <a:lnTo>
                  <a:pt x="3492823" y="0"/>
                </a:lnTo>
                <a:lnTo>
                  <a:pt x="3492823" y="1075301"/>
                </a:lnTo>
                <a:lnTo>
                  <a:pt x="0" y="1075301"/>
                </a:lnTo>
                <a:lnTo>
                  <a:pt x="0" y="0"/>
                </a:lnTo>
                <a:close/>
              </a:path>
            </a:pathLst>
          </a:custGeom>
          <a:blipFill>
            <a:blip r:embed="rId10"/>
            <a:stretch>
              <a:fillRect l="0" t="0" r="0" b="0"/>
            </a:stretch>
          </a:blipFill>
        </p:spPr>
      </p:sp>
      <p:sp>
        <p:nvSpPr>
          <p:cNvPr name="TextBox 10" id="10"/>
          <p:cNvSpPr txBox="true"/>
          <p:nvPr/>
        </p:nvSpPr>
        <p:spPr>
          <a:xfrm rot="0">
            <a:off x="2251123" y="1397626"/>
            <a:ext cx="15970405" cy="1321593"/>
          </a:xfrm>
          <a:prstGeom prst="rect">
            <a:avLst/>
          </a:prstGeom>
        </p:spPr>
        <p:txBody>
          <a:bodyPr anchor="t" rtlCol="false" tIns="0" lIns="0" bIns="0" rIns="0">
            <a:spAutoFit/>
          </a:bodyPr>
          <a:lstStyle/>
          <a:p>
            <a:pPr algn="just" marL="0" indent="0" lvl="0">
              <a:lnSpc>
                <a:spcPts val="3568"/>
              </a:lnSpc>
              <a:spcBef>
                <a:spcPct val="0"/>
              </a:spcBef>
            </a:pPr>
            <a:r>
              <a:rPr lang="en-US" sz="2549">
                <a:solidFill>
                  <a:srgbClr val="000000"/>
                </a:solidFill>
                <a:latin typeface="Montserrat"/>
                <a:ea typeface="Montserrat"/>
                <a:cs typeface="Montserrat"/>
                <a:sym typeface="Montserrat"/>
              </a:rPr>
              <a:t>Do</a:t>
            </a:r>
            <a:r>
              <a:rPr lang="en-US" sz="2549" strike="noStrike" u="none">
                <a:solidFill>
                  <a:srgbClr val="000000"/>
                </a:solidFill>
                <a:latin typeface="Montserrat"/>
                <a:ea typeface="Montserrat"/>
                <a:cs typeface="Montserrat"/>
                <a:sym typeface="Montserrat"/>
              </a:rPr>
              <a:t>kumen SKP </a:t>
            </a:r>
            <a:r>
              <a:rPr lang="en-US" sz="2549" strike="noStrike" u="none">
                <a:solidFill>
                  <a:srgbClr val="000000"/>
                </a:solidFill>
                <a:latin typeface="Montserrat"/>
                <a:ea typeface="Montserrat"/>
                <a:cs typeface="Montserrat"/>
                <a:sym typeface="Montserrat"/>
              </a:rPr>
              <a:t>(</a:t>
            </a:r>
            <a:r>
              <a:rPr lang="en-US" sz="2549" strike="noStrike" u="none">
                <a:solidFill>
                  <a:srgbClr val="000000"/>
                </a:solidFill>
                <a:latin typeface="Montserrat"/>
                <a:ea typeface="Montserrat"/>
                <a:cs typeface="Montserrat"/>
                <a:sym typeface="Montserrat"/>
              </a:rPr>
              <a:t>Sasaran Kinerja Pegawai)</a:t>
            </a:r>
          </a:p>
          <a:p>
            <a:pPr algn="just" marL="0" indent="0" lvl="0">
              <a:lnSpc>
                <a:spcPts val="3568"/>
              </a:lnSpc>
              <a:spcBef>
                <a:spcPct val="0"/>
              </a:spcBef>
            </a:pPr>
          </a:p>
          <a:p>
            <a:pPr algn="just" marL="0" indent="0" lvl="0">
              <a:lnSpc>
                <a:spcPts val="3568"/>
              </a:lnSpc>
              <a:spcBef>
                <a:spcPct val="0"/>
              </a:spcBef>
            </a:pPr>
          </a:p>
        </p:txBody>
      </p:sp>
      <p:sp>
        <p:nvSpPr>
          <p:cNvPr name="Freeform 11" id="11"/>
          <p:cNvSpPr/>
          <p:nvPr/>
        </p:nvSpPr>
        <p:spPr>
          <a:xfrm flipH="false" flipV="false" rot="0">
            <a:off x="12827640" y="1533541"/>
            <a:ext cx="5112232" cy="4478219"/>
          </a:xfrm>
          <a:custGeom>
            <a:avLst/>
            <a:gdLst/>
            <a:ahLst/>
            <a:cxnLst/>
            <a:rect r="r" b="b" t="t" l="l"/>
            <a:pathLst>
              <a:path h="4478219" w="5112232">
                <a:moveTo>
                  <a:pt x="0" y="0"/>
                </a:moveTo>
                <a:lnTo>
                  <a:pt x="5112233" y="0"/>
                </a:lnTo>
                <a:lnTo>
                  <a:pt x="5112233" y="4478220"/>
                </a:lnTo>
                <a:lnTo>
                  <a:pt x="0" y="4478220"/>
                </a:lnTo>
                <a:lnTo>
                  <a:pt x="0" y="0"/>
                </a:lnTo>
                <a:close/>
              </a:path>
            </a:pathLst>
          </a:custGeom>
          <a:blipFill>
            <a:blip r:embed="rId11"/>
            <a:stretch>
              <a:fillRect l="0" t="0" r="0" b="0"/>
            </a:stretch>
          </a:blipFill>
        </p:spPr>
      </p:sp>
      <p:sp>
        <p:nvSpPr>
          <p:cNvPr name="Freeform 12" id="12"/>
          <p:cNvSpPr/>
          <p:nvPr/>
        </p:nvSpPr>
        <p:spPr>
          <a:xfrm flipH="false" flipV="false" rot="0">
            <a:off x="6954253" y="5358637"/>
            <a:ext cx="5659364" cy="2785606"/>
          </a:xfrm>
          <a:custGeom>
            <a:avLst/>
            <a:gdLst/>
            <a:ahLst/>
            <a:cxnLst/>
            <a:rect r="r" b="b" t="t" l="l"/>
            <a:pathLst>
              <a:path h="2785606" w="5659364">
                <a:moveTo>
                  <a:pt x="0" y="0"/>
                </a:moveTo>
                <a:lnTo>
                  <a:pt x="5659365" y="0"/>
                </a:lnTo>
                <a:lnTo>
                  <a:pt x="5659365" y="2785606"/>
                </a:lnTo>
                <a:lnTo>
                  <a:pt x="0" y="2785606"/>
                </a:lnTo>
                <a:lnTo>
                  <a:pt x="0" y="0"/>
                </a:lnTo>
                <a:close/>
              </a:path>
            </a:pathLst>
          </a:custGeom>
          <a:blipFill>
            <a:blip r:embed="rId12"/>
            <a:stretch>
              <a:fillRect l="0" t="0" r="0" b="0"/>
            </a:stretch>
          </a:blipFill>
        </p:spPr>
      </p:sp>
      <p:sp>
        <p:nvSpPr>
          <p:cNvPr name="TextBox 13" id="13"/>
          <p:cNvSpPr txBox="true"/>
          <p:nvPr/>
        </p:nvSpPr>
        <p:spPr>
          <a:xfrm rot="0">
            <a:off x="596284" y="2034610"/>
            <a:ext cx="7357826" cy="4459625"/>
          </a:xfrm>
          <a:prstGeom prst="rect">
            <a:avLst/>
          </a:prstGeom>
        </p:spPr>
        <p:txBody>
          <a:bodyPr anchor="t" rtlCol="false" tIns="0" lIns="0" bIns="0" rIns="0">
            <a:spAutoFit/>
          </a:bodyPr>
          <a:lstStyle/>
          <a:p>
            <a:pPr algn="just" marL="0" indent="0" lvl="0">
              <a:lnSpc>
                <a:spcPts val="3568"/>
              </a:lnSpc>
              <a:spcBef>
                <a:spcPct val="0"/>
              </a:spcBef>
            </a:pPr>
            <a:r>
              <a:rPr lang="en-US" sz="2549">
                <a:solidFill>
                  <a:srgbClr val="000000"/>
                </a:solidFill>
                <a:latin typeface="Montserrat"/>
                <a:ea typeface="Montserrat"/>
                <a:cs typeface="Montserrat"/>
                <a:sym typeface="Montserrat"/>
              </a:rPr>
              <a:t>Berdasarkan </a:t>
            </a:r>
            <a:r>
              <a:rPr lang="en-US" sz="2549" strike="noStrike" u="none">
                <a:solidFill>
                  <a:srgbClr val="000000"/>
                </a:solidFill>
                <a:latin typeface="Montserrat"/>
                <a:ea typeface="Montserrat"/>
                <a:cs typeface="Montserrat"/>
                <a:sym typeface="Montserrat"/>
              </a:rPr>
              <a:t>d</a:t>
            </a:r>
            <a:r>
              <a:rPr lang="en-US" sz="2549" strike="noStrike" u="none">
                <a:solidFill>
                  <a:srgbClr val="000000"/>
                </a:solidFill>
                <a:latin typeface="Montserrat"/>
                <a:ea typeface="Montserrat"/>
                <a:cs typeface="Montserrat"/>
                <a:sym typeface="Montserrat"/>
              </a:rPr>
              <a:t>okum</a:t>
            </a:r>
            <a:r>
              <a:rPr lang="en-US" sz="2549" strike="noStrike" u="none">
                <a:solidFill>
                  <a:srgbClr val="000000"/>
                </a:solidFill>
                <a:latin typeface="Montserrat"/>
                <a:ea typeface="Montserrat"/>
                <a:cs typeface="Montserrat"/>
                <a:sym typeface="Montserrat"/>
              </a:rPr>
              <a:t>en tur</a:t>
            </a:r>
            <a:r>
              <a:rPr lang="en-US" sz="2549" strike="noStrike" u="none">
                <a:solidFill>
                  <a:srgbClr val="000000"/>
                </a:solidFill>
                <a:latin typeface="Montserrat"/>
                <a:ea typeface="Montserrat"/>
                <a:cs typeface="Montserrat"/>
                <a:sym typeface="Montserrat"/>
              </a:rPr>
              <a:t>u</a:t>
            </a:r>
            <a:r>
              <a:rPr lang="en-US" sz="2549" strike="noStrike" u="none">
                <a:solidFill>
                  <a:srgbClr val="000000"/>
                </a:solidFill>
                <a:latin typeface="Montserrat"/>
                <a:ea typeface="Montserrat"/>
                <a:cs typeface="Montserrat"/>
                <a:sym typeface="Montserrat"/>
              </a:rPr>
              <a:t>na</a:t>
            </a:r>
            <a:r>
              <a:rPr lang="en-US" sz="2549" strike="noStrike" u="none">
                <a:solidFill>
                  <a:srgbClr val="000000"/>
                </a:solidFill>
                <a:latin typeface="Montserrat"/>
                <a:ea typeface="Montserrat"/>
                <a:cs typeface="Montserrat"/>
                <a:sym typeface="Montserrat"/>
              </a:rPr>
              <a:t>n</a:t>
            </a:r>
            <a:r>
              <a:rPr lang="en-US" sz="2549" strike="noStrike" u="none">
                <a:solidFill>
                  <a:srgbClr val="000000"/>
                </a:solidFill>
                <a:latin typeface="Montserrat"/>
                <a:ea typeface="Montserrat"/>
                <a:cs typeface="Montserrat"/>
                <a:sym typeface="Montserrat"/>
              </a:rPr>
              <a:t>n</a:t>
            </a:r>
            <a:r>
              <a:rPr lang="en-US" sz="2549" strike="noStrike" u="none">
                <a:solidFill>
                  <a:srgbClr val="000000"/>
                </a:solidFill>
                <a:latin typeface="Montserrat"/>
                <a:ea typeface="Montserrat"/>
                <a:cs typeface="Montserrat"/>
                <a:sym typeface="Montserrat"/>
              </a:rPr>
              <a:t>y</a:t>
            </a:r>
            <a:r>
              <a:rPr lang="en-US" sz="2549" strike="noStrike" u="none">
                <a:solidFill>
                  <a:srgbClr val="000000"/>
                </a:solidFill>
                <a:latin typeface="Montserrat"/>
                <a:ea typeface="Montserrat"/>
                <a:cs typeface="Montserrat"/>
                <a:sym typeface="Montserrat"/>
              </a:rPr>
              <a:t>a (</a:t>
            </a:r>
            <a:r>
              <a:rPr lang="en-US" sz="2549" strike="noStrike" u="none">
                <a:solidFill>
                  <a:srgbClr val="000000"/>
                </a:solidFill>
                <a:latin typeface="Montserrat"/>
                <a:ea typeface="Montserrat"/>
                <a:cs typeface="Montserrat"/>
                <a:sym typeface="Montserrat"/>
              </a:rPr>
              <a:t>P</a:t>
            </a:r>
            <a:r>
              <a:rPr lang="en-US" sz="2549" strike="noStrike" u="none">
                <a:solidFill>
                  <a:srgbClr val="000000"/>
                </a:solidFill>
                <a:latin typeface="Montserrat"/>
                <a:ea typeface="Montserrat"/>
                <a:cs typeface="Montserrat"/>
                <a:sym typeface="Montserrat"/>
              </a:rPr>
              <a:t>edo</a:t>
            </a:r>
            <a:r>
              <a:rPr lang="en-US" sz="2549" strike="noStrike" u="none">
                <a:solidFill>
                  <a:srgbClr val="000000"/>
                </a:solidFill>
                <a:latin typeface="Montserrat"/>
                <a:ea typeface="Montserrat"/>
                <a:cs typeface="Montserrat"/>
                <a:sym typeface="Montserrat"/>
              </a:rPr>
              <a:t>m</a:t>
            </a:r>
            <a:r>
              <a:rPr lang="en-US" sz="2549" strike="noStrike" u="none">
                <a:solidFill>
                  <a:srgbClr val="000000"/>
                </a:solidFill>
                <a:latin typeface="Montserrat"/>
                <a:ea typeface="Montserrat"/>
                <a:cs typeface="Montserrat"/>
                <a:sym typeface="Montserrat"/>
              </a:rPr>
              <a:t>an </a:t>
            </a:r>
            <a:r>
              <a:rPr lang="en-US" sz="2549" strike="noStrike" u="none">
                <a:solidFill>
                  <a:srgbClr val="000000"/>
                </a:solidFill>
                <a:latin typeface="Montserrat"/>
                <a:ea typeface="Montserrat"/>
                <a:cs typeface="Montserrat"/>
                <a:sym typeface="Montserrat"/>
              </a:rPr>
              <a:t>BK</a:t>
            </a:r>
            <a:r>
              <a:rPr lang="en-US" sz="2549" strike="noStrike" u="none">
                <a:solidFill>
                  <a:srgbClr val="000000"/>
                </a:solidFill>
                <a:latin typeface="Montserrat"/>
                <a:ea typeface="Montserrat"/>
                <a:cs typeface="Montserrat"/>
                <a:sym typeface="Montserrat"/>
              </a:rPr>
              <a:t>N ata</a:t>
            </a:r>
            <a:r>
              <a:rPr lang="en-US" sz="2549" strike="noStrike" u="none">
                <a:solidFill>
                  <a:srgbClr val="000000"/>
                </a:solidFill>
                <a:latin typeface="Montserrat"/>
                <a:ea typeface="Montserrat"/>
                <a:cs typeface="Montserrat"/>
                <a:sym typeface="Montserrat"/>
              </a:rPr>
              <a:t>u</a:t>
            </a:r>
            <a:r>
              <a:rPr lang="en-US" sz="2549" strike="noStrike" u="none">
                <a:solidFill>
                  <a:srgbClr val="000000"/>
                </a:solidFill>
                <a:latin typeface="Montserrat"/>
                <a:ea typeface="Montserrat"/>
                <a:cs typeface="Montserrat"/>
                <a:sym typeface="Montserrat"/>
              </a:rPr>
              <a:t> </a:t>
            </a:r>
            <a:r>
              <a:rPr lang="en-US" sz="2549" strike="noStrike" u="none">
                <a:solidFill>
                  <a:srgbClr val="000000"/>
                </a:solidFill>
                <a:latin typeface="Montserrat"/>
                <a:ea typeface="Montserrat"/>
                <a:cs typeface="Montserrat"/>
                <a:sym typeface="Montserrat"/>
              </a:rPr>
              <a:t>P</a:t>
            </a:r>
            <a:r>
              <a:rPr lang="en-US" sz="2549" strike="noStrike" u="none">
                <a:solidFill>
                  <a:srgbClr val="000000"/>
                </a:solidFill>
                <a:latin typeface="Montserrat"/>
                <a:ea typeface="Montserrat"/>
                <a:cs typeface="Montserrat"/>
                <a:sym typeface="Montserrat"/>
              </a:rPr>
              <a:t>ermen</a:t>
            </a:r>
            <a:r>
              <a:rPr lang="en-US" sz="2549" strike="noStrike" u="none">
                <a:solidFill>
                  <a:srgbClr val="000000"/>
                </a:solidFill>
                <a:latin typeface="Montserrat"/>
                <a:ea typeface="Montserrat"/>
                <a:cs typeface="Montserrat"/>
                <a:sym typeface="Montserrat"/>
              </a:rPr>
              <a:t>PANRB)</a:t>
            </a:r>
            <a:r>
              <a:rPr lang="en-US" sz="2549" strike="noStrike" u="none">
                <a:solidFill>
                  <a:srgbClr val="000000"/>
                </a:solidFill>
                <a:latin typeface="Montserrat"/>
                <a:ea typeface="Montserrat"/>
                <a:cs typeface="Montserrat"/>
                <a:sym typeface="Montserrat"/>
              </a:rPr>
              <a:t> yang </a:t>
            </a:r>
            <a:r>
              <a:rPr lang="en-US" sz="2549" strike="noStrike" u="none">
                <a:solidFill>
                  <a:srgbClr val="000000"/>
                </a:solidFill>
                <a:latin typeface="Montserrat"/>
                <a:ea typeface="Montserrat"/>
                <a:cs typeface="Montserrat"/>
                <a:sym typeface="Montserrat"/>
              </a:rPr>
              <a:t>m</a:t>
            </a:r>
            <a:r>
              <a:rPr lang="en-US" sz="2549" strike="noStrike" u="none">
                <a:solidFill>
                  <a:srgbClr val="000000"/>
                </a:solidFill>
                <a:latin typeface="Montserrat"/>
                <a:ea typeface="Montserrat"/>
                <a:cs typeface="Montserrat"/>
                <a:sym typeface="Montserrat"/>
              </a:rPr>
              <a:t>en</a:t>
            </a:r>
            <a:r>
              <a:rPr lang="en-US" sz="2549" strike="noStrike" u="none">
                <a:solidFill>
                  <a:srgbClr val="000000"/>
                </a:solidFill>
                <a:latin typeface="Montserrat"/>
                <a:ea typeface="Montserrat"/>
                <a:cs typeface="Montserrat"/>
                <a:sym typeface="Montserrat"/>
              </a:rPr>
              <a:t>y</a:t>
            </a:r>
            <a:r>
              <a:rPr lang="en-US" sz="2549" strike="noStrike" u="none">
                <a:solidFill>
                  <a:srgbClr val="000000"/>
                </a:solidFill>
                <a:latin typeface="Montserrat"/>
                <a:ea typeface="Montserrat"/>
                <a:cs typeface="Montserrat"/>
                <a:sym typeface="Montserrat"/>
              </a:rPr>
              <a:t>ebut</a:t>
            </a:r>
            <a:r>
              <a:rPr lang="en-US" sz="2549" strike="noStrike" u="none">
                <a:solidFill>
                  <a:srgbClr val="000000"/>
                </a:solidFill>
                <a:latin typeface="Montserrat"/>
                <a:ea typeface="Montserrat"/>
                <a:cs typeface="Montserrat"/>
                <a:sym typeface="Montserrat"/>
              </a:rPr>
              <a:t>k</a:t>
            </a:r>
            <a:r>
              <a:rPr lang="en-US" sz="2549" strike="noStrike" u="none">
                <a:solidFill>
                  <a:srgbClr val="000000"/>
                </a:solidFill>
                <a:latin typeface="Montserrat"/>
                <a:ea typeface="Montserrat"/>
                <a:cs typeface="Montserrat"/>
                <a:sym typeface="Montserrat"/>
              </a:rPr>
              <a:t>an </a:t>
            </a:r>
            <a:r>
              <a:rPr lang="en-US" sz="2549" strike="noStrike" u="none">
                <a:solidFill>
                  <a:srgbClr val="000000"/>
                </a:solidFill>
                <a:latin typeface="Montserrat"/>
                <a:ea typeface="Montserrat"/>
                <a:cs typeface="Montserrat"/>
                <a:sym typeface="Montserrat"/>
              </a:rPr>
              <a:t>“</a:t>
            </a:r>
            <a:r>
              <a:rPr lang="en-US" sz="2549" strike="noStrike" u="none">
                <a:solidFill>
                  <a:srgbClr val="000000"/>
                </a:solidFill>
                <a:latin typeface="Montserrat"/>
                <a:ea typeface="Montserrat"/>
                <a:cs typeface="Montserrat"/>
                <a:sym typeface="Montserrat"/>
              </a:rPr>
              <a:t>SK</a:t>
            </a:r>
            <a:r>
              <a:rPr lang="en-US" sz="2549" strike="noStrike" u="none">
                <a:solidFill>
                  <a:srgbClr val="000000"/>
                </a:solidFill>
                <a:latin typeface="Montserrat"/>
                <a:ea typeface="Montserrat"/>
                <a:cs typeface="Montserrat"/>
                <a:sym typeface="Montserrat"/>
              </a:rPr>
              <a:t>P</a:t>
            </a:r>
            <a:r>
              <a:rPr lang="en-US" sz="2549" strike="noStrike" u="none">
                <a:solidFill>
                  <a:srgbClr val="000000"/>
                </a:solidFill>
                <a:latin typeface="Montserrat"/>
                <a:ea typeface="Montserrat"/>
                <a:cs typeface="Montserrat"/>
                <a:sym typeface="Montserrat"/>
              </a:rPr>
              <a:t> </a:t>
            </a:r>
            <a:r>
              <a:rPr lang="en-US" sz="2549" strike="noStrike" u="none">
                <a:solidFill>
                  <a:srgbClr val="000000"/>
                </a:solidFill>
                <a:latin typeface="Montserrat"/>
                <a:ea typeface="Montserrat"/>
                <a:cs typeface="Montserrat"/>
                <a:sym typeface="Montserrat"/>
              </a:rPr>
              <a:t>u</a:t>
            </a:r>
            <a:r>
              <a:rPr lang="en-US" sz="2549" strike="noStrike" u="none">
                <a:solidFill>
                  <a:srgbClr val="000000"/>
                </a:solidFill>
                <a:latin typeface="Montserrat"/>
                <a:ea typeface="Montserrat"/>
                <a:cs typeface="Montserrat"/>
                <a:sym typeface="Montserrat"/>
              </a:rPr>
              <a:t>n</a:t>
            </a:r>
            <a:r>
              <a:rPr lang="en-US" sz="2549" strike="noStrike" u="none">
                <a:solidFill>
                  <a:srgbClr val="000000"/>
                </a:solidFill>
                <a:latin typeface="Montserrat"/>
                <a:ea typeface="Montserrat"/>
                <a:cs typeface="Montserrat"/>
                <a:sym typeface="Montserrat"/>
              </a:rPr>
              <a:t>tuk</a:t>
            </a:r>
            <a:r>
              <a:rPr lang="en-US" sz="2549" strike="noStrike" u="none">
                <a:solidFill>
                  <a:srgbClr val="000000"/>
                </a:solidFill>
                <a:latin typeface="Montserrat"/>
                <a:ea typeface="Montserrat"/>
                <a:cs typeface="Montserrat"/>
                <a:sym typeface="Montserrat"/>
              </a:rPr>
              <a:t> </a:t>
            </a:r>
            <a:r>
              <a:rPr lang="en-US" sz="2549" strike="noStrike" u="none">
                <a:solidFill>
                  <a:srgbClr val="000000"/>
                </a:solidFill>
                <a:latin typeface="Montserrat"/>
                <a:ea typeface="Montserrat"/>
                <a:cs typeface="Montserrat"/>
                <a:sym typeface="Montserrat"/>
              </a:rPr>
              <a:t>JPT”,</a:t>
            </a:r>
            <a:r>
              <a:rPr lang="en-US" sz="2549" strike="noStrike" u="none">
                <a:solidFill>
                  <a:srgbClr val="000000"/>
                </a:solidFill>
                <a:latin typeface="Montserrat"/>
                <a:ea typeface="Montserrat"/>
                <a:cs typeface="Montserrat"/>
                <a:sym typeface="Montserrat"/>
              </a:rPr>
              <a:t> </a:t>
            </a:r>
            <a:r>
              <a:rPr lang="en-US" sz="2549" strike="noStrike" u="none">
                <a:solidFill>
                  <a:srgbClr val="000000"/>
                </a:solidFill>
                <a:latin typeface="Montserrat"/>
                <a:ea typeface="Montserrat"/>
                <a:cs typeface="Montserrat"/>
                <a:sym typeface="Montserrat"/>
              </a:rPr>
              <a:t>“SKP</a:t>
            </a:r>
            <a:r>
              <a:rPr lang="en-US" sz="2549" strike="noStrike" u="none">
                <a:solidFill>
                  <a:srgbClr val="000000"/>
                </a:solidFill>
                <a:latin typeface="Montserrat"/>
                <a:ea typeface="Montserrat"/>
                <a:cs typeface="Montserrat"/>
                <a:sym typeface="Montserrat"/>
              </a:rPr>
              <a:t> </a:t>
            </a:r>
            <a:r>
              <a:rPr lang="en-US" sz="2549" strike="noStrike" u="none">
                <a:solidFill>
                  <a:srgbClr val="000000"/>
                </a:solidFill>
                <a:latin typeface="Montserrat"/>
                <a:ea typeface="Montserrat"/>
                <a:cs typeface="Montserrat"/>
                <a:sym typeface="Montserrat"/>
              </a:rPr>
              <a:t>u</a:t>
            </a:r>
            <a:r>
              <a:rPr lang="en-US" sz="2549" strike="noStrike" u="none">
                <a:solidFill>
                  <a:srgbClr val="000000"/>
                </a:solidFill>
                <a:latin typeface="Montserrat"/>
                <a:ea typeface="Montserrat"/>
                <a:cs typeface="Montserrat"/>
                <a:sym typeface="Montserrat"/>
              </a:rPr>
              <a:t>nt</a:t>
            </a:r>
            <a:r>
              <a:rPr lang="en-US" sz="2549" strike="noStrike" u="none">
                <a:solidFill>
                  <a:srgbClr val="000000"/>
                </a:solidFill>
                <a:latin typeface="Montserrat"/>
                <a:ea typeface="Montserrat"/>
                <a:cs typeface="Montserrat"/>
                <a:sym typeface="Montserrat"/>
              </a:rPr>
              <a:t>u</a:t>
            </a:r>
            <a:r>
              <a:rPr lang="en-US" sz="2549" strike="noStrike" u="none">
                <a:solidFill>
                  <a:srgbClr val="000000"/>
                </a:solidFill>
                <a:latin typeface="Montserrat"/>
                <a:ea typeface="Montserrat"/>
                <a:cs typeface="Montserrat"/>
                <a:sym typeface="Montserrat"/>
              </a:rPr>
              <a:t>k </a:t>
            </a:r>
            <a:r>
              <a:rPr lang="en-US" sz="2549" strike="noStrike" u="none">
                <a:solidFill>
                  <a:srgbClr val="000000"/>
                </a:solidFill>
                <a:latin typeface="Montserrat"/>
                <a:ea typeface="Montserrat"/>
                <a:cs typeface="Montserrat"/>
                <a:sym typeface="Montserrat"/>
              </a:rPr>
              <a:t>JA/JF”</a:t>
            </a:r>
            <a:r>
              <a:rPr lang="en-US" sz="2549" strike="noStrike" u="none">
                <a:solidFill>
                  <a:srgbClr val="000000"/>
                </a:solidFill>
                <a:latin typeface="Montserrat"/>
                <a:ea typeface="Montserrat"/>
                <a:cs typeface="Montserrat"/>
                <a:sym typeface="Montserrat"/>
              </a:rPr>
              <a:t>, a</a:t>
            </a:r>
            <a:r>
              <a:rPr lang="en-US" sz="2549" strike="noStrike" u="none">
                <a:solidFill>
                  <a:srgbClr val="000000"/>
                </a:solidFill>
                <a:latin typeface="Montserrat"/>
                <a:ea typeface="Montserrat"/>
                <a:cs typeface="Montserrat"/>
                <a:sym typeface="Montserrat"/>
              </a:rPr>
              <a:t>t</a:t>
            </a:r>
            <a:r>
              <a:rPr lang="en-US" sz="2549" strike="noStrike" u="none">
                <a:solidFill>
                  <a:srgbClr val="000000"/>
                </a:solidFill>
                <a:latin typeface="Montserrat"/>
                <a:ea typeface="Montserrat"/>
                <a:cs typeface="Montserrat"/>
                <a:sym typeface="Montserrat"/>
              </a:rPr>
              <a:t>au </a:t>
            </a:r>
            <a:r>
              <a:rPr lang="en-US" sz="2549" strike="noStrike" u="none">
                <a:solidFill>
                  <a:srgbClr val="000000"/>
                </a:solidFill>
                <a:latin typeface="Montserrat"/>
                <a:ea typeface="Montserrat"/>
                <a:cs typeface="Montserrat"/>
                <a:sym typeface="Montserrat"/>
              </a:rPr>
              <a:t>“</a:t>
            </a:r>
            <a:r>
              <a:rPr lang="en-US" sz="2549" strike="noStrike" u="none">
                <a:solidFill>
                  <a:srgbClr val="000000"/>
                </a:solidFill>
                <a:latin typeface="Montserrat"/>
                <a:ea typeface="Montserrat"/>
                <a:cs typeface="Montserrat"/>
                <a:sym typeface="Montserrat"/>
              </a:rPr>
              <a:t>SKP untu</a:t>
            </a:r>
            <a:r>
              <a:rPr lang="en-US" sz="2549" strike="noStrike" u="none">
                <a:solidFill>
                  <a:srgbClr val="000000"/>
                </a:solidFill>
                <a:latin typeface="Montserrat"/>
                <a:ea typeface="Montserrat"/>
                <a:cs typeface="Montserrat"/>
                <a:sym typeface="Montserrat"/>
              </a:rPr>
              <a:t>k</a:t>
            </a:r>
            <a:r>
              <a:rPr lang="en-US" sz="2549" strike="noStrike" u="none">
                <a:solidFill>
                  <a:srgbClr val="000000"/>
                </a:solidFill>
                <a:latin typeface="Montserrat"/>
                <a:ea typeface="Montserrat"/>
                <a:cs typeface="Montserrat"/>
                <a:sym typeface="Montserrat"/>
              </a:rPr>
              <a:t> </a:t>
            </a:r>
            <a:r>
              <a:rPr lang="en-US" sz="2549" strike="noStrike" u="none">
                <a:solidFill>
                  <a:srgbClr val="000000"/>
                </a:solidFill>
                <a:latin typeface="Montserrat"/>
                <a:ea typeface="Montserrat"/>
                <a:cs typeface="Montserrat"/>
                <a:sym typeface="Montserrat"/>
              </a:rPr>
              <a:t>j</a:t>
            </a:r>
            <a:r>
              <a:rPr lang="en-US" sz="2549" strike="noStrike" u="none">
                <a:solidFill>
                  <a:srgbClr val="000000"/>
                </a:solidFill>
                <a:latin typeface="Montserrat"/>
                <a:ea typeface="Montserrat"/>
                <a:cs typeface="Montserrat"/>
                <a:sym typeface="Montserrat"/>
              </a:rPr>
              <a:t>a</a:t>
            </a:r>
            <a:r>
              <a:rPr lang="en-US" sz="2549" strike="noStrike" u="none">
                <a:solidFill>
                  <a:srgbClr val="000000"/>
                </a:solidFill>
                <a:latin typeface="Montserrat"/>
                <a:ea typeface="Montserrat"/>
                <a:cs typeface="Montserrat"/>
                <a:sym typeface="Montserrat"/>
              </a:rPr>
              <a:t>b</a:t>
            </a:r>
            <a:r>
              <a:rPr lang="en-US" sz="2549" strike="noStrike" u="none">
                <a:solidFill>
                  <a:srgbClr val="000000"/>
                </a:solidFill>
                <a:latin typeface="Montserrat"/>
                <a:ea typeface="Montserrat"/>
                <a:cs typeface="Montserrat"/>
                <a:sym typeface="Montserrat"/>
              </a:rPr>
              <a:t>atan stru</a:t>
            </a:r>
            <a:r>
              <a:rPr lang="en-US" sz="2549" strike="noStrike" u="none">
                <a:solidFill>
                  <a:srgbClr val="000000"/>
                </a:solidFill>
                <a:latin typeface="Montserrat"/>
                <a:ea typeface="Montserrat"/>
                <a:cs typeface="Montserrat"/>
                <a:sym typeface="Montserrat"/>
              </a:rPr>
              <a:t>k</a:t>
            </a:r>
            <a:r>
              <a:rPr lang="en-US" sz="2549" strike="noStrike" u="none">
                <a:solidFill>
                  <a:srgbClr val="000000"/>
                </a:solidFill>
                <a:latin typeface="Montserrat"/>
                <a:ea typeface="Montserrat"/>
                <a:cs typeface="Montserrat"/>
                <a:sym typeface="Montserrat"/>
              </a:rPr>
              <a:t>t</a:t>
            </a:r>
            <a:r>
              <a:rPr lang="en-US" sz="2549" strike="noStrike" u="none">
                <a:solidFill>
                  <a:srgbClr val="000000"/>
                </a:solidFill>
                <a:latin typeface="Montserrat"/>
                <a:ea typeface="Montserrat"/>
                <a:cs typeface="Montserrat"/>
                <a:sym typeface="Montserrat"/>
              </a:rPr>
              <a:t>u</a:t>
            </a:r>
            <a:r>
              <a:rPr lang="en-US" sz="2549" strike="noStrike" u="none">
                <a:solidFill>
                  <a:srgbClr val="000000"/>
                </a:solidFill>
                <a:latin typeface="Montserrat"/>
                <a:ea typeface="Montserrat"/>
                <a:cs typeface="Montserrat"/>
                <a:sym typeface="Montserrat"/>
              </a:rPr>
              <a:t>ral</a:t>
            </a:r>
            <a:r>
              <a:rPr lang="en-US" sz="2549" strike="noStrike" u="none">
                <a:solidFill>
                  <a:srgbClr val="000000"/>
                </a:solidFill>
                <a:latin typeface="Montserrat"/>
                <a:ea typeface="Montserrat"/>
                <a:cs typeface="Montserrat"/>
                <a:sym typeface="Montserrat"/>
              </a:rPr>
              <a:t>/f</a:t>
            </a:r>
            <a:r>
              <a:rPr lang="en-US" sz="2549" strike="noStrike" u="none">
                <a:solidFill>
                  <a:srgbClr val="000000"/>
                </a:solidFill>
                <a:latin typeface="Montserrat"/>
                <a:ea typeface="Montserrat"/>
                <a:cs typeface="Montserrat"/>
                <a:sym typeface="Montserrat"/>
              </a:rPr>
              <a:t>ung</a:t>
            </a:r>
            <a:r>
              <a:rPr lang="en-US" sz="2549" strike="noStrike" u="none">
                <a:solidFill>
                  <a:srgbClr val="000000"/>
                </a:solidFill>
                <a:latin typeface="Montserrat"/>
                <a:ea typeface="Montserrat"/>
                <a:cs typeface="Montserrat"/>
                <a:sym typeface="Montserrat"/>
              </a:rPr>
              <a:t>s</a:t>
            </a:r>
            <a:r>
              <a:rPr lang="en-US" sz="2549" strike="noStrike" u="none">
                <a:solidFill>
                  <a:srgbClr val="000000"/>
                </a:solidFill>
                <a:latin typeface="Montserrat"/>
                <a:ea typeface="Montserrat"/>
                <a:cs typeface="Montserrat"/>
                <a:sym typeface="Montserrat"/>
              </a:rPr>
              <a:t>i</a:t>
            </a:r>
            <a:r>
              <a:rPr lang="en-US" sz="2549" strike="noStrike" u="none">
                <a:solidFill>
                  <a:srgbClr val="000000"/>
                </a:solidFill>
                <a:latin typeface="Montserrat"/>
                <a:ea typeface="Montserrat"/>
                <a:cs typeface="Montserrat"/>
                <a:sym typeface="Montserrat"/>
              </a:rPr>
              <a:t>o</a:t>
            </a:r>
            <a:r>
              <a:rPr lang="en-US" sz="2549" strike="noStrike" u="none">
                <a:solidFill>
                  <a:srgbClr val="000000"/>
                </a:solidFill>
                <a:latin typeface="Montserrat"/>
                <a:ea typeface="Montserrat"/>
                <a:cs typeface="Montserrat"/>
                <a:sym typeface="Montserrat"/>
              </a:rPr>
              <a:t>na</a:t>
            </a:r>
            <a:r>
              <a:rPr lang="en-US" sz="2549" strike="noStrike" u="none">
                <a:solidFill>
                  <a:srgbClr val="000000"/>
                </a:solidFill>
                <a:latin typeface="Montserrat"/>
                <a:ea typeface="Montserrat"/>
                <a:cs typeface="Montserrat"/>
                <a:sym typeface="Montserrat"/>
              </a:rPr>
              <a:t>l” </a:t>
            </a:r>
            <a:r>
              <a:rPr lang="en-US" sz="2549" strike="noStrike" u="none">
                <a:solidFill>
                  <a:srgbClr val="000000"/>
                </a:solidFill>
                <a:latin typeface="Montserrat"/>
                <a:ea typeface="Montserrat"/>
                <a:cs typeface="Montserrat"/>
                <a:sym typeface="Montserrat"/>
              </a:rPr>
              <a:t>seba</a:t>
            </a:r>
            <a:r>
              <a:rPr lang="en-US" sz="2549" strike="noStrike" u="none">
                <a:solidFill>
                  <a:srgbClr val="000000"/>
                </a:solidFill>
                <a:latin typeface="Montserrat"/>
                <a:ea typeface="Montserrat"/>
                <a:cs typeface="Montserrat"/>
                <a:sym typeface="Montserrat"/>
              </a:rPr>
              <a:t>g</a:t>
            </a:r>
            <a:r>
              <a:rPr lang="en-US" sz="2549" strike="noStrike" u="none">
                <a:solidFill>
                  <a:srgbClr val="000000"/>
                </a:solidFill>
                <a:latin typeface="Montserrat"/>
                <a:ea typeface="Montserrat"/>
                <a:cs typeface="Montserrat"/>
                <a:sym typeface="Montserrat"/>
              </a:rPr>
              <a:t>ai </a:t>
            </a:r>
            <a:r>
              <a:rPr lang="en-US" sz="2549" strike="noStrike" u="none">
                <a:solidFill>
                  <a:srgbClr val="000000"/>
                </a:solidFill>
                <a:latin typeface="Montserrat"/>
                <a:ea typeface="Montserrat"/>
                <a:cs typeface="Montserrat"/>
                <a:sym typeface="Montserrat"/>
              </a:rPr>
              <a:t>v</a:t>
            </a:r>
            <a:r>
              <a:rPr lang="en-US" sz="2549" strike="noStrike" u="none">
                <a:solidFill>
                  <a:srgbClr val="000000"/>
                </a:solidFill>
                <a:latin typeface="Montserrat"/>
                <a:ea typeface="Montserrat"/>
                <a:cs typeface="Montserrat"/>
                <a:sym typeface="Montserrat"/>
              </a:rPr>
              <a:t>a</a:t>
            </a:r>
            <a:r>
              <a:rPr lang="en-US" sz="2549" strike="noStrike" u="none">
                <a:solidFill>
                  <a:srgbClr val="000000"/>
                </a:solidFill>
                <a:latin typeface="Montserrat"/>
                <a:ea typeface="Montserrat"/>
                <a:cs typeface="Montserrat"/>
                <a:sym typeface="Montserrat"/>
              </a:rPr>
              <a:t>r</a:t>
            </a:r>
            <a:r>
              <a:rPr lang="en-US" sz="2549" strike="noStrike" u="none">
                <a:solidFill>
                  <a:srgbClr val="000000"/>
                </a:solidFill>
                <a:latin typeface="Montserrat"/>
                <a:ea typeface="Montserrat"/>
                <a:cs typeface="Montserrat"/>
                <a:sym typeface="Montserrat"/>
              </a:rPr>
              <a:t>iasi </a:t>
            </a:r>
            <a:r>
              <a:rPr lang="en-US" sz="2549" strike="noStrike" u="none">
                <a:solidFill>
                  <a:srgbClr val="000000"/>
                </a:solidFill>
                <a:latin typeface="Montserrat"/>
                <a:ea typeface="Montserrat"/>
                <a:cs typeface="Montserrat"/>
                <a:sym typeface="Montserrat"/>
              </a:rPr>
              <a:t>op</a:t>
            </a:r>
            <a:r>
              <a:rPr lang="en-US" sz="2549" strike="noStrike" u="none">
                <a:solidFill>
                  <a:srgbClr val="000000"/>
                </a:solidFill>
                <a:latin typeface="Montserrat"/>
                <a:ea typeface="Montserrat"/>
                <a:cs typeface="Montserrat"/>
                <a:sym typeface="Montserrat"/>
              </a:rPr>
              <a:t>eras</a:t>
            </a:r>
            <a:r>
              <a:rPr lang="en-US" sz="2549" strike="noStrike" u="none">
                <a:solidFill>
                  <a:srgbClr val="000000"/>
                </a:solidFill>
                <a:latin typeface="Montserrat"/>
                <a:ea typeface="Montserrat"/>
                <a:cs typeface="Montserrat"/>
                <a:sym typeface="Montserrat"/>
              </a:rPr>
              <a:t>ion</a:t>
            </a:r>
            <a:r>
              <a:rPr lang="en-US" sz="2549" strike="noStrike" u="none">
                <a:solidFill>
                  <a:srgbClr val="000000"/>
                </a:solidFill>
                <a:latin typeface="Montserrat"/>
                <a:ea typeface="Montserrat"/>
                <a:cs typeface="Montserrat"/>
                <a:sym typeface="Montserrat"/>
              </a:rPr>
              <a:t>al. Memang ada “variasi operasional” dalam SKP, ada komponen yang berbeda (utama vs tambahan)</a:t>
            </a:r>
          </a:p>
          <a:p>
            <a:pPr algn="just" marL="0" indent="0" lvl="0">
              <a:lnSpc>
                <a:spcPts val="3568"/>
              </a:lnSpc>
              <a:spcBef>
                <a:spcPct val="0"/>
              </a:spcBef>
            </a:pPr>
          </a:p>
          <a:p>
            <a:pPr algn="just" marL="0" indent="0" lvl="0">
              <a:lnSpc>
                <a:spcPts val="3568"/>
              </a:lnSpc>
              <a:spcBef>
                <a:spcPct val="0"/>
              </a:spcBef>
            </a:pPr>
          </a:p>
        </p:txBody>
      </p:sp>
      <p:sp>
        <p:nvSpPr>
          <p:cNvPr name="TextBox 14" id="14"/>
          <p:cNvSpPr txBox="true"/>
          <p:nvPr/>
        </p:nvSpPr>
        <p:spPr>
          <a:xfrm rot="0">
            <a:off x="6170675" y="148344"/>
            <a:ext cx="7226521" cy="970745"/>
          </a:xfrm>
          <a:prstGeom prst="rect">
            <a:avLst/>
          </a:prstGeom>
        </p:spPr>
        <p:txBody>
          <a:bodyPr anchor="t" rtlCol="false" tIns="0" lIns="0" bIns="0" rIns="0">
            <a:spAutoFit/>
          </a:bodyPr>
          <a:lstStyle/>
          <a:p>
            <a:pPr algn="ctr">
              <a:lnSpc>
                <a:spcPts val="7914"/>
              </a:lnSpc>
            </a:pPr>
            <a:r>
              <a:rPr lang="en-US" b="true" sz="5652">
                <a:solidFill>
                  <a:srgbClr val="000000"/>
                </a:solidFill>
                <a:latin typeface="Montaser Arabic Bold"/>
                <a:ea typeface="Montaser Arabic Bold"/>
                <a:cs typeface="Montaser Arabic Bold"/>
                <a:sym typeface="Montaser Arabic Bold"/>
              </a:rPr>
              <a:t>DETAIL DATASET</a:t>
            </a:r>
          </a:p>
        </p:txBody>
      </p:sp>
      <p:sp>
        <p:nvSpPr>
          <p:cNvPr name="TextBox 15" id="15"/>
          <p:cNvSpPr txBox="true"/>
          <p:nvPr/>
        </p:nvSpPr>
        <p:spPr>
          <a:xfrm rot="0">
            <a:off x="6170675" y="8715778"/>
            <a:ext cx="7226521" cy="970745"/>
          </a:xfrm>
          <a:prstGeom prst="rect">
            <a:avLst/>
          </a:prstGeom>
        </p:spPr>
        <p:txBody>
          <a:bodyPr anchor="t" rtlCol="false" tIns="0" lIns="0" bIns="0" rIns="0">
            <a:spAutoFit/>
          </a:bodyPr>
          <a:lstStyle/>
          <a:p>
            <a:pPr algn="ctr">
              <a:lnSpc>
                <a:spcPts val="7914"/>
              </a:lnSpc>
            </a:pPr>
            <a:r>
              <a:rPr lang="en-US" b="true" sz="5652">
                <a:solidFill>
                  <a:srgbClr val="000000"/>
                </a:solidFill>
                <a:latin typeface="Montaser Arabic Bold"/>
                <a:ea typeface="Montaser Arabic Bold"/>
                <a:cs typeface="Montaser Arabic Bold"/>
                <a:sym typeface="Montaser Arabic Bold"/>
              </a:rPr>
              <a:t>LAMPIRAN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503" y="8445341"/>
            <a:ext cx="18595517" cy="1935079"/>
            <a:chOff x="0" y="0"/>
            <a:chExt cx="4897585" cy="509650"/>
          </a:xfrm>
        </p:grpSpPr>
        <p:sp>
          <p:nvSpPr>
            <p:cNvPr name="Freeform 3" id="3"/>
            <p:cNvSpPr/>
            <p:nvPr/>
          </p:nvSpPr>
          <p:spPr>
            <a:xfrm flipH="false" flipV="false" rot="0">
              <a:off x="0" y="0"/>
              <a:ext cx="4897585" cy="509650"/>
            </a:xfrm>
            <a:custGeom>
              <a:avLst/>
              <a:gdLst/>
              <a:ahLst/>
              <a:cxnLst/>
              <a:rect r="r" b="b" t="t" l="l"/>
              <a:pathLst>
                <a:path h="509650" w="4897585">
                  <a:moveTo>
                    <a:pt x="0" y="0"/>
                  </a:moveTo>
                  <a:lnTo>
                    <a:pt x="4897585" y="0"/>
                  </a:lnTo>
                  <a:lnTo>
                    <a:pt x="4897585" y="509650"/>
                  </a:lnTo>
                  <a:lnTo>
                    <a:pt x="0" y="509650"/>
                  </a:lnTo>
                  <a:close/>
                </a:path>
              </a:pathLst>
            </a:custGeom>
            <a:solidFill>
              <a:srgbClr val="017BC7"/>
            </a:solidFill>
          </p:spPr>
        </p:sp>
        <p:sp>
          <p:nvSpPr>
            <p:cNvPr name="TextBox 4" id="4"/>
            <p:cNvSpPr txBox="true"/>
            <p:nvPr/>
          </p:nvSpPr>
          <p:spPr>
            <a:xfrm>
              <a:off x="0" y="-47625"/>
              <a:ext cx="4897585" cy="557275"/>
            </a:xfrm>
            <a:prstGeom prst="rect">
              <a:avLst/>
            </a:prstGeom>
          </p:spPr>
          <p:txBody>
            <a:bodyPr anchor="ctr" rtlCol="false" tIns="50800" lIns="50800" bIns="50800" rIns="50800"/>
            <a:lstStyle/>
            <a:p>
              <a:pPr algn="ctr">
                <a:lnSpc>
                  <a:spcPts val="3511"/>
                </a:lnSpc>
              </a:pPr>
            </a:p>
          </p:txBody>
        </p:sp>
      </p:grpSp>
      <p:sp>
        <p:nvSpPr>
          <p:cNvPr name="Freeform 5" id="5"/>
          <p:cNvSpPr/>
          <p:nvPr/>
        </p:nvSpPr>
        <p:spPr>
          <a:xfrm flipH="false" flipV="false" rot="0">
            <a:off x="0" y="42958"/>
            <a:ext cx="2251123" cy="1876873"/>
          </a:xfrm>
          <a:custGeom>
            <a:avLst/>
            <a:gdLst/>
            <a:ahLst/>
            <a:cxnLst/>
            <a:rect r="r" b="b" t="t" l="l"/>
            <a:pathLst>
              <a:path h="1876873" w="2251123">
                <a:moveTo>
                  <a:pt x="0" y="0"/>
                </a:moveTo>
                <a:lnTo>
                  <a:pt x="2251123" y="0"/>
                </a:lnTo>
                <a:lnTo>
                  <a:pt x="2251123" y="1876874"/>
                </a:lnTo>
                <a:lnTo>
                  <a:pt x="0" y="1876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45084" y="-139112"/>
            <a:ext cx="2245704" cy="2487166"/>
          </a:xfrm>
          <a:custGeom>
            <a:avLst/>
            <a:gdLst/>
            <a:ahLst/>
            <a:cxnLst/>
            <a:rect r="r" b="b" t="t" l="l"/>
            <a:pathLst>
              <a:path h="2487166" w="2245704">
                <a:moveTo>
                  <a:pt x="0" y="0"/>
                </a:moveTo>
                <a:lnTo>
                  <a:pt x="2245703" y="0"/>
                </a:lnTo>
                <a:lnTo>
                  <a:pt x="2245703" y="2487166"/>
                </a:lnTo>
                <a:lnTo>
                  <a:pt x="0" y="2487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96284" y="9018855"/>
            <a:ext cx="2376746" cy="1090332"/>
          </a:xfrm>
          <a:custGeom>
            <a:avLst/>
            <a:gdLst/>
            <a:ahLst/>
            <a:cxnLst/>
            <a:rect r="r" b="b" t="t" l="l"/>
            <a:pathLst>
              <a:path h="1090332" w="2376746">
                <a:moveTo>
                  <a:pt x="0" y="0"/>
                </a:moveTo>
                <a:lnTo>
                  <a:pt x="2376746" y="0"/>
                </a:lnTo>
                <a:lnTo>
                  <a:pt x="2376746" y="1090332"/>
                </a:lnTo>
                <a:lnTo>
                  <a:pt x="0" y="109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988372" y="7626191"/>
            <a:ext cx="3102415" cy="2211763"/>
          </a:xfrm>
          <a:custGeom>
            <a:avLst/>
            <a:gdLst/>
            <a:ahLst/>
            <a:cxnLst/>
            <a:rect r="r" b="b" t="t" l="l"/>
            <a:pathLst>
              <a:path h="2211763" w="3102415">
                <a:moveTo>
                  <a:pt x="0" y="0"/>
                </a:moveTo>
                <a:lnTo>
                  <a:pt x="3102415" y="0"/>
                </a:lnTo>
                <a:lnTo>
                  <a:pt x="3102415" y="2211763"/>
                </a:lnTo>
                <a:lnTo>
                  <a:pt x="0" y="22117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3482368" y="438872"/>
            <a:ext cx="11345774" cy="970745"/>
          </a:xfrm>
          <a:prstGeom prst="rect">
            <a:avLst/>
          </a:prstGeom>
        </p:spPr>
        <p:txBody>
          <a:bodyPr anchor="t" rtlCol="false" tIns="0" lIns="0" bIns="0" rIns="0">
            <a:spAutoFit/>
          </a:bodyPr>
          <a:lstStyle/>
          <a:p>
            <a:pPr algn="ctr">
              <a:lnSpc>
                <a:spcPts val="7914"/>
              </a:lnSpc>
            </a:pPr>
            <a:r>
              <a:rPr lang="en-US" b="true" sz="5652">
                <a:solidFill>
                  <a:srgbClr val="000000"/>
                </a:solidFill>
                <a:latin typeface="Montaser Arabic Bold"/>
                <a:ea typeface="Montaser Arabic Bold"/>
                <a:cs typeface="Montaser Arabic Bold"/>
                <a:sym typeface="Montaser Arabic Bold"/>
              </a:rPr>
              <a:t>OUTPUT</a:t>
            </a:r>
          </a:p>
        </p:txBody>
      </p:sp>
      <p:sp>
        <p:nvSpPr>
          <p:cNvPr name="Freeform 10" id="10"/>
          <p:cNvSpPr/>
          <p:nvPr/>
        </p:nvSpPr>
        <p:spPr>
          <a:xfrm flipH="false" flipV="false" rot="0">
            <a:off x="14960191" y="334316"/>
            <a:ext cx="3492823" cy="1075301"/>
          </a:xfrm>
          <a:custGeom>
            <a:avLst/>
            <a:gdLst/>
            <a:ahLst/>
            <a:cxnLst/>
            <a:rect r="r" b="b" t="t" l="l"/>
            <a:pathLst>
              <a:path h="1075301" w="3492823">
                <a:moveTo>
                  <a:pt x="0" y="0"/>
                </a:moveTo>
                <a:lnTo>
                  <a:pt x="3492823" y="0"/>
                </a:lnTo>
                <a:lnTo>
                  <a:pt x="3492823" y="1075301"/>
                </a:lnTo>
                <a:lnTo>
                  <a:pt x="0" y="1075301"/>
                </a:lnTo>
                <a:lnTo>
                  <a:pt x="0" y="0"/>
                </a:lnTo>
                <a:close/>
              </a:path>
            </a:pathLst>
          </a:custGeom>
          <a:blipFill>
            <a:blip r:embed="rId10"/>
            <a:stretch>
              <a:fillRect l="0" t="0" r="0" b="0"/>
            </a:stretch>
          </a:blipFill>
        </p:spPr>
      </p:sp>
      <p:sp>
        <p:nvSpPr>
          <p:cNvPr name="TextBox 11" id="11"/>
          <p:cNvSpPr txBox="true"/>
          <p:nvPr/>
        </p:nvSpPr>
        <p:spPr>
          <a:xfrm rot="0">
            <a:off x="6170675" y="8715778"/>
            <a:ext cx="7226521" cy="970745"/>
          </a:xfrm>
          <a:prstGeom prst="rect">
            <a:avLst/>
          </a:prstGeom>
        </p:spPr>
        <p:txBody>
          <a:bodyPr anchor="t" rtlCol="false" tIns="0" lIns="0" bIns="0" rIns="0">
            <a:spAutoFit/>
          </a:bodyPr>
          <a:lstStyle/>
          <a:p>
            <a:pPr algn="ctr">
              <a:lnSpc>
                <a:spcPts val="7914"/>
              </a:lnSpc>
            </a:pPr>
            <a:r>
              <a:rPr lang="en-US" b="true" sz="5652">
                <a:solidFill>
                  <a:srgbClr val="000000"/>
                </a:solidFill>
                <a:latin typeface="Montaser Arabic Bold"/>
                <a:ea typeface="Montaser Arabic Bold"/>
                <a:cs typeface="Montaser Arabic Bold"/>
                <a:sym typeface="Montaser Arabic Bold"/>
              </a:rPr>
              <a:t>LAMPIRAN</a:t>
            </a:r>
          </a:p>
        </p:txBody>
      </p:sp>
      <p:sp>
        <p:nvSpPr>
          <p:cNvPr name="TextBox 12" id="12"/>
          <p:cNvSpPr txBox="true"/>
          <p:nvPr/>
        </p:nvSpPr>
        <p:spPr>
          <a:xfrm rot="0">
            <a:off x="1288895" y="2227694"/>
            <a:ext cx="15970405" cy="5783986"/>
          </a:xfrm>
          <a:prstGeom prst="rect">
            <a:avLst/>
          </a:prstGeom>
        </p:spPr>
        <p:txBody>
          <a:bodyPr anchor="t" rtlCol="false" tIns="0" lIns="0" bIns="0" rIns="0">
            <a:spAutoFit/>
          </a:bodyPr>
          <a:lstStyle/>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Berdasarkan Peraturan Pemerintah Nomor 30 Tahun 2019 tentang Penilaian Kinerja Pegawai Negeri Sipil, penilaian Kinerja PNS dinyatakan dengan kategori:</a:t>
            </a: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1. Sangat Baik, apabila PNS memiliki:  1) nilai dengan angka 110– 120.  2) menciptakan ide baru dan/atau cara baru dalam peningkatan kinerja yang memberi manfaat bagi organisasi atau negara; </a:t>
            </a:r>
          </a:p>
          <a:p>
            <a:pPr algn="just" marL="0" indent="0" lvl="0">
              <a:lnSpc>
                <a:spcPts val="3568"/>
              </a:lnSpc>
              <a:spcBef>
                <a:spcPct val="0"/>
              </a:spcBef>
            </a:pP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2. Baik, apabila PNS memiliki nilai dengan angka 90 – angka 120 </a:t>
            </a:r>
          </a:p>
          <a:p>
            <a:pPr algn="just" marL="0" indent="0" lvl="0">
              <a:lnSpc>
                <a:spcPts val="3568"/>
              </a:lnSpc>
              <a:spcBef>
                <a:spcPct val="0"/>
              </a:spcBef>
            </a:pP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3. Cukup, apabila PNS memiliki nilai dengan angka 70 &lt;- angka 90</a:t>
            </a:r>
          </a:p>
          <a:p>
            <a:pPr algn="just" marL="0" indent="0" lvl="0">
              <a:lnSpc>
                <a:spcPts val="3568"/>
              </a:lnSpc>
              <a:spcBef>
                <a:spcPct val="0"/>
              </a:spcBef>
            </a:pP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4. Kurang, apabila PNS memiliki nilai dengan angka 50 dan angka 70 dan </a:t>
            </a:r>
          </a:p>
          <a:p>
            <a:pPr algn="just" marL="0" indent="0" lvl="0">
              <a:lnSpc>
                <a:spcPts val="3568"/>
              </a:lnSpc>
              <a:spcBef>
                <a:spcPct val="0"/>
              </a:spcBef>
            </a:pPr>
          </a:p>
          <a:p>
            <a:pPr algn="just" marL="0" indent="0" lvl="0">
              <a:lnSpc>
                <a:spcPts val="3568"/>
              </a:lnSpc>
              <a:spcBef>
                <a:spcPct val="0"/>
              </a:spcBef>
            </a:pPr>
            <a:r>
              <a:rPr lang="en-US" sz="2549" strike="noStrike" u="none">
                <a:solidFill>
                  <a:srgbClr val="000000"/>
                </a:solidFill>
                <a:latin typeface="Montserrat"/>
                <a:ea typeface="Montserrat"/>
                <a:cs typeface="Montserrat"/>
                <a:sym typeface="Montserrat"/>
              </a:rPr>
              <a:t>5. Sangat Kurang, apabila PNS memiliki nilai dengan angka &lt; 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DAG3j7AVvOo</dc:identifier>
  <dcterms:modified xsi:type="dcterms:W3CDTF">2011-08-01T06:04:30Z</dcterms:modified>
  <cp:revision>1</cp:revision>
  <dc:title>TROJAN</dc:title>
</cp:coreProperties>
</file>